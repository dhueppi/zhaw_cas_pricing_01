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0:00-0:10 (10 Sek.)
Nur Team und Thema nennen. Keine Agenda - dafuer ist bei 5 Minuten keine Zeit.
GESAMTBUDGET: 5:00 Min. inkl. Q&amp;A. 7 Slides: Titel, Einleitung, 4 Kernslides, Schluss.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0:10-0:30 (20 Sek.)
Nur die Zahlen antippen, die die Empfehlung tragen, und die drei Stakeholder-Fragen als Bezugsrahmen nennen - der Auftraggeber kennt seine eigene Ausgangslage.
Quelle: Dynamic Pricing Decision Lab.pdf, Folien "The Challenge".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0:30-1:15 (45 Sek.)
Vier kurze Befunde, dann der staerkste Deep-Dive-Befund separat hervorgehoben. Keine woertlichen Zitate - Befunde als Aussagesatz.
Quelle: 04_Konsolidierung/Auswertungsraster.md.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1:15-1:55 (40 Sek.)
Empfehlung und Regeln in einem Zug: Entscheidung, dann was der Preis darf/nicht darf, dann die Guardrails.
Quelle: 04_Konsolidierung/Handlungsempfehlung_Pricing_Board.md, Leitfrage 1+2.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1:55-2:25 (30 Sek.)
Niemals streichen - das ist Punkt 3 des Auftrags. Ehrlichkeit ueber die Grenzen ist hier die Staerke.
Quelle: Auswertungsraster, Abschnitt "Was wir NICHT wissen".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2:25-3:00 (35 Sek.)
Kandidaten (bessere Sitzplaetze, Gastronomie, Parkplatz, OeV, Umbuchung, Packages, Meet &amp; Greet) aus dem Interview den drei Spalten zuordnen. Abschliessen mit dem Fazit-Satz.
Quelle: 02_Leitfaden/Deep_Dives.md, Team 4 · Value &amp;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3:00-3:20 (20 Sek.)
Mit der Empfehlung von Slide 4 (Go/No-Go) inhaltlich zusammenfassen, dann ins Q&amp;A uebergeben (ca. 1:40 Min. Puffer).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" name="Shape 1"/>
          <p:cNvSpPr/>
          <p:nvPr/>
        </p:nvSpPr>
        <p:spPr>
          <a:xfrm>
            <a:off x="6300216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" name="Shape 2"/>
          <p:cNvSpPr/>
          <p:nvPr/>
        </p:nvSpPr>
        <p:spPr>
          <a:xfrm>
            <a:off x="6611112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" name="Shape 3"/>
          <p:cNvSpPr/>
          <p:nvPr/>
        </p:nvSpPr>
        <p:spPr>
          <a:xfrm>
            <a:off x="6922008" y="960120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" name="Shape 4"/>
          <p:cNvSpPr/>
          <p:nvPr/>
        </p:nvSpPr>
        <p:spPr>
          <a:xfrm>
            <a:off x="7232904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7" name="Shape 5"/>
          <p:cNvSpPr/>
          <p:nvPr/>
        </p:nvSpPr>
        <p:spPr>
          <a:xfrm>
            <a:off x="7543800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8" name="Shape 6"/>
          <p:cNvSpPr/>
          <p:nvPr/>
        </p:nvSpPr>
        <p:spPr>
          <a:xfrm>
            <a:off x="7854696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9" name="Shape 7"/>
          <p:cNvSpPr/>
          <p:nvPr/>
        </p:nvSpPr>
        <p:spPr>
          <a:xfrm>
            <a:off x="8165592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Shape 8"/>
          <p:cNvSpPr/>
          <p:nvPr/>
        </p:nvSpPr>
        <p:spPr>
          <a:xfrm>
            <a:off x="8476488" y="96012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0216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1112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Shape 12"/>
          <p:cNvSpPr/>
          <p:nvPr/>
        </p:nvSpPr>
        <p:spPr>
          <a:xfrm>
            <a:off x="6922008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2904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Shape 14"/>
          <p:cNvSpPr/>
          <p:nvPr/>
        </p:nvSpPr>
        <p:spPr>
          <a:xfrm>
            <a:off x="7543800" y="1271016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54696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65592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76488" y="127101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1112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3" name="Shape 21"/>
          <p:cNvSpPr/>
          <p:nvPr/>
        </p:nvSpPr>
        <p:spPr>
          <a:xfrm>
            <a:off x="6922008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Shape 22"/>
          <p:cNvSpPr/>
          <p:nvPr/>
        </p:nvSpPr>
        <p:spPr>
          <a:xfrm>
            <a:off x="7232904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0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Shape 24"/>
          <p:cNvSpPr/>
          <p:nvPr/>
        </p:nvSpPr>
        <p:spPr>
          <a:xfrm>
            <a:off x="7854696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7" name="Shape 25"/>
          <p:cNvSpPr/>
          <p:nvPr/>
        </p:nvSpPr>
        <p:spPr>
          <a:xfrm>
            <a:off x="8165592" y="1581912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8" name="Shape 26"/>
          <p:cNvSpPr/>
          <p:nvPr/>
        </p:nvSpPr>
        <p:spPr>
          <a:xfrm>
            <a:off x="8476488" y="158191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9320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0216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1" name="Shape 29"/>
          <p:cNvSpPr/>
          <p:nvPr/>
        </p:nvSpPr>
        <p:spPr>
          <a:xfrm>
            <a:off x="6611112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2" name="Shape 30"/>
          <p:cNvSpPr/>
          <p:nvPr/>
        </p:nvSpPr>
        <p:spPr>
          <a:xfrm>
            <a:off x="6922008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3" name="Shape 31"/>
          <p:cNvSpPr/>
          <p:nvPr/>
        </p:nvSpPr>
        <p:spPr>
          <a:xfrm>
            <a:off x="7232904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4" name="Shape 32"/>
          <p:cNvSpPr/>
          <p:nvPr/>
        </p:nvSpPr>
        <p:spPr>
          <a:xfrm>
            <a:off x="7543800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5" name="Shape 33"/>
          <p:cNvSpPr/>
          <p:nvPr/>
        </p:nvSpPr>
        <p:spPr>
          <a:xfrm>
            <a:off x="7854696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6" name="Shape 34"/>
          <p:cNvSpPr/>
          <p:nvPr/>
        </p:nvSpPr>
        <p:spPr>
          <a:xfrm>
            <a:off x="8165592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7" name="Shape 35"/>
          <p:cNvSpPr/>
          <p:nvPr/>
        </p:nvSpPr>
        <p:spPr>
          <a:xfrm>
            <a:off x="8476488" y="1892808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8" name="Shape 36"/>
          <p:cNvSpPr/>
          <p:nvPr/>
        </p:nvSpPr>
        <p:spPr>
          <a:xfrm>
            <a:off x="5989320" y="2203704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0216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0" name="Shape 38"/>
          <p:cNvSpPr/>
          <p:nvPr/>
        </p:nvSpPr>
        <p:spPr>
          <a:xfrm>
            <a:off x="6611112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1" name="Shape 39"/>
          <p:cNvSpPr/>
          <p:nvPr/>
        </p:nvSpPr>
        <p:spPr>
          <a:xfrm>
            <a:off x="6922008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2" name="Shape 40"/>
          <p:cNvSpPr/>
          <p:nvPr/>
        </p:nvSpPr>
        <p:spPr>
          <a:xfrm>
            <a:off x="7232904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3" name="Shape 41"/>
          <p:cNvSpPr/>
          <p:nvPr/>
        </p:nvSpPr>
        <p:spPr>
          <a:xfrm>
            <a:off x="7543800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4" name="Shape 42"/>
          <p:cNvSpPr/>
          <p:nvPr/>
        </p:nvSpPr>
        <p:spPr>
          <a:xfrm>
            <a:off x="7854696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5" name="Shape 43"/>
          <p:cNvSpPr/>
          <p:nvPr/>
        </p:nvSpPr>
        <p:spPr>
          <a:xfrm>
            <a:off x="8165592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6" name="Shape 44"/>
          <p:cNvSpPr/>
          <p:nvPr/>
        </p:nvSpPr>
        <p:spPr>
          <a:xfrm>
            <a:off x="8476488" y="2203704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7" name="Shape 45"/>
          <p:cNvSpPr/>
          <p:nvPr/>
        </p:nvSpPr>
        <p:spPr>
          <a:xfrm>
            <a:off x="5989320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0216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9" name="Shape 47"/>
          <p:cNvSpPr/>
          <p:nvPr/>
        </p:nvSpPr>
        <p:spPr>
          <a:xfrm>
            <a:off x="6611112" y="2514600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0" name="Shape 48"/>
          <p:cNvSpPr/>
          <p:nvPr/>
        </p:nvSpPr>
        <p:spPr>
          <a:xfrm>
            <a:off x="6922008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1" name="Shape 49"/>
          <p:cNvSpPr/>
          <p:nvPr/>
        </p:nvSpPr>
        <p:spPr>
          <a:xfrm>
            <a:off x="7232904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2" name="Shape 50"/>
          <p:cNvSpPr/>
          <p:nvPr/>
        </p:nvSpPr>
        <p:spPr>
          <a:xfrm>
            <a:off x="7543800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3" name="Shape 51"/>
          <p:cNvSpPr/>
          <p:nvPr/>
        </p:nvSpPr>
        <p:spPr>
          <a:xfrm>
            <a:off x="7854696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4" name="Shape 52"/>
          <p:cNvSpPr/>
          <p:nvPr/>
        </p:nvSpPr>
        <p:spPr>
          <a:xfrm>
            <a:off x="8165592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5" name="Shape 53"/>
          <p:cNvSpPr/>
          <p:nvPr/>
        </p:nvSpPr>
        <p:spPr>
          <a:xfrm>
            <a:off x="8476488" y="2514600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6" name="Shape 54"/>
          <p:cNvSpPr/>
          <p:nvPr/>
        </p:nvSpPr>
        <p:spPr>
          <a:xfrm>
            <a:off x="5989320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7" name="Shape 55"/>
          <p:cNvSpPr/>
          <p:nvPr/>
        </p:nvSpPr>
        <p:spPr>
          <a:xfrm>
            <a:off x="6300216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8" name="Shape 56"/>
          <p:cNvSpPr/>
          <p:nvPr/>
        </p:nvSpPr>
        <p:spPr>
          <a:xfrm>
            <a:off x="6611112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9" name="Shape 57"/>
          <p:cNvSpPr/>
          <p:nvPr/>
        </p:nvSpPr>
        <p:spPr>
          <a:xfrm>
            <a:off x="6922008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0" name="Shape 58"/>
          <p:cNvSpPr/>
          <p:nvPr/>
        </p:nvSpPr>
        <p:spPr>
          <a:xfrm>
            <a:off x="7232904" y="2825496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1" name="Shape 59"/>
          <p:cNvSpPr/>
          <p:nvPr/>
        </p:nvSpPr>
        <p:spPr>
          <a:xfrm>
            <a:off x="7543800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2" name="Shape 60"/>
          <p:cNvSpPr/>
          <p:nvPr/>
        </p:nvSpPr>
        <p:spPr>
          <a:xfrm>
            <a:off x="7854696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3" name="Shape 61"/>
          <p:cNvSpPr/>
          <p:nvPr/>
        </p:nvSpPr>
        <p:spPr>
          <a:xfrm>
            <a:off x="8165592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4" name="Shape 62"/>
          <p:cNvSpPr/>
          <p:nvPr/>
        </p:nvSpPr>
        <p:spPr>
          <a:xfrm>
            <a:off x="8476488" y="2825496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5" name="Shape 63"/>
          <p:cNvSpPr/>
          <p:nvPr/>
        </p:nvSpPr>
        <p:spPr>
          <a:xfrm>
            <a:off x="5989320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6" name="Shape 64"/>
          <p:cNvSpPr/>
          <p:nvPr/>
        </p:nvSpPr>
        <p:spPr>
          <a:xfrm>
            <a:off x="6300216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7" name="Shape 65"/>
          <p:cNvSpPr/>
          <p:nvPr/>
        </p:nvSpPr>
        <p:spPr>
          <a:xfrm>
            <a:off x="6611112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8" name="Shape 66"/>
          <p:cNvSpPr/>
          <p:nvPr/>
        </p:nvSpPr>
        <p:spPr>
          <a:xfrm>
            <a:off x="6922008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9" name="Shape 67"/>
          <p:cNvSpPr/>
          <p:nvPr/>
        </p:nvSpPr>
        <p:spPr>
          <a:xfrm>
            <a:off x="7232904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70" name="Shape 68"/>
          <p:cNvSpPr/>
          <p:nvPr/>
        </p:nvSpPr>
        <p:spPr>
          <a:xfrm>
            <a:off x="7543800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71" name="Shape 69"/>
          <p:cNvSpPr/>
          <p:nvPr/>
        </p:nvSpPr>
        <p:spPr>
          <a:xfrm>
            <a:off x="7854696" y="3136392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2" name="Shape 70"/>
          <p:cNvSpPr/>
          <p:nvPr/>
        </p:nvSpPr>
        <p:spPr>
          <a:xfrm>
            <a:off x="8165592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73" name="Shape 71"/>
          <p:cNvSpPr/>
          <p:nvPr/>
        </p:nvSpPr>
        <p:spPr>
          <a:xfrm>
            <a:off x="8476488" y="3136392"/>
            <a:ext cx="118872" cy="1188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02920" y="1051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BOARD  ·  29. AUGUST 2026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502920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</a:t>
            </a:r>
            <a:endParaRPr lang="en-US" sz="4200" dirty="0"/>
          </a:p>
        </p:txBody>
      </p:sp>
      <p:sp>
        <p:nvSpPr>
          <p:cNvPr id="76" name="Text 74"/>
          <p:cNvSpPr txBox="1"/>
          <p:nvPr/>
        </p:nvSpPr>
        <p:spPr>
          <a:xfrm>
            <a:off x="502920" y="21214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or No-Go – und unter welchen Bedingungen?</a:t>
            </a:r>
            <a:endParaRPr lang="en-US" sz="1700" dirty="0"/>
          </a:p>
        </p:txBody>
      </p:sp>
      <p:sp>
        <p:nvSpPr>
          <p:cNvPr id="77" name="Text 75"/>
          <p:cNvSpPr txBox="1"/>
          <p:nvPr/>
        </p:nvSpPr>
        <p:spPr>
          <a:xfrm>
            <a:off x="50292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Team __  ·  [Namen]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Pricing ZHAW  ·  Kultur- und Eventveranstalter  ·  n = 1 qualitatives Interview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6576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Ausgangslage &amp; Auftrag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41248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KULTUR- UND EVENTVERANSTALTER · MUSICALS · KUNSTERLEBNISSE · LIVE-SHOWS · GASTRONOMIE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901952" cy="96012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" y="13716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~1'500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177393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Sitzplätze je Veranstaltung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280160"/>
            <a:ext cx="1901952" cy="96012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34056" y="13716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Sitzplatzkategorie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34056" y="177393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das einzige Differenzierungskriterium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280160"/>
            <a:ext cx="1901952" cy="96012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18888" y="13716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–50 % / –30 %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177393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und Familien / AHV- und IV-Bezüger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57416" y="1280160"/>
            <a:ext cx="1901952" cy="96012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3716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Kanäle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77393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Abendkasse und Ticketing-Anbieter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2376" y="26334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ENTSCHEIDUNG, UM DIE ES GEHT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" y="29077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Pricing: Go or No-Go – und unter welchen Bedingungen?  </a:t>
            </a:r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Chance: zusätzliche Deckungsbeiträge.  Risiko: fehlende Akzeptanz und Imageeffekte.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CE2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032504"/>
            <a:ext cx="2249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lässt sich zusätzliche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Zahlungsbereitschaft abschöpfen?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370332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CE2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7288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47288" y="4032504"/>
            <a:ext cx="2249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Mechanismen akzeptieren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 – wo liegt die rote Linie?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25896" y="370332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CE2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08776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REVENUE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4032504"/>
            <a:ext cx="2249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Faktoren dürfen den Preis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beeinflussen – in welchen Grenzen?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6576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41248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FORSCHUNGSFRAGEN + DEEP DIVE · WAS DER KUNDE UNS GEZEIGT HAT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4041648" cy="1051560"/>
          </a:xfrm>
          <a:prstGeom prst="roundRect">
            <a:avLst>
              <a:gd name="adj" fmla="val 5217"/>
            </a:avLst>
          </a:prstGeom>
          <a:solidFill>
            <a:srgbClr val="ECE2D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 · EVENT &amp; BUYING CONTEXT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Befund in einem Satz – verallgemeinert, nicht als Zitat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36592" y="1280160"/>
            <a:ext cx="40416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ECE2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 · PRICE PERCEPTION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1737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Befund in einem Satz – verallgemeinert, nicht als Zitat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4041648" cy="1051560"/>
          </a:xfrm>
          <a:prstGeom prst="roundRect">
            <a:avLst>
              <a:gd name="adj" fmla="val 5217"/>
            </a:avLst>
          </a:prstGeom>
          <a:solidFill>
            <a:srgbClr val="ECE2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5877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 · ERFAHRUNG MIT DYNAMISCHEN PREISEN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926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Befund in einem Satz – verallgemeinert, nicht als Zitat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6592" y="2468880"/>
            <a:ext cx="40416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ECE2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9472" y="25877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4 · EINSTELLUNG ZU DYNAMIC PRICING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919472" y="2926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Befund in einem Satz – verallgemeinert, nicht als Zitat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3F1A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" y="384048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VALUE &amp; ALTERNATIVES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" y="40782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stärkster Befund aus dem Deep Dive – Detail und Empfehlung auf Slide 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6576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Konkrete Pricing-Empfehlung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2011680" cy="438912"/>
          </a:xfrm>
          <a:prstGeom prst="roundRect">
            <a:avLst>
              <a:gd name="adj" fmla="val 14583"/>
            </a:avLst>
          </a:prstGeom>
          <a:solidFill>
            <a:srgbClr val="3F1A28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070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15768" y="1207008"/>
            <a:ext cx="2011680" cy="438912"/>
          </a:xfrm>
          <a:prstGeom prst="roundRect">
            <a:avLst>
              <a:gd name="adj" fmla="val 14583"/>
            </a:avLst>
          </a:prstGeom>
          <a:solidFill>
            <a:srgbClr val="3F1A28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12070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mit Auflagen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28616" y="1207008"/>
            <a:ext cx="2011680" cy="438912"/>
          </a:xfrm>
          <a:prstGeom prst="roundRect">
            <a:avLst>
              <a:gd name="adj" fmla="val 14583"/>
            </a:avLst>
          </a:prstGeom>
          <a:solidFill>
            <a:srgbClr val="3F1A28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28616" y="12070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755648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CE2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" y="190195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Die eine Botschaft: Entscheidung + Grund in einem Satz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4041648" cy="1051560"/>
          </a:xfrm>
          <a:prstGeom prst="roundRect">
            <a:avLst>
              <a:gd name="adj" fmla="val 5217"/>
            </a:avLst>
          </a:prstGeom>
          <a:solidFill>
            <a:srgbClr val="ECE2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" y="252374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DARF DEN PREIS BEEINFLUSSEN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279806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Faktor + Begründung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Faktor + Begründung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36592" y="2395728"/>
            <a:ext cx="4041648" cy="1051560"/>
          </a:xfrm>
          <a:prstGeom prst="roundRect">
            <a:avLst>
              <a:gd name="adj" fmla="val 5217"/>
            </a:avLst>
          </a:prstGeom>
          <a:solidFill>
            <a:srgbClr val="3F1A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2523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DARF ES NICHT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79806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Faktor + Warum abgelehnt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Faktor + Warum abgelehnt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" y="3712464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4096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Guardrail als Regel formuliert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64408" y="358444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3712464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4096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Guardrail als Regel formuliert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25896" y="358444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0488" y="3712464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90488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190488" y="4096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Guardrail als Regel formuliert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6576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Unbekannte für die Validierung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41248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EINFÜHRUNG QUANTITATIV ZU KLÄREN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609344"/>
            <a:ext cx="347472" cy="3474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709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gross ist das Umsatz- und Deckungsbeitrags-Potenzial?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463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709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Preis-Absatz-Test + Analyse der Buchungsdaten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04872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2688336"/>
            <a:ext cx="347472" cy="3474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542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88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Was das Interview nicht beantworten kann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Conjoint / Preis-Absatz-Test / Buchungsdaten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483864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" y="3767328"/>
            <a:ext cx="347472" cy="3474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867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Was das Interview nicht beantworten kann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6210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Conjoint / Preis-Absatz-Test / Buchungsdaten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5537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· qualitativ · Aussagen gelten als Hypothesen, nicht als Marktergebnis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6576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Muss der Veranstalter nur am Ticketpreis drehen?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41248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ALTERNATIVES · EMPFEHLUNG NEBEN DER PREISSTRATEGIE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2344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Antwort in einem Satz: nein/ja + wichtigster Hebel neben dem Ticketpreis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2560320" cy="1874520"/>
          </a:xfrm>
          <a:prstGeom prst="roundRect">
            <a:avLst>
              <a:gd name="adj" fmla="val 2927"/>
            </a:avLst>
          </a:prstGeom>
          <a:solidFill>
            <a:srgbClr val="ECE2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48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GEHÖRT ZUM TICKET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Basis-Erwartung, kein Aufpreis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besserer Platz?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Garderobe?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[weitere Basis-Erwartung]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938528"/>
            <a:ext cx="2560320" cy="1874520"/>
          </a:xfrm>
          <a:prstGeom prst="roundRect">
            <a:avLst>
              <a:gd name="adj" fmla="val 2927"/>
            </a:avLst>
          </a:prstGeom>
          <a:solidFill>
            <a:srgbClr val="3F1A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47288" y="2048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ECHTER MEHRWERT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2860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 verkaufbar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65176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Gastronomie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Packages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Meet &amp; Greet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938528"/>
            <a:ext cx="2560320" cy="1874520"/>
          </a:xfrm>
          <a:prstGeom prst="roundRect">
            <a:avLst>
              <a:gd name="adj" fmla="val 2927"/>
            </a:avLst>
          </a:prstGeom>
          <a:solidFill>
            <a:srgbClr val="ECE2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08776" y="2048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UNINTERESSANT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22860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Zusatzumsatz erwartbar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265176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Parkplatz?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ÖV-Kombiticket?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[weitere Kandidaten]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977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Fazit: Umsatzhebel neben dem Ticketpreis ergänzen die Dynamic-Pricing-Empfehlung, ersetzen sie aber nicht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41148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7671816" y="41148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Shape 2"/>
          <p:cNvSpPr/>
          <p:nvPr/>
        </p:nvSpPr>
        <p:spPr>
          <a:xfrm>
            <a:off x="7982712" y="41148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11480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" name="Shape 4"/>
          <p:cNvSpPr/>
          <p:nvPr/>
        </p:nvSpPr>
        <p:spPr>
          <a:xfrm>
            <a:off x="8604504" y="41148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72237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Shape 6"/>
          <p:cNvSpPr/>
          <p:nvPr/>
        </p:nvSpPr>
        <p:spPr>
          <a:xfrm>
            <a:off x="7671816" y="72237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Shape 7"/>
          <p:cNvSpPr/>
          <p:nvPr/>
        </p:nvSpPr>
        <p:spPr>
          <a:xfrm>
            <a:off x="7982712" y="72237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8293608" y="72237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8604504" y="72237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60920" y="103327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Shape 11"/>
          <p:cNvSpPr/>
          <p:nvPr/>
        </p:nvSpPr>
        <p:spPr>
          <a:xfrm>
            <a:off x="7671816" y="103327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82712" y="103327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3608" y="103327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Shape 14"/>
          <p:cNvSpPr/>
          <p:nvPr/>
        </p:nvSpPr>
        <p:spPr>
          <a:xfrm>
            <a:off x="8604504" y="1033272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0920" y="134416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71816" y="134416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Shape 17"/>
          <p:cNvSpPr/>
          <p:nvPr/>
        </p:nvSpPr>
        <p:spPr>
          <a:xfrm>
            <a:off x="7982712" y="134416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293608" y="134416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04504" y="134416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60920" y="165506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Shape 21"/>
          <p:cNvSpPr/>
          <p:nvPr/>
        </p:nvSpPr>
        <p:spPr>
          <a:xfrm>
            <a:off x="7671816" y="165506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Shape 22"/>
          <p:cNvSpPr/>
          <p:nvPr/>
        </p:nvSpPr>
        <p:spPr>
          <a:xfrm>
            <a:off x="7982712" y="165506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93608" y="165506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Shape 24"/>
          <p:cNvSpPr/>
          <p:nvPr/>
        </p:nvSpPr>
        <p:spPr>
          <a:xfrm>
            <a:off x="8604504" y="165506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0920" y="1965960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8" name="Shape 26"/>
          <p:cNvSpPr/>
          <p:nvPr/>
        </p:nvSpPr>
        <p:spPr>
          <a:xfrm>
            <a:off x="7671816" y="196596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9" name="Shape 27"/>
          <p:cNvSpPr/>
          <p:nvPr/>
        </p:nvSpPr>
        <p:spPr>
          <a:xfrm>
            <a:off x="7982712" y="196596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Shape 28"/>
          <p:cNvSpPr/>
          <p:nvPr/>
        </p:nvSpPr>
        <p:spPr>
          <a:xfrm>
            <a:off x="8293608" y="196596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1" name="Shape 29"/>
          <p:cNvSpPr/>
          <p:nvPr/>
        </p:nvSpPr>
        <p:spPr>
          <a:xfrm>
            <a:off x="8604504" y="196596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2" name="Shape 30"/>
          <p:cNvSpPr/>
          <p:nvPr/>
        </p:nvSpPr>
        <p:spPr>
          <a:xfrm>
            <a:off x="7360920" y="227685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3" name="Shape 31"/>
          <p:cNvSpPr/>
          <p:nvPr/>
        </p:nvSpPr>
        <p:spPr>
          <a:xfrm>
            <a:off x="7671816" y="227685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4" name="Shape 32"/>
          <p:cNvSpPr/>
          <p:nvPr/>
        </p:nvSpPr>
        <p:spPr>
          <a:xfrm>
            <a:off x="7982712" y="227685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5" name="Shape 33"/>
          <p:cNvSpPr/>
          <p:nvPr/>
        </p:nvSpPr>
        <p:spPr>
          <a:xfrm>
            <a:off x="8293608" y="227685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6" name="Shape 34"/>
          <p:cNvSpPr/>
          <p:nvPr/>
        </p:nvSpPr>
        <p:spPr>
          <a:xfrm>
            <a:off x="8604504" y="227685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7" name="Shape 35"/>
          <p:cNvSpPr/>
          <p:nvPr/>
        </p:nvSpPr>
        <p:spPr>
          <a:xfrm>
            <a:off x="7360920" y="258775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8" name="Shape 36"/>
          <p:cNvSpPr/>
          <p:nvPr/>
        </p:nvSpPr>
        <p:spPr>
          <a:xfrm>
            <a:off x="7671816" y="2587752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9" name="Shape 37"/>
          <p:cNvSpPr/>
          <p:nvPr/>
        </p:nvSpPr>
        <p:spPr>
          <a:xfrm>
            <a:off x="7982712" y="258775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0" name="Shape 38"/>
          <p:cNvSpPr/>
          <p:nvPr/>
        </p:nvSpPr>
        <p:spPr>
          <a:xfrm>
            <a:off x="8293608" y="258775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1" name="Shape 39"/>
          <p:cNvSpPr/>
          <p:nvPr/>
        </p:nvSpPr>
        <p:spPr>
          <a:xfrm>
            <a:off x="8604504" y="258775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2" name="Shape 40"/>
          <p:cNvSpPr/>
          <p:nvPr/>
        </p:nvSpPr>
        <p:spPr>
          <a:xfrm>
            <a:off x="7360920" y="289864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3" name="Shape 41"/>
          <p:cNvSpPr/>
          <p:nvPr/>
        </p:nvSpPr>
        <p:spPr>
          <a:xfrm>
            <a:off x="7671816" y="289864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4" name="Shape 42"/>
          <p:cNvSpPr/>
          <p:nvPr/>
        </p:nvSpPr>
        <p:spPr>
          <a:xfrm>
            <a:off x="7982712" y="289864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5" name="Shape 43"/>
          <p:cNvSpPr/>
          <p:nvPr/>
        </p:nvSpPr>
        <p:spPr>
          <a:xfrm>
            <a:off x="8293608" y="289864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6" name="Shape 44"/>
          <p:cNvSpPr/>
          <p:nvPr/>
        </p:nvSpPr>
        <p:spPr>
          <a:xfrm>
            <a:off x="8604504" y="289864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7" name="Shape 45"/>
          <p:cNvSpPr/>
          <p:nvPr/>
        </p:nvSpPr>
        <p:spPr>
          <a:xfrm>
            <a:off x="7360920" y="320954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8" name="Shape 46"/>
          <p:cNvSpPr/>
          <p:nvPr/>
        </p:nvSpPr>
        <p:spPr>
          <a:xfrm>
            <a:off x="7671816" y="320954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9" name="Shape 47"/>
          <p:cNvSpPr/>
          <p:nvPr/>
        </p:nvSpPr>
        <p:spPr>
          <a:xfrm>
            <a:off x="7982712" y="3209544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0" name="Shape 48"/>
          <p:cNvSpPr/>
          <p:nvPr/>
        </p:nvSpPr>
        <p:spPr>
          <a:xfrm>
            <a:off x="8293608" y="320954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1" name="Shape 49"/>
          <p:cNvSpPr/>
          <p:nvPr/>
        </p:nvSpPr>
        <p:spPr>
          <a:xfrm>
            <a:off x="8604504" y="320954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2" name="Shape 50"/>
          <p:cNvSpPr/>
          <p:nvPr/>
        </p:nvSpPr>
        <p:spPr>
          <a:xfrm>
            <a:off x="7360920" y="352044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3" name="Shape 51"/>
          <p:cNvSpPr/>
          <p:nvPr/>
        </p:nvSpPr>
        <p:spPr>
          <a:xfrm>
            <a:off x="7671816" y="352044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4" name="Shape 52"/>
          <p:cNvSpPr/>
          <p:nvPr/>
        </p:nvSpPr>
        <p:spPr>
          <a:xfrm>
            <a:off x="7982712" y="352044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5" name="Shape 53"/>
          <p:cNvSpPr/>
          <p:nvPr/>
        </p:nvSpPr>
        <p:spPr>
          <a:xfrm>
            <a:off x="8293608" y="352044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6" name="Shape 54"/>
          <p:cNvSpPr/>
          <p:nvPr/>
        </p:nvSpPr>
        <p:spPr>
          <a:xfrm>
            <a:off x="8604504" y="352044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7" name="Shape 55"/>
          <p:cNvSpPr/>
          <p:nvPr/>
        </p:nvSpPr>
        <p:spPr>
          <a:xfrm>
            <a:off x="7360920" y="383133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8" name="Shape 56"/>
          <p:cNvSpPr/>
          <p:nvPr/>
        </p:nvSpPr>
        <p:spPr>
          <a:xfrm>
            <a:off x="7671816" y="383133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9" name="Shape 57"/>
          <p:cNvSpPr/>
          <p:nvPr/>
        </p:nvSpPr>
        <p:spPr>
          <a:xfrm>
            <a:off x="7982712" y="383133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0" name="Shape 58"/>
          <p:cNvSpPr/>
          <p:nvPr/>
        </p:nvSpPr>
        <p:spPr>
          <a:xfrm>
            <a:off x="8293608" y="3831336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1" name="Shape 59"/>
          <p:cNvSpPr/>
          <p:nvPr/>
        </p:nvSpPr>
        <p:spPr>
          <a:xfrm>
            <a:off x="8604504" y="383133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2" name="Shape 60"/>
          <p:cNvSpPr/>
          <p:nvPr/>
        </p:nvSpPr>
        <p:spPr>
          <a:xfrm>
            <a:off x="7360920" y="414223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3" name="Shape 61"/>
          <p:cNvSpPr/>
          <p:nvPr/>
        </p:nvSpPr>
        <p:spPr>
          <a:xfrm>
            <a:off x="7671816" y="414223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4" name="Shape 62"/>
          <p:cNvSpPr/>
          <p:nvPr/>
        </p:nvSpPr>
        <p:spPr>
          <a:xfrm>
            <a:off x="7982712" y="414223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5" name="Shape 63"/>
          <p:cNvSpPr/>
          <p:nvPr/>
        </p:nvSpPr>
        <p:spPr>
          <a:xfrm>
            <a:off x="8293608" y="414223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6" name="Shape 64"/>
          <p:cNvSpPr/>
          <p:nvPr/>
        </p:nvSpPr>
        <p:spPr>
          <a:xfrm>
            <a:off x="8604504" y="414223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7" name="Shape 65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1069848" y="365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vom Board brauchen</a:t>
            </a:r>
            <a:endParaRPr lang="en-US" sz="2700" dirty="0"/>
          </a:p>
        </p:txBody>
      </p:sp>
      <p:sp>
        <p:nvSpPr>
          <p:cNvPr id="70" name="Shape 68"/>
          <p:cNvSpPr/>
          <p:nvPr/>
        </p:nvSpPr>
        <p:spPr>
          <a:xfrm>
            <a:off x="502920" y="1234440"/>
            <a:ext cx="6492240" cy="1188720"/>
          </a:xfrm>
          <a:prstGeom prst="roundRect">
            <a:avLst>
              <a:gd name="adj" fmla="val 4615"/>
            </a:avLst>
          </a:prstGeom>
          <a:solidFill>
            <a:srgbClr val="ECE2D0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04088" y="1362456"/>
            <a:ext cx="6089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ZU ENTSCHEIDEN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704088" y="1636776"/>
            <a:ext cx="6089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Ein konkreter Beschluss – kein „wir sollten mal".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02920" y="2606040"/>
            <a:ext cx="329184" cy="3291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0292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960120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2194560" y="2633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Nächster Schritt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02920" y="3264408"/>
            <a:ext cx="329184" cy="3291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0292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960120" y="32644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2194560" y="3291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Nächster Schritt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02920" y="3922776"/>
            <a:ext cx="329184" cy="3291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50292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960120" y="3922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Launch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2194560" y="3950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Nächster Schritt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502920" y="43159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– gerne Ihre Fragen.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Pricing Decision Lab</dc:title>
  <dc:subject>PptxGenJS Presentation</dc:subject>
  <dc:creator>CAS Pricing ZHAW</dc:creator>
  <cp:lastModifiedBy>CAS Pricing ZHAW</cp:lastModifiedBy>
  <cp:revision>1</cp:revision>
  <dcterms:created xsi:type="dcterms:W3CDTF">2026-08-29T09:30:12Z</dcterms:created>
  <dcterms:modified xsi:type="dcterms:W3CDTF">2026-08-29T09:30:12Z</dcterms:modified>
</cp:coreProperties>
</file>