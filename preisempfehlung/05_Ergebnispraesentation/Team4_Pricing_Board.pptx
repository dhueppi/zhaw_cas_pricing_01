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Eventabend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Anreise ÖV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Eventabend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Verpflegung</c:v>
                </c:pt>
              </c:strCache>
            </c:strRef>
          </c:tx>
          <c:spPr>
            <a:solidFill>
              <a:srgbClr val="D8C3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Eventabend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"/>
        </c:scaling>
        <c:delete val="0"/>
        <c:axPos val="b"/>
        <c:majorGridlines>
          <c:spPr>
            <a:ln w="12700" cap="flat">
              <a:solidFill>
                <a:srgbClr val="ED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0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9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B162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Unsere Empfehlung in einem Satz: Der Grundpreis bleibt stabil, dynamisch wird alles drumherum. Warum, zeigen drei Insights aus dem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Dinge, die wir ohne das Gespräch nicht gewusst hätten. Erstens: der Engpass ist die Anreise, nicht der Preis. Zweitens: das gemeinsame Erlebnis ist ein echter Zahlungstreiber. Drittens: Promotion erzeugt keine Nachfrage, sie hebt die Kategorie.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 rechnet in Gesamtkosten pro Eventabend. Nur gut 60 Prozent davon erreichen den Veranstalter — der Rest geht an SBB und Gastronomie Dritter. Genau dort liegt die unerschlossene Zahlungsbereitschaft.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Logik wie ein Autokonfigurator: alle steigen zum selben Grundpreis ein, jeder baut seinen Abend selbst. Dynamisch wird nur, was knapp ist — und diese Knappheit ist für den Kunden sichtbar.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jeden der drei Stakeholder eine Antwort. Und drei Dinge, die wir bewusst nicht anfassen — der persönliche Kontakt zum Künstler verliert seinen Wert, sobald man ihn verkauft.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 zur Basis: ein Interview. Vier Schritte, um daraus eine belastbare Zahl zu machen — die Conjoint ist der Hebel, weil sie aus Potenzial eine Deckungsbeitragsrechnung macht.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 am Ticketpreis drehen.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B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dort, wo der Kunde Wert sieht.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Deep Dive Value &amp; Alternatives  ·  Pricing Board, 29.08.2026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66176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68512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070848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473184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0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77856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80192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82528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25054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25054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668512" y="25054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070848" y="25054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73184" y="25054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75520" y="25054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277856" y="25054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680192" y="25054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082528" y="25054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0" y="29077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266176" y="29077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668512" y="29077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070848" y="29077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CE2D0"/>
          </a:solidFill>
          <a:ln/>
        </p:spPr>
      </p:sp>
      <p:sp>
        <p:nvSpPr>
          <p:cNvPr id="27" name="Shape 25"/>
          <p:cNvSpPr/>
          <p:nvPr/>
        </p:nvSpPr>
        <p:spPr>
          <a:xfrm>
            <a:off x="9473184" y="29077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CE2D0"/>
          </a:solidFill>
          <a:ln/>
        </p:spPr>
      </p:sp>
      <p:sp>
        <p:nvSpPr>
          <p:cNvPr id="28" name="Shape 26"/>
          <p:cNvSpPr/>
          <p:nvPr/>
        </p:nvSpPr>
        <p:spPr>
          <a:xfrm>
            <a:off x="9875520" y="29077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CE2D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77856" y="29077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CE2D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80192" y="29077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082528" y="29077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0" y="3310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66176" y="3310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668512" y="3310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070848" y="3310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473184" y="3310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875520" y="3310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277856" y="3310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680192" y="3310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082528" y="3310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863840" y="3712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66176" y="3712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68512" y="3712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070848" y="3712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473184" y="3712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875520" y="3712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277856" y="3712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680192" y="3712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082528" y="37124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6384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66176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6851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70848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73184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875520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277856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680192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082528" y="4114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A26769">
              <a:alpha val="45000"/>
            </a:srgbClr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818120" y="4654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Plätze nebeneinander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Insights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Minuten mit Andrea, 4–5 Live-Events pro Jahr, Region Bern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3566160"/>
          </a:xfrm>
          <a:prstGeom prst="roundRect">
            <a:avLst>
              <a:gd name="adj" fmla="val 1351"/>
            </a:avLst>
          </a:prstGeom>
          <a:solidFill>
            <a:srgbClr val="ECE2D0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14400" cy="9144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5328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429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Anreise ist</a:t>
            </a:r>
            <a:endParaRPr lang="en-US" sz="2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Barriere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4434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der Ticketpreis stoppt sie,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sondern 1,5 h nach Zürich.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383280" cy="3566160"/>
          </a:xfrm>
          <a:prstGeom prst="roundRect">
            <a:avLst>
              <a:gd name="adj" fmla="val 1351"/>
            </a:avLst>
          </a:prstGeom>
          <a:solidFill>
            <a:srgbClr val="ECE2D0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2286000"/>
            <a:ext cx="914400" cy="9144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5328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00600" y="3429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Zusammen sitzen</a:t>
            </a:r>
            <a:endParaRPr lang="en-US" sz="2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zählt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4434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Plätze nebeneinander zahlt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mehr. Freiwillig.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383280" cy="3566160"/>
          </a:xfrm>
          <a:prstGeom prst="roundRect">
            <a:avLst>
              <a:gd name="adj" fmla="val 1351"/>
            </a:avLst>
          </a:prstGeom>
          <a:solidFill>
            <a:srgbClr val="ECE2D0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286000"/>
            <a:ext cx="914400" cy="9144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253288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49640" y="3429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Rabatt hebt</a:t>
            </a:r>
            <a:endParaRPr lang="en-US" sz="2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Kategorie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4434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2-für-1 verschob sie in die Loge –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gegangen wäre sie ohnehin.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Kunde rechnet den ganzen Abend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Konzertabend in Zürich – aus Kundensicht, pro Person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20240"/>
          <a:ext cx="7406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029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CHF gehen für den Abend weg –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3766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der dunkle Teil erreicht den Veranstalter.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0" y="1920240"/>
            <a:ext cx="3383280" cy="3017520"/>
          </a:xfrm>
          <a:prstGeom prst="roundRect">
            <a:avLst>
              <a:gd name="adj" fmla="val 1515"/>
            </a:avLst>
          </a:prstGeom>
          <a:solidFill>
            <a:srgbClr val="ECE2D0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95360" y="2240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429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Eventbudgets landen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Veranstalter. Der Rest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an SBB und Dritte.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5029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Hebel: Module, die genau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Nebenkosten bündeln.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Illustrativ, auf Basis der im Interview genannten Beträge.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Empfehlung: Baukasten statt Preisrutsche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 –  DYNAMISCH NACH NACHFRAGE UND AUSLASTUNG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0" cy="2606040"/>
          </a:xfrm>
          <a:prstGeom prst="roundRect">
            <a:avLst>
              <a:gd name="adj" fmla="val 3182"/>
            </a:avLst>
          </a:prstGeom>
          <a:solidFill>
            <a:srgbClr val="ECE2D0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240280"/>
            <a:ext cx="49377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Sitzplätze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nebeneinander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11780" y="1874520"/>
            <a:ext cx="2011680" cy="2606040"/>
          </a:xfrm>
          <a:prstGeom prst="roundRect">
            <a:avLst>
              <a:gd name="adj" fmla="val 3182"/>
            </a:avLst>
          </a:prstGeom>
          <a:solidFill>
            <a:srgbClr val="ECE2D0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240280"/>
            <a:ext cx="493776" cy="4937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4894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ÖV-Kombi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94894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74920" y="1874520"/>
            <a:ext cx="2011680" cy="2606040"/>
          </a:xfrm>
          <a:prstGeom prst="roundRect">
            <a:avLst>
              <a:gd name="adj" fmla="val 3182"/>
            </a:avLst>
          </a:prstGeom>
          <a:solidFill>
            <a:srgbClr val="ECE2D0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240280"/>
            <a:ext cx="493776" cy="4937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1208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Apéro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Gastronomie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21208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38060" y="1874520"/>
            <a:ext cx="2011680" cy="2606040"/>
          </a:xfrm>
          <a:prstGeom prst="roundRect">
            <a:avLst>
              <a:gd name="adj" fmla="val 3182"/>
            </a:avLst>
          </a:prstGeom>
          <a:solidFill>
            <a:srgbClr val="ECE2D0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12" y="2240280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7522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Einlass &amp; WC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47522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601200" y="1874520"/>
            <a:ext cx="2011680" cy="2606040"/>
          </a:xfrm>
          <a:prstGeom prst="roundRect">
            <a:avLst>
              <a:gd name="adj" fmla="val 3182"/>
            </a:avLst>
          </a:prstGeom>
          <a:solidFill>
            <a:srgbClr val="ECE2D0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2240280"/>
            <a:ext cx="493776" cy="49377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73836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Goodies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Packages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973836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6D2E46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19379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54480" y="5138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Grundpreis – fix für alle, mittlere bis günstige Kategorie</a:t>
            </a:r>
            <a:endParaRPr lang="en-US" sz="2000" dirty="0"/>
          </a:p>
        </p:txBody>
      </p:sp>
      <p:sp>
        <p:nvSpPr>
          <p:cNvPr id="27" name="Text 19"/>
          <p:cNvSpPr txBox="1"/>
          <p:nvPr/>
        </p:nvSpPr>
        <p:spPr>
          <a:xfrm>
            <a:off x="8961120" y="5193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Vertrauensanker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– und die rote Linie hält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984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Zusatz-Deckungsbeitrag über Module statt über Ticketpreis-Ausschläge.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843784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30358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zahlt für dasselbe Ticket unterschiedlich – kein Shitstorm-Risiko.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70332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89534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730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Mgmt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40873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Nachfrage, Auslastung, Buchungszeitpunkt – wirksam auf den Modulen.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54202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8523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5138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 Linie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60020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&amp; Greet bleibt unbepreist  ·  WC-Fast-Lane gedeckelt  ·  Familien-, Kinder- und AHV/IV-Rabatte unangetastet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noch nicht wissen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heute: ein Interview. Das trägt eine Richtung – keine Investitionsentscheidung.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3154680"/>
          </a:xfrm>
          <a:prstGeom prst="roundRect">
            <a:avLst>
              <a:gd name="adj" fmla="val 2143"/>
            </a:avLst>
          </a:prstGeom>
          <a:solidFill>
            <a:srgbClr val="FAF6F3"/>
          </a:solidFill>
          <a:ln w="12700">
            <a:solidFill>
              <a:srgbClr val="D8C3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957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Basis verbreitern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0332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Interviews, bewusst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kontrastierend: Städter,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jüngere Fans, ohne Kinder.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47288" y="1920240"/>
            <a:ext cx="2560320" cy="3154680"/>
          </a:xfrm>
          <a:prstGeom prst="roundRect">
            <a:avLst>
              <a:gd name="adj" fmla="val 2143"/>
            </a:avLst>
          </a:prstGeom>
          <a:solidFill>
            <a:srgbClr val="FAF6F3"/>
          </a:solidFill>
          <a:ln w="12700">
            <a:solidFill>
              <a:srgbClr val="D8C3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67328" y="228600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67328" y="23957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Conjoint-Analyse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370332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Zahlungsbereitschaft und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Ankerpreise je Modul –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Kernstück.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1920240"/>
            <a:ext cx="2560320" cy="3154680"/>
          </a:xfrm>
          <a:prstGeom prst="roundRect">
            <a:avLst>
              <a:gd name="adj" fmla="val 2143"/>
            </a:avLst>
          </a:prstGeom>
          <a:solidFill>
            <a:srgbClr val="FAF6F3"/>
          </a:solidFill>
          <a:ln w="12700">
            <a:solidFill>
              <a:srgbClr val="D8C3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74536" y="228600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74536" y="23957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74536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Grundpreis eichen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74536" y="370332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Mittlere oder günstige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Kategorie? Van Westendorp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Grundticket.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61704" y="1920240"/>
            <a:ext cx="2560320" cy="3154680"/>
          </a:xfrm>
          <a:prstGeom prst="roundRect">
            <a:avLst>
              <a:gd name="adj" fmla="val 2143"/>
            </a:avLst>
          </a:prstGeom>
          <a:solidFill>
            <a:srgbClr val="FAF6F3"/>
          </a:solidFill>
          <a:ln w="12700">
            <a:solidFill>
              <a:srgbClr val="D8C3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81744" y="228600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81744" y="23957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81744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Feldtest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81744" y="370332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A/B-Test des Konfigurators: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Attach-Rate und Umsatz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Ticket.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dahin: Pilot auf zwei Veranstaltungen, Grundpreis stabil.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2026-08-29T10:36:02Z</dcterms:created>
  <dcterms:modified xsi:type="dcterms:W3CDTF">2026-08-29T10:36:02Z</dcterms:modified>
</cp:coreProperties>
</file>