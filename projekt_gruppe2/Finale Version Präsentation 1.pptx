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4" r:id="rId3"/>
  </p:sldMasterIdLst>
  <p:notesMasterIdLst>
    <p:notesMasterId r:id="rId25"/>
  </p:notesMasterIdLst>
  <p:sldIdLst>
    <p:sldId id="376" r:id="rId4"/>
    <p:sldId id="257" r:id="rId5"/>
    <p:sldId id="377" r:id="rId6"/>
    <p:sldId id="411" r:id="rId7"/>
    <p:sldId id="259" r:id="rId8"/>
    <p:sldId id="415" r:id="rId9"/>
    <p:sldId id="260" r:id="rId10"/>
    <p:sldId id="261" r:id="rId11"/>
    <p:sldId id="262" r:id="rId12"/>
    <p:sldId id="263" r:id="rId13"/>
    <p:sldId id="269" r:id="rId14"/>
    <p:sldId id="417" r:id="rId15"/>
    <p:sldId id="265" r:id="rId16"/>
    <p:sldId id="266" r:id="rId17"/>
    <p:sldId id="420" r:id="rId18"/>
    <p:sldId id="267" r:id="rId19"/>
    <p:sldId id="268" r:id="rId20"/>
    <p:sldId id="272" r:id="rId21"/>
    <p:sldId id="273" r:id="rId22"/>
    <p:sldId id="414" r:id="rId23"/>
    <p:sldId id="426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75879" autoAdjust="0"/>
  </p:normalViewPr>
  <p:slideViewPr>
    <p:cSldViewPr snapToGrid="0">
      <p:cViewPr varScale="1">
        <p:scale>
          <a:sx n="53" d="100"/>
          <a:sy n="53" d="100"/>
        </p:scale>
        <p:origin x="11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r>
              <a:rPr lang="de-CH" sz="1600" b="1">
                <a:solidFill>
                  <a:srgbClr val="0A2F5C"/>
                </a:solidFill>
                <a:latin typeface="Arial"/>
              </a:rPr>
              <a:t>Anteil der Befragten, die den Aufpreis akzeptieren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Basis-Bad</c:v>
                </c:pt>
              </c:strCache>
            </c:strRef>
          </c:tx>
          <c:spPr>
            <a:ln w="31750">
              <a:solidFill>
                <a:srgbClr val="8C99A8"/>
              </a:solidFill>
            </a:ln>
          </c:spPr>
          <c:marker>
            <c:symbol val="circle"/>
            <c:size val="7"/>
            <c:spPr>
              <a:solidFill>
                <a:srgbClr val="8C99A8"/>
              </a:solidFill>
              <a:ln>
                <a:solidFill>
                  <a:srgbClr val="8C99A8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95</c:v>
                </c:pt>
                <c:pt idx="1">
                  <c:v>50</c:v>
                </c:pt>
                <c:pt idx="2">
                  <c:v>45</c:v>
                </c:pt>
                <c:pt idx="3">
                  <c:v>35</c:v>
                </c:pt>
                <c:pt idx="4">
                  <c:v>30</c:v>
                </c:pt>
                <c:pt idx="5">
                  <c:v>20</c:v>
                </c:pt>
                <c:pt idx="6">
                  <c:v>15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A0-4A8B-88F1-E76F868AA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Komfort-Bad</c:v>
                </c:pt>
              </c:strCache>
            </c:strRef>
          </c:tx>
          <c:spPr>
            <a:ln w="31750">
              <a:solidFill>
                <a:srgbClr val="4A93D1"/>
              </a:solidFill>
            </a:ln>
          </c:spPr>
          <c:marker>
            <c:symbol val="square"/>
            <c:size val="7"/>
            <c:spPr>
              <a:solidFill>
                <a:srgbClr val="4A93D1"/>
              </a:solidFill>
              <a:ln>
                <a:solidFill>
                  <a:srgbClr val="4A93D1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95</c:v>
                </c:pt>
                <c:pt idx="1">
                  <c:v>70</c:v>
                </c:pt>
                <c:pt idx="2">
                  <c:v>65</c:v>
                </c:pt>
                <c:pt idx="3">
                  <c:v>45</c:v>
                </c:pt>
                <c:pt idx="4">
                  <c:v>35</c:v>
                </c:pt>
                <c:pt idx="5">
                  <c:v>30</c:v>
                </c:pt>
                <c:pt idx="6">
                  <c:v>25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A0-4A8B-88F1-E76F868AAD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Premium-Bad</c:v>
                </c:pt>
              </c:strCache>
            </c:strRef>
          </c:tx>
          <c:spPr>
            <a:ln w="31750">
              <a:solidFill>
                <a:srgbClr val="0A2F5C"/>
              </a:solidFill>
            </a:ln>
          </c:spPr>
          <c:marker>
            <c:symbol val="diamond"/>
            <c:size val="8"/>
            <c:spPr>
              <a:solidFill>
                <a:srgbClr val="0A2F5C"/>
              </a:solidFill>
              <a:ln>
                <a:solidFill>
                  <a:srgbClr val="0A2F5C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95</c:v>
                </c:pt>
                <c:pt idx="1">
                  <c:v>75</c:v>
                </c:pt>
                <c:pt idx="2">
                  <c:v>70</c:v>
                </c:pt>
                <c:pt idx="3">
                  <c:v>65</c:v>
                </c:pt>
                <c:pt idx="4">
                  <c:v>65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25</c:v>
                </c:pt>
                <c:pt idx="9">
                  <c:v>20</c:v>
                </c:pt>
                <c:pt idx="10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A0-4A8B-88F1-E76F868AA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de-CH" sz="1400" b="0">
                    <a:solidFill>
                      <a:srgbClr val="4A5568"/>
                    </a:solidFill>
                    <a:latin typeface="Arial"/>
                  </a:rPr>
                  <a:t>Aufpreis pro Nacht (CHF)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>
            <a:solidFill>
              <a:srgbClr val="CBD5E0"/>
            </a:solidFill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2118791784"/>
        <c:crosses val="autoZero"/>
        <c:crossBetween val="between"/>
        <c:majorUnit val="25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A5568"/>
              </a:solidFill>
              <a:latin typeface="Arial"/>
            </a:defRPr>
          </a:pPr>
          <a:endParaRPr lang="de-DE"/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4A556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r>
              <a:rPr lang="de-CH" sz="1600" b="1">
                <a:solidFill>
                  <a:srgbClr val="0A2F5C"/>
                </a:solidFill>
                <a:latin typeface="Arial"/>
              </a:rPr>
              <a:t>Umsatzindex je Aufpreis (CHF × Zustimmung / 100)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Basis-Bad</c:v>
                </c:pt>
              </c:strCache>
            </c:strRef>
          </c:tx>
          <c:spPr>
            <a:ln w="31750">
              <a:solidFill>
                <a:srgbClr val="8C99A8"/>
              </a:solidFill>
            </a:ln>
          </c:spPr>
          <c:marker>
            <c:symbol val="circle"/>
            <c:size val="7"/>
            <c:spPr>
              <a:solidFill>
                <a:srgbClr val="8C99A8"/>
              </a:solidFill>
              <a:ln>
                <a:solidFill>
                  <a:srgbClr val="8C99A8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2.5</c:v>
                </c:pt>
                <c:pt idx="2">
                  <c:v>4.5</c:v>
                </c:pt>
                <c:pt idx="3">
                  <c:v>5.25</c:v>
                </c:pt>
                <c:pt idx="4">
                  <c:v>6</c:v>
                </c:pt>
                <c:pt idx="5">
                  <c:v>5</c:v>
                </c:pt>
                <c:pt idx="6">
                  <c:v>4.5</c:v>
                </c:pt>
                <c:pt idx="7">
                  <c:v>5.25</c:v>
                </c:pt>
                <c:pt idx="8">
                  <c:v>6</c:v>
                </c:pt>
                <c:pt idx="9">
                  <c:v>6.75</c:v>
                </c:pt>
                <c:pt idx="10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56-4422-B1E1-3927BBFCB0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Komfort-Bad</c:v>
                </c:pt>
              </c:strCache>
            </c:strRef>
          </c:tx>
          <c:spPr>
            <a:ln w="31750">
              <a:solidFill>
                <a:srgbClr val="4A93D1"/>
              </a:solidFill>
            </a:ln>
          </c:spPr>
          <c:marker>
            <c:symbol val="square"/>
            <c:size val="7"/>
            <c:spPr>
              <a:solidFill>
                <a:srgbClr val="4A93D1"/>
              </a:solidFill>
              <a:ln>
                <a:solidFill>
                  <a:srgbClr val="4A93D1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3.5</c:v>
                </c:pt>
                <c:pt idx="2">
                  <c:v>6.5</c:v>
                </c:pt>
                <c:pt idx="3">
                  <c:v>6.75</c:v>
                </c:pt>
                <c:pt idx="4">
                  <c:v>7</c:v>
                </c:pt>
                <c:pt idx="5">
                  <c:v>7.5</c:v>
                </c:pt>
                <c:pt idx="6">
                  <c:v>7.5</c:v>
                </c:pt>
                <c:pt idx="7">
                  <c:v>5.25</c:v>
                </c:pt>
                <c:pt idx="8">
                  <c:v>6</c:v>
                </c:pt>
                <c:pt idx="9">
                  <c:v>6.75</c:v>
                </c:pt>
                <c:pt idx="10">
                  <c:v>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56-4422-B1E1-3927BBFCB0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Premium-Bad</c:v>
                </c:pt>
              </c:strCache>
            </c:strRef>
          </c:tx>
          <c:spPr>
            <a:ln w="31750">
              <a:solidFill>
                <a:srgbClr val="0A2F5C"/>
              </a:solidFill>
            </a:ln>
          </c:spPr>
          <c:marker>
            <c:symbol val="diamond"/>
            <c:size val="8"/>
            <c:spPr>
              <a:solidFill>
                <a:srgbClr val="0A2F5C"/>
              </a:solidFill>
              <a:ln>
                <a:solidFill>
                  <a:srgbClr val="0A2F5C"/>
                </a:solidFill>
              </a:ln>
            </c:spPr>
          </c:marker>
          <c:dPt>
            <c:idx val="4"/>
            <c:marker>
              <c:symbol val="diamond"/>
              <c:size val="13"/>
              <c:spPr>
                <a:solidFill>
                  <a:srgbClr val="E5832A"/>
                </a:solidFill>
                <a:ln>
                  <a:solidFill>
                    <a:srgbClr val="E5832A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656-4422-B1E1-3927BBFCB08F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E5832A"/>
                        </a:solidFill>
                        <a:latin typeface="Arial"/>
                      </a:rPr>
                      <a:t>Maximum: 13.0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656-4422-B1E1-3927BBFCB08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3.75</c:v>
                </c:pt>
                <c:pt idx="2">
                  <c:v>7</c:v>
                </c:pt>
                <c:pt idx="3">
                  <c:v>9.75</c:v>
                </c:pt>
                <c:pt idx="4">
                  <c:v>13</c:v>
                </c:pt>
                <c:pt idx="5">
                  <c:v>7.5</c:v>
                </c:pt>
                <c:pt idx="6">
                  <c:v>9</c:v>
                </c:pt>
                <c:pt idx="7">
                  <c:v>10.5</c:v>
                </c:pt>
                <c:pt idx="8">
                  <c:v>10</c:v>
                </c:pt>
                <c:pt idx="9">
                  <c:v>9</c:v>
                </c:pt>
                <c:pt idx="10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656-4422-B1E1-3927BBFCB0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de-CH" sz="1400" b="0">
                    <a:solidFill>
                      <a:srgbClr val="4A5568"/>
                    </a:solidFill>
                    <a:latin typeface="Arial"/>
                  </a:rPr>
                  <a:t>Aufpreis pro Nacht (CHF)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>
            <a:solidFill>
              <a:srgbClr val="CBD5E0"/>
            </a:solidFill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6"/>
          <c:min val="0"/>
        </c:scaling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2118791784"/>
        <c:crosses val="autoZero"/>
        <c:crossBetween val="between"/>
        <c:majorUnit val="4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A5568"/>
              </a:solidFill>
              <a:latin typeface="Arial"/>
            </a:defRPr>
          </a:pPr>
          <a:endParaRPr lang="de-DE"/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4A556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r>
              <a:rPr lang="de-CH" sz="1600" b="1">
                <a:solidFill>
                  <a:srgbClr val="0A2F5C"/>
                </a:solidFill>
                <a:latin typeface="Arial"/>
              </a:rPr>
              <a:t>Relative Wichtigkeit der Merkmale (n = 29)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Wichtigkeit</c:v>
                </c:pt>
              </c:strCache>
            </c:strRef>
          </c:tx>
          <c:spPr>
            <a:solidFill>
              <a:srgbClr val="4A93D1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0A2F5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1F9-4979-8BAA-DCBBC43BDC58}"/>
              </c:ext>
            </c:extLst>
          </c:dPt>
          <c:dPt>
            <c:idx val="1"/>
            <c:invertIfNegative val="1"/>
            <c:bubble3D val="0"/>
            <c:spPr>
              <a:solidFill>
                <a:srgbClr val="E58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1F9-4979-8BAA-DCBBC43BDC58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11F9-4979-8BAA-DCBBC43BDC5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11F9-4979-8BAA-DCBBC43BDC58}"/>
              </c:ext>
            </c:extLst>
          </c:dPt>
          <c:dPt>
            <c:idx val="4"/>
            <c:invertIfNegative val="1"/>
            <c:bubble3D val="0"/>
            <c:spPr>
              <a:solidFill>
                <a:srgbClr val="8C9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11F9-4979-8BAA-DCBBC43BDC5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F2A37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Aufpreis</c:v>
                </c:pt>
                <c:pt idx="1">
                  <c:v>Dusche</c:v>
                </c:pt>
                <c:pt idx="2">
                  <c:v>Spiegel</c:v>
                </c:pt>
                <c:pt idx="3">
                  <c:v>Toilette</c:v>
                </c:pt>
                <c:pt idx="4">
                  <c:v>Waschtisch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56.426478055001425</c:v>
                </c:pt>
                <c:pt idx="1">
                  <c:v>20.048901929668467</c:v>
                </c:pt>
                <c:pt idx="2">
                  <c:v>9.3051761426484436</c:v>
                </c:pt>
                <c:pt idx="3">
                  <c:v>7.759220999815625</c:v>
                </c:pt>
                <c:pt idx="4">
                  <c:v>6.4602228728660185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1F9-4979-8BAA-DCBBC43BD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CBD5E0"/>
            </a:solidFill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6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4A556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r>
              <a:rPr lang="de-CH" sz="1600" b="1">
                <a:solidFill>
                  <a:srgbClr val="0A2F5C"/>
                </a:solidFill>
                <a:latin typeface="Arial"/>
              </a:rPr>
              <a:t>Zahlungsbereitschaft pro Nacht gegenüber der Basisstufe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CHF pro Nacht</c:v>
                </c:pt>
              </c:strCache>
            </c:strRef>
          </c:tx>
          <c:spPr>
            <a:solidFill>
              <a:srgbClr val="4A93D1"/>
            </a:solidFill>
            <a:ln>
              <a:noFill/>
            </a:ln>
          </c:spPr>
          <c:invertIfNegative val="0"/>
          <c:dPt>
            <c:idx val="0"/>
            <c:invertIfNegative val="1"/>
            <c:bubble3D val="0"/>
            <c:spPr>
              <a:solidFill>
                <a:srgbClr val="E58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822-4D54-A8A1-7545F3ABA865}"/>
              </c:ext>
            </c:extLst>
          </c:dPt>
          <c:dPt>
            <c:idx val="1"/>
            <c:invertIfNegative val="1"/>
            <c:bubble3D val="0"/>
            <c:spPr>
              <a:solidFill>
                <a:srgbClr val="E583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822-4D54-A8A1-7545F3ABA865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A822-4D54-A8A1-7545F3ABA865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A822-4D54-A8A1-7545F3ABA865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A822-4D54-A8A1-7545F3ABA865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A822-4D54-A8A1-7545F3ABA865}"/>
              </c:ext>
            </c:extLst>
          </c:dPt>
          <c:dPt>
            <c:idx val="6"/>
            <c:invertIfNegative val="1"/>
            <c:bubble3D val="0"/>
            <c:spPr>
              <a:solidFill>
                <a:srgbClr val="8C9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A822-4D54-A8A1-7545F3ABA865}"/>
              </c:ext>
            </c:extLst>
          </c:dPt>
          <c:dPt>
            <c:idx val="7"/>
            <c:invertIfNegative val="1"/>
            <c:bubble3D val="0"/>
            <c:spPr>
              <a:solidFill>
                <a:srgbClr val="8C99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A822-4D54-A8A1-7545F3ABA865}"/>
              </c:ext>
            </c:extLst>
          </c:dPt>
          <c:dLbls>
            <c:numFmt formatCode="&quot;CHF &quot;0.0;&quot;CHF −&quot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F2A37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Regendusche</c:v>
                </c:pt>
                <c:pt idx="1">
                  <c:v>Bodenebene Dusche (Rinne)</c:v>
                </c:pt>
                <c:pt idx="2">
                  <c:v>Beleuchteter Spiegel</c:v>
                </c:pt>
                <c:pt idx="3">
                  <c:v>Dimmbarer Spiegel</c:v>
                </c:pt>
                <c:pt idx="4">
                  <c:v>Berührungslose Armatur</c:v>
                </c:pt>
                <c:pt idx="5">
                  <c:v>Grosser Waschtisch</c:v>
                </c:pt>
                <c:pt idx="6">
                  <c:v>Dusch-WC</c:v>
                </c:pt>
                <c:pt idx="7">
                  <c:v>Leises WC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7.4</c:v>
                </c:pt>
                <c:pt idx="2">
                  <c:v>3.5</c:v>
                </c:pt>
                <c:pt idx="3">
                  <c:v>3.2</c:v>
                </c:pt>
                <c:pt idx="4">
                  <c:v>2.2000000000000002</c:v>
                </c:pt>
                <c:pt idx="5">
                  <c:v>1.3</c:v>
                </c:pt>
                <c:pt idx="6">
                  <c:v>-0.2</c:v>
                </c:pt>
                <c:pt idx="7">
                  <c:v>-1.1000000000000001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822-4D54-A8A1-7545F3ABA8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>
            <a:solidFill>
              <a:srgbClr val="CBD5E0"/>
            </a:solidFill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.5"/>
          <c:min val="-6"/>
        </c:scaling>
        <c:delete val="1"/>
        <c:axPos val="t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400">
          <a:solidFill>
            <a:srgbClr val="4A556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r>
              <a:rPr lang="de-CH" sz="1600" b="1">
                <a:solidFill>
                  <a:srgbClr val="0A2F5C"/>
                </a:solidFill>
                <a:latin typeface="Arial"/>
              </a:rPr>
              <a:t>Ø Teilnutzenwerte je Stufe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Stufe 1 (Basis)</c:v>
                </c:pt>
              </c:strCache>
            </c:strRef>
          </c:tx>
          <c:spPr>
            <a:solidFill>
              <a:srgbClr val="8C99A8"/>
            </a:solidFill>
            <a:ln>
              <a:noFill/>
            </a:ln>
          </c:spPr>
          <c:invertIfNegative val="0"/>
          <c:dLbls>
            <c:numFmt formatCode="0;\−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F2A37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Toilette</c:v>
                </c:pt>
                <c:pt idx="1">
                  <c:v>Dusche</c:v>
                </c:pt>
                <c:pt idx="2">
                  <c:v>Waschtisch</c:v>
                </c:pt>
                <c:pt idx="3">
                  <c:v>Spiegel/Ablage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</c:v>
                </c:pt>
                <c:pt idx="1">
                  <c:v>-53.2</c:v>
                </c:pt>
                <c:pt idx="2">
                  <c:v>-9.6</c:v>
                </c:pt>
                <c:pt idx="3">
                  <c:v>-18.600000000000001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2-4D8A-B6B7-2B493D0EF3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Stufe 2</c:v>
                </c:pt>
              </c:strCache>
            </c:strRef>
          </c:tx>
          <c:spPr>
            <a:solidFill>
              <a:srgbClr val="4A93D1"/>
            </a:solidFill>
            <a:ln>
              <a:noFill/>
            </a:ln>
          </c:spPr>
          <c:invertIfNegative val="0"/>
          <c:dLbls>
            <c:numFmt formatCode="0;\−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F2A37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Toilette</c:v>
                </c:pt>
                <c:pt idx="1">
                  <c:v>Dusche</c:v>
                </c:pt>
                <c:pt idx="2">
                  <c:v>Waschtisch</c:v>
                </c:pt>
                <c:pt idx="3">
                  <c:v>Spiegel/Ablage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-5.8</c:v>
                </c:pt>
                <c:pt idx="1">
                  <c:v>7.9</c:v>
                </c:pt>
                <c:pt idx="2">
                  <c:v>0.8</c:v>
                </c:pt>
                <c:pt idx="3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72-4D8A-B6B7-2B493D0EF3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Stufe 3</c:v>
                </c:pt>
              </c:strCache>
            </c:strRef>
          </c:tx>
          <c:spPr>
            <a:solidFill>
              <a:srgbClr val="0A2F5C"/>
            </a:solidFill>
            <a:ln>
              <a:noFill/>
            </a:ln>
          </c:spPr>
          <c:invertIfNegative val="0"/>
          <c:dLbls>
            <c:numFmt formatCode="0;\−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F2A37"/>
                    </a:solidFill>
                    <a:latin typeface="Arial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Toilette</c:v>
                </c:pt>
                <c:pt idx="1">
                  <c:v>Dusche</c:v>
                </c:pt>
                <c:pt idx="2">
                  <c:v>Waschtisch</c:v>
                </c:pt>
                <c:pt idx="3">
                  <c:v>Spiegel/Ablage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2.1</c:v>
                </c:pt>
                <c:pt idx="1">
                  <c:v>45.4</c:v>
                </c:pt>
                <c:pt idx="2">
                  <c:v>8.9</c:v>
                </c:pt>
                <c:pt idx="3">
                  <c:v>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72-4D8A-B6B7-2B493D0EF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CBD5E0"/>
            </a:solidFill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-60"/>
        </c:scaling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-2068027336"/>
        <c:crosses val="autoZero"/>
        <c:crossBetween val="between"/>
        <c:majorUnit val="2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A5568"/>
              </a:solidFill>
              <a:latin typeface="Arial"/>
            </a:defRPr>
          </a:pPr>
          <a:endParaRPr lang="de-DE"/>
        </a:p>
      </c:txPr>
    </c:legend>
    <c:plotVisOnly val="1"/>
    <c:dispBlanksAs val="gap"/>
    <c:showDLblsOverMax val="1"/>
  </c:chart>
  <c:txPr>
    <a:bodyPr/>
    <a:lstStyle/>
    <a:p>
      <a:pPr>
        <a:defRPr sz="1400">
          <a:solidFill>
            <a:srgbClr val="4A556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r>
              <a:rPr lang="de-CH" sz="1600" b="1">
                <a:solidFill>
                  <a:srgbClr val="0A2F5C"/>
                </a:solidFill>
                <a:latin typeface="Arial"/>
              </a:rPr>
              <a:t>Teilnutzen des Aufpreises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Preis</c:v>
                </c:pt>
              </c:strCache>
            </c:strRef>
          </c:tx>
          <c:spPr>
            <a:ln w="31750">
              <a:solidFill>
                <a:srgbClr val="E5832A"/>
              </a:solidFill>
            </a:ln>
          </c:spPr>
          <c:marker>
            <c:symbol val="circle"/>
            <c:size val="9"/>
            <c:spPr>
              <a:solidFill>
                <a:srgbClr val="E5832A"/>
              </a:solidFill>
              <a:ln>
                <a:solidFill>
                  <a:srgbClr val="E5832A"/>
                </a:solidFill>
              </a:ln>
            </c:spPr>
          </c:marker>
          <c:dLbls>
            <c:numFmt formatCode="0;\−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F2A37"/>
                    </a:solidFill>
                    <a:latin typeface="Arial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CHF 0</c:v>
                </c:pt>
                <c:pt idx="1">
                  <c:v>CHF 15</c:v>
                </c:pt>
                <c:pt idx="2">
                  <c:v>CHF 45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134.69999999999999</c:v>
                </c:pt>
                <c:pt idx="1">
                  <c:v>11.2</c:v>
                </c:pt>
                <c:pt idx="2">
                  <c:v>-145.9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51-4039-B221-5388BFA540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>
            <a:solidFill>
              <a:srgbClr val="CBD5E0"/>
            </a:solidFill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0"/>
          <c:min val="-200"/>
        </c:scaling>
        <c:delete val="1"/>
        <c:axPos val="l"/>
        <c:numFmt formatCode="General" sourceLinked="1"/>
        <c:majorTickMark val="none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4A556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r>
              <a:rPr lang="de-CH" sz="1600" b="1">
                <a:solidFill>
                  <a:srgbClr val="0A2F5C"/>
                </a:solidFill>
                <a:latin typeface="Arial"/>
              </a:rPr>
              <a:t>Share of Preference (%) bei Preisen Basis / Komfort / Premium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Basis-Bad</c:v>
                </c:pt>
              </c:strCache>
            </c:strRef>
          </c:tx>
          <c:spPr>
            <a:solidFill>
              <a:srgbClr val="8C99A8"/>
            </a:solidFill>
            <a:ln>
              <a:noFill/>
            </a:ln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Arial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Alle CHF 0</c:v>
                </c:pt>
                <c:pt idx="1">
                  <c:v>Alle CHF 15</c:v>
                </c:pt>
                <c:pt idx="2">
                  <c:v>0 / 15 / 15</c:v>
                </c:pt>
                <c:pt idx="3">
                  <c:v>0 / 15 / 45</c:v>
                </c:pt>
                <c:pt idx="4">
                  <c:v>0 / 0 / 15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55.2</c:v>
                </c:pt>
                <c:pt idx="3">
                  <c:v>58.6</c:v>
                </c:pt>
                <c:pt idx="4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3A-4887-B091-DB4A32CE95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Komfort-Bad</c:v>
                </c:pt>
              </c:strCache>
            </c:strRef>
          </c:tx>
          <c:spPr>
            <a:solidFill>
              <a:srgbClr val="4A93D1"/>
            </a:solidFill>
            <a:ln>
              <a:noFill/>
            </a:ln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Arial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Alle CHF 0</c:v>
                </c:pt>
                <c:pt idx="1">
                  <c:v>Alle CHF 15</c:v>
                </c:pt>
                <c:pt idx="2">
                  <c:v>0 / 15 / 15</c:v>
                </c:pt>
                <c:pt idx="3">
                  <c:v>0 / 15 / 45</c:v>
                </c:pt>
                <c:pt idx="4">
                  <c:v>0 / 0 / 15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10.3</c:v>
                </c:pt>
                <c:pt idx="1">
                  <c:v>0</c:v>
                </c:pt>
                <c:pt idx="2">
                  <c:v>0</c:v>
                </c:pt>
                <c:pt idx="3">
                  <c:v>34.5</c:v>
                </c:pt>
                <c:pt idx="4">
                  <c:v>72.400000000000006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3A-4887-B091-DB4A32CE95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Premium-Bad</c:v>
                </c:pt>
              </c:strCache>
            </c:strRef>
          </c:tx>
          <c:spPr>
            <a:solidFill>
              <a:srgbClr val="0A2F5C"/>
            </a:solidFill>
            <a:ln>
              <a:noFill/>
            </a:ln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  <a:latin typeface="Arial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Alle CHF 0</c:v>
                </c:pt>
                <c:pt idx="1">
                  <c:v>Alle CHF 15</c:v>
                </c:pt>
                <c:pt idx="2">
                  <c:v>0 / 15 / 15</c:v>
                </c:pt>
                <c:pt idx="3">
                  <c:v>0 / 15 / 45</c:v>
                </c:pt>
                <c:pt idx="4">
                  <c:v>0 / 0 / 15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86.2</c:v>
                </c:pt>
                <c:pt idx="1">
                  <c:v>86.2</c:v>
                </c:pt>
                <c:pt idx="2">
                  <c:v>37.9</c:v>
                </c:pt>
                <c:pt idx="3">
                  <c:v>0</c:v>
                </c:pt>
                <c:pt idx="4">
                  <c:v>20.7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33A-4887-B091-DB4A32CE95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Keine Wahl</c:v>
                </c:pt>
              </c:strCache>
            </c:strRef>
          </c:tx>
          <c:spPr>
            <a:solidFill>
              <a:srgbClr val="C9D2DC"/>
            </a:solidFill>
            <a:ln>
              <a:noFill/>
            </a:ln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F2A37"/>
                    </a:solidFill>
                    <a:latin typeface="Arial"/>
                  </a:defRPr>
                </a:pPr>
                <a:endParaRPr lang="de-D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Alle CHF 0</c:v>
                </c:pt>
                <c:pt idx="1">
                  <c:v>Alle CHF 15</c:v>
                </c:pt>
                <c:pt idx="2">
                  <c:v>0 / 15 / 15</c:v>
                </c:pt>
                <c:pt idx="3">
                  <c:v>0 / 15 / 45</c:v>
                </c:pt>
                <c:pt idx="4">
                  <c:v>0 / 0 / 15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3.4</c:v>
                </c:pt>
                <c:pt idx="1">
                  <c:v>13.8</c:v>
                </c:pt>
                <c:pt idx="2">
                  <c:v>6.9</c:v>
                </c:pt>
                <c:pt idx="3">
                  <c:v>6.9</c:v>
                </c:pt>
                <c:pt idx="4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33A-4887-B091-DB4A32CE9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CBD5E0"/>
            </a:solidFill>
          </a:ln>
        </c:spPr>
        <c:txPr>
          <a:bodyPr/>
          <a:lstStyle/>
          <a:p>
            <a:pPr>
              <a:defRPr sz="1400">
                <a:solidFill>
                  <a:srgbClr val="4A5568"/>
                </a:solidFill>
                <a:latin typeface="Arial"/>
              </a:defRPr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4A5568"/>
              </a:solidFill>
              <a:latin typeface="Arial"/>
            </a:defRPr>
          </a:pPr>
          <a:endParaRPr lang="de-DE"/>
        </a:p>
      </c:txPr>
    </c:legend>
    <c:plotVisOnly val="1"/>
    <c:dispBlanksAs val="gap"/>
    <c:showDLblsOverMax val="1"/>
  </c:chart>
  <c:txPr>
    <a:bodyPr/>
    <a:lstStyle/>
    <a:p>
      <a:pPr>
        <a:defRPr sz="1400">
          <a:solidFill>
            <a:srgbClr val="4A556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824BE-D731-48FB-A961-04DC074A6C61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4F8C3-C912-471D-B26C-B72446239CD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2875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274FF-26F8-4AE0-B748-E0D66FCDF779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4111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Hotels </a:t>
            </a:r>
            <a:r>
              <a:rPr dirty="0" err="1"/>
              <a:t>investieren</a:t>
            </a:r>
            <a:r>
              <a:rPr dirty="0"/>
              <a:t> </a:t>
            </a:r>
            <a:r>
              <a:rPr dirty="0" err="1"/>
              <a:t>laufend</a:t>
            </a:r>
            <a:r>
              <a:rPr dirty="0"/>
              <a:t> in </a:t>
            </a:r>
            <a:r>
              <a:rPr dirty="0" err="1"/>
              <a:t>ihre</a:t>
            </a:r>
            <a:r>
              <a:rPr dirty="0"/>
              <a:t> Zimmer, und das Bad </a:t>
            </a:r>
            <a:r>
              <a:rPr dirty="0" err="1"/>
              <a:t>nutzen</a:t>
            </a:r>
            <a:r>
              <a:rPr dirty="0"/>
              <a:t> alle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jeden</a:t>
            </a:r>
            <a:r>
              <a:rPr dirty="0"/>
              <a:t> Tag. </a:t>
            </a:r>
            <a:r>
              <a:rPr dirty="0" err="1"/>
              <a:t>Unklar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aber</a:t>
            </a:r>
            <a:r>
              <a:rPr dirty="0"/>
              <a:t>, </a:t>
            </a:r>
            <a:r>
              <a:rPr dirty="0" err="1"/>
              <a:t>ob</a:t>
            </a:r>
            <a:r>
              <a:rPr dirty="0"/>
              <a:t> </a:t>
            </a:r>
            <a:r>
              <a:rPr dirty="0" err="1"/>
              <a:t>Gäste</a:t>
            </a:r>
            <a:r>
              <a:rPr dirty="0"/>
              <a:t> für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besseres</a:t>
            </a:r>
            <a:r>
              <a:rPr dirty="0"/>
              <a:t> Bad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bezahlen</a:t>
            </a:r>
            <a:r>
              <a:rPr dirty="0"/>
              <a:t>. Für </a:t>
            </a:r>
            <a:r>
              <a:rPr dirty="0" err="1"/>
              <a:t>Geberit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genau</a:t>
            </a:r>
            <a:r>
              <a:rPr dirty="0"/>
              <a:t> das die </a:t>
            </a:r>
            <a:r>
              <a:rPr dirty="0" err="1"/>
              <a:t>entscheidende</a:t>
            </a:r>
            <a:r>
              <a:rPr dirty="0"/>
              <a:t> Frage: Ein Hotel </a:t>
            </a:r>
            <a:r>
              <a:rPr dirty="0" err="1"/>
              <a:t>baut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hochwertige</a:t>
            </a:r>
            <a:r>
              <a:rPr dirty="0"/>
              <a:t> </a:t>
            </a:r>
            <a:r>
              <a:rPr dirty="0" err="1"/>
              <a:t>Sanitärausstattung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, </a:t>
            </a:r>
            <a:r>
              <a:rPr dirty="0" err="1"/>
              <a:t>wenn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das </a:t>
            </a:r>
            <a:r>
              <a:rPr dirty="0" err="1"/>
              <a:t>über</a:t>
            </a:r>
            <a:r>
              <a:rPr dirty="0"/>
              <a:t> den </a:t>
            </a:r>
            <a:r>
              <a:rPr dirty="0" err="1"/>
              <a:t>Zimmerpreis</a:t>
            </a:r>
            <a:r>
              <a:rPr dirty="0"/>
              <a:t> </a:t>
            </a:r>
            <a:r>
              <a:rPr dirty="0" err="1"/>
              <a:t>wieder</a:t>
            </a:r>
            <a:r>
              <a:rPr dirty="0"/>
              <a:t> </a:t>
            </a:r>
            <a:r>
              <a:rPr dirty="0" err="1"/>
              <a:t>hereinholen</a:t>
            </a:r>
            <a:r>
              <a:rPr dirty="0"/>
              <a:t> </a:t>
            </a:r>
            <a:r>
              <a:rPr dirty="0" err="1"/>
              <a:t>lässt</a:t>
            </a:r>
            <a:r>
              <a:rPr dirty="0"/>
              <a:t>. Heute </a:t>
            </a:r>
            <a:r>
              <a:rPr dirty="0" err="1"/>
              <a:t>fehlen</a:t>
            </a:r>
            <a:r>
              <a:rPr dirty="0"/>
              <a:t> </a:t>
            </a:r>
            <a:r>
              <a:rPr dirty="0" err="1"/>
              <a:t>Geberit</a:t>
            </a:r>
            <a:r>
              <a:rPr dirty="0"/>
              <a:t> </a:t>
            </a:r>
            <a:r>
              <a:rPr dirty="0" err="1"/>
              <a:t>dafür</a:t>
            </a:r>
            <a:r>
              <a:rPr dirty="0"/>
              <a:t> </a:t>
            </a:r>
            <a:r>
              <a:rPr dirty="0" err="1"/>
              <a:t>belastbare</a:t>
            </a:r>
            <a:r>
              <a:rPr dirty="0"/>
              <a:t> </a:t>
            </a:r>
            <a:r>
              <a:rPr dirty="0" err="1"/>
              <a:t>Argumente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Daraus</a:t>
            </a:r>
            <a:r>
              <a:rPr dirty="0"/>
              <a:t> </a:t>
            </a:r>
            <a:r>
              <a:rPr dirty="0" err="1"/>
              <a:t>ergibt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</a:t>
            </a:r>
            <a:r>
              <a:rPr dirty="0" err="1"/>
              <a:t>Leitfrage</a:t>
            </a:r>
            <a:r>
              <a:rPr dirty="0"/>
              <a:t>: </a:t>
            </a:r>
            <a:r>
              <a:rPr dirty="0" err="1"/>
              <a:t>Welche</a:t>
            </a:r>
            <a:r>
              <a:rPr dirty="0"/>
              <a:t> </a:t>
            </a:r>
            <a:r>
              <a:rPr dirty="0" err="1"/>
              <a:t>Sanitärausstattung</a:t>
            </a:r>
            <a:r>
              <a:rPr dirty="0"/>
              <a:t> </a:t>
            </a:r>
            <a:r>
              <a:rPr dirty="0" err="1"/>
              <a:t>steigert</a:t>
            </a:r>
            <a:r>
              <a:rPr dirty="0"/>
              <a:t> die </a:t>
            </a:r>
            <a:r>
              <a:rPr dirty="0" err="1"/>
              <a:t>Zahlungsbereitschaft</a:t>
            </a:r>
            <a:r>
              <a:rPr dirty="0"/>
              <a:t> so stark,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Investition</a:t>
            </a:r>
            <a:r>
              <a:rPr dirty="0"/>
              <a:t> für Hotels </a:t>
            </a:r>
            <a:r>
              <a:rPr dirty="0" err="1"/>
              <a:t>lohnt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Als Rahmen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Zimmer der 3- bis 4-Sterne-Klasse </a:t>
            </a:r>
            <a:r>
              <a:rPr dirty="0" err="1"/>
              <a:t>zu</a:t>
            </a:r>
            <a:r>
              <a:rPr dirty="0"/>
              <a:t> 150 Franken pro Nacht </a:t>
            </a:r>
            <a:r>
              <a:rPr dirty="0" err="1"/>
              <a:t>gewählt</a:t>
            </a:r>
            <a:r>
              <a:rPr dirty="0"/>
              <a:t>. Dieser </a:t>
            </a:r>
            <a:r>
              <a:rPr dirty="0" err="1"/>
              <a:t>Referenzpreis</a:t>
            </a:r>
            <a:r>
              <a:rPr dirty="0"/>
              <a:t> gilt in </a:t>
            </a:r>
            <a:r>
              <a:rPr dirty="0" err="1"/>
              <a:t>beiden</a:t>
            </a:r>
            <a:r>
              <a:rPr dirty="0"/>
              <a:t> </a:t>
            </a:r>
            <a:r>
              <a:rPr dirty="0" err="1"/>
              <a:t>Befragungen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Wir </a:t>
            </a:r>
            <a:r>
              <a:rPr dirty="0" err="1"/>
              <a:t>messen</a:t>
            </a:r>
            <a:r>
              <a:rPr dirty="0"/>
              <a:t> die </a:t>
            </a:r>
            <a:r>
              <a:rPr dirty="0" err="1"/>
              <a:t>Zahlungsbereitschaft</a:t>
            </a:r>
            <a:r>
              <a:rPr dirty="0"/>
              <a:t> der </a:t>
            </a:r>
            <a:r>
              <a:rPr dirty="0" err="1"/>
              <a:t>Gäste</a:t>
            </a:r>
            <a:r>
              <a:rPr dirty="0"/>
              <a:t>. Ob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Investition</a:t>
            </a:r>
            <a:r>
              <a:rPr dirty="0"/>
              <a:t> für das Hotel </a:t>
            </a:r>
            <a:r>
              <a:rPr dirty="0" err="1"/>
              <a:t>rechnet</a:t>
            </a:r>
            <a:r>
              <a:rPr dirty="0"/>
              <a:t> (Kosten, </a:t>
            </a:r>
            <a:r>
              <a:rPr dirty="0" err="1"/>
              <a:t>Auslastung</a:t>
            </a:r>
            <a:r>
              <a:rPr dirty="0"/>
              <a:t>, </a:t>
            </a:r>
            <a:r>
              <a:rPr dirty="0" err="1"/>
              <a:t>Amortisation</a:t>
            </a:r>
            <a:r>
              <a:rPr dirty="0"/>
              <a:t>),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nicht </a:t>
            </a:r>
            <a:r>
              <a:rPr dirty="0" err="1"/>
              <a:t>untersucht</a:t>
            </a:r>
            <a:r>
              <a:rPr dirty="0"/>
              <a:t>. Das </a:t>
            </a:r>
            <a:r>
              <a:rPr dirty="0" err="1"/>
              <a:t>wäre</a:t>
            </a:r>
            <a:r>
              <a:rPr dirty="0"/>
              <a:t> der </a:t>
            </a:r>
            <a:r>
              <a:rPr dirty="0" err="1"/>
              <a:t>nächste</a:t>
            </a:r>
            <a:r>
              <a:rPr dirty="0"/>
              <a:t> Schritt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Business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Hier </a:t>
            </a:r>
            <a:r>
              <a:rPr dirty="0" err="1"/>
              <a:t>sehen</a:t>
            </a:r>
            <a:r>
              <a:rPr dirty="0"/>
              <a:t> Sie die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Ausstattungsstufen</a:t>
            </a:r>
            <a:r>
              <a:rPr dirty="0"/>
              <a:t>, die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verglichen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Das Basis-Bad hat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klassisches</a:t>
            </a:r>
            <a:r>
              <a:rPr dirty="0"/>
              <a:t> WC, </a:t>
            </a:r>
            <a:r>
              <a:rPr dirty="0" err="1"/>
              <a:t>eine</a:t>
            </a:r>
            <a:r>
              <a:rPr dirty="0"/>
              <a:t> Standard-</a:t>
            </a:r>
            <a:r>
              <a:rPr dirty="0" err="1"/>
              <a:t>Duschwanne</a:t>
            </a:r>
            <a:r>
              <a:rPr dirty="0"/>
              <a:t>,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kleinen</a:t>
            </a:r>
            <a:r>
              <a:rPr dirty="0"/>
              <a:t> </a:t>
            </a:r>
            <a:r>
              <a:rPr dirty="0" err="1"/>
              <a:t>Waschtisch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Standardarmatur</a:t>
            </a:r>
            <a:r>
              <a:rPr dirty="0"/>
              <a:t> und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kleinen</a:t>
            </a:r>
            <a:r>
              <a:rPr dirty="0"/>
              <a:t> Spiegel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wenig</a:t>
            </a:r>
            <a:r>
              <a:rPr dirty="0"/>
              <a:t> </a:t>
            </a:r>
            <a:r>
              <a:rPr dirty="0" err="1"/>
              <a:t>Ablage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Beim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kommen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WC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leiser</a:t>
            </a:r>
            <a:r>
              <a:rPr dirty="0"/>
              <a:t> </a:t>
            </a:r>
            <a:r>
              <a:rPr dirty="0" err="1"/>
              <a:t>Spülung</a:t>
            </a:r>
            <a:r>
              <a:rPr dirty="0"/>
              <a:t> und </a:t>
            </a:r>
            <a:r>
              <a:rPr dirty="0" err="1"/>
              <a:t>Geruchsabsaugung</a:t>
            </a:r>
            <a:r>
              <a:rPr dirty="0"/>
              <a:t> </a:t>
            </a:r>
            <a:r>
              <a:rPr dirty="0" err="1"/>
              <a:t>dazu</a:t>
            </a:r>
            <a:r>
              <a:rPr dirty="0"/>
              <a:t>,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bodenebene</a:t>
            </a:r>
            <a:r>
              <a:rPr dirty="0"/>
              <a:t>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Rinne, </a:t>
            </a:r>
            <a:r>
              <a:rPr dirty="0" err="1"/>
              <a:t>ein</a:t>
            </a:r>
            <a:r>
              <a:rPr dirty="0"/>
              <a:t> grosser </a:t>
            </a:r>
            <a:r>
              <a:rPr dirty="0" err="1"/>
              <a:t>Waschtisch</a:t>
            </a:r>
            <a:r>
              <a:rPr dirty="0"/>
              <a:t> und </a:t>
            </a:r>
            <a:r>
              <a:rPr dirty="0" err="1"/>
              <a:t>ein</a:t>
            </a:r>
            <a:r>
              <a:rPr dirty="0"/>
              <a:t> grosser, </a:t>
            </a:r>
            <a:r>
              <a:rPr dirty="0" err="1"/>
              <a:t>beleuchteter</a:t>
            </a:r>
            <a:r>
              <a:rPr dirty="0"/>
              <a:t> Spiegel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viel</a:t>
            </a:r>
            <a:r>
              <a:rPr dirty="0"/>
              <a:t> </a:t>
            </a:r>
            <a:r>
              <a:rPr dirty="0" err="1"/>
              <a:t>Ablage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Das Premium-Bad hat </a:t>
            </a:r>
            <a:r>
              <a:rPr dirty="0" err="1"/>
              <a:t>ein</a:t>
            </a:r>
            <a:r>
              <a:rPr dirty="0"/>
              <a:t> Dusch-WC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Warmwasserreinigung</a:t>
            </a:r>
            <a:r>
              <a:rPr dirty="0"/>
              <a:t>,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bodenebene</a:t>
            </a:r>
            <a:r>
              <a:rPr dirty="0"/>
              <a:t>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Regendusche</a:t>
            </a:r>
            <a:r>
              <a:rPr dirty="0"/>
              <a:t>,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grossen</a:t>
            </a:r>
            <a:r>
              <a:rPr dirty="0"/>
              <a:t> </a:t>
            </a:r>
            <a:r>
              <a:rPr dirty="0" err="1"/>
              <a:t>Waschtisch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berührungsloser</a:t>
            </a:r>
            <a:r>
              <a:rPr dirty="0"/>
              <a:t> </a:t>
            </a:r>
            <a:r>
              <a:rPr dirty="0" err="1"/>
              <a:t>Armatur</a:t>
            </a:r>
            <a:r>
              <a:rPr dirty="0"/>
              <a:t> und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grossen</a:t>
            </a:r>
            <a:r>
              <a:rPr dirty="0"/>
              <a:t> Spiegel, der </a:t>
            </a:r>
            <a:r>
              <a:rPr dirty="0" err="1"/>
              <a:t>dimmbar</a:t>
            </a:r>
            <a:r>
              <a:rPr dirty="0"/>
              <a:t> und </a:t>
            </a:r>
            <a:r>
              <a:rPr dirty="0" err="1"/>
              <a:t>beschlagfrei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In der Gabor-Granger-</a:t>
            </a: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sehen</a:t>
            </a:r>
            <a:r>
              <a:rPr dirty="0"/>
              <a:t> die </a:t>
            </a:r>
            <a:r>
              <a:rPr dirty="0" err="1"/>
              <a:t>Befragten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Bäder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Bilder. In der Conjoint-</a:t>
            </a: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stellen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die </a:t>
            </a:r>
            <a:r>
              <a:rPr dirty="0" err="1"/>
              <a:t>Bäder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den </a:t>
            </a:r>
            <a:r>
              <a:rPr dirty="0" err="1"/>
              <a:t>einzelnen</a:t>
            </a:r>
            <a:r>
              <a:rPr dirty="0"/>
              <a:t> </a:t>
            </a:r>
            <a:r>
              <a:rPr dirty="0" err="1"/>
              <a:t>Bausteinen</a:t>
            </a:r>
            <a:r>
              <a:rPr dirty="0"/>
              <a:t> </a:t>
            </a:r>
            <a:r>
              <a:rPr dirty="0" err="1"/>
              <a:t>zusammen</a:t>
            </a:r>
            <a:r>
              <a:rPr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4F8C3-C912-471D-B26C-B72446239CD3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12872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Verfahren</a:t>
            </a:r>
            <a:r>
              <a:rPr dirty="0"/>
              <a:t> in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getrennten</a:t>
            </a:r>
            <a:r>
              <a:rPr dirty="0"/>
              <a:t> Online-</a:t>
            </a:r>
            <a:r>
              <a:rPr dirty="0" err="1"/>
              <a:t>Befragungen</a:t>
            </a:r>
            <a:r>
              <a:rPr dirty="0"/>
              <a:t> </a:t>
            </a:r>
            <a:r>
              <a:rPr dirty="0" err="1"/>
              <a:t>eingesetzt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Links die Gabor-Granger-</a:t>
            </a:r>
            <a:r>
              <a:rPr dirty="0" err="1"/>
              <a:t>Analyse</a:t>
            </a:r>
            <a:r>
              <a:rPr dirty="0"/>
              <a:t>. 25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 die </a:t>
            </a:r>
            <a:r>
              <a:rPr dirty="0" err="1"/>
              <a:t>Befragung</a:t>
            </a:r>
            <a:r>
              <a:rPr dirty="0"/>
              <a:t> </a:t>
            </a:r>
            <a:r>
              <a:rPr dirty="0" err="1"/>
              <a:t>begonnen</a:t>
            </a:r>
            <a:r>
              <a:rPr dirty="0"/>
              <a:t>, 20 </a:t>
            </a:r>
            <a:r>
              <a:rPr dirty="0" err="1"/>
              <a:t>haben</a:t>
            </a:r>
            <a:r>
              <a:rPr dirty="0"/>
              <a:t> alle </a:t>
            </a:r>
            <a:r>
              <a:rPr dirty="0" err="1"/>
              <a:t>drei</a:t>
            </a:r>
            <a:r>
              <a:rPr dirty="0"/>
              <a:t> Bilder </a:t>
            </a:r>
            <a:r>
              <a:rPr dirty="0" err="1"/>
              <a:t>beantwortet</a:t>
            </a:r>
            <a:r>
              <a:rPr dirty="0"/>
              <a:t> und </a:t>
            </a:r>
            <a:r>
              <a:rPr dirty="0" err="1"/>
              <a:t>sind</a:t>
            </a:r>
            <a:r>
              <a:rPr dirty="0"/>
              <a:t> in der </a:t>
            </a:r>
            <a:r>
              <a:rPr dirty="0" err="1"/>
              <a:t>Auswertung</a:t>
            </a:r>
            <a:r>
              <a:rPr dirty="0"/>
              <a:t>. Zu </a:t>
            </a:r>
            <a:r>
              <a:rPr dirty="0" err="1"/>
              <a:t>jedem</a:t>
            </a:r>
            <a:r>
              <a:rPr dirty="0"/>
              <a:t> Bild </a:t>
            </a:r>
            <a:r>
              <a:rPr dirty="0" err="1"/>
              <a:t>kam</a:t>
            </a:r>
            <a:r>
              <a:rPr dirty="0"/>
              <a:t> die Frage, </a:t>
            </a:r>
            <a:r>
              <a:rPr dirty="0" err="1"/>
              <a:t>ob</a:t>
            </a:r>
            <a:r>
              <a:rPr dirty="0"/>
              <a:t> man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bestimmten</a:t>
            </a:r>
            <a:r>
              <a:rPr dirty="0"/>
              <a:t> </a:t>
            </a:r>
            <a:r>
              <a:rPr dirty="0" err="1"/>
              <a:t>Aufpreis</a:t>
            </a:r>
            <a:r>
              <a:rPr dirty="0"/>
              <a:t> pro Nacht </a:t>
            </a:r>
            <a:r>
              <a:rPr dirty="0" err="1"/>
              <a:t>bezahlen</a:t>
            </a:r>
            <a:r>
              <a:rPr dirty="0"/>
              <a:t> </a:t>
            </a:r>
            <a:r>
              <a:rPr dirty="0" err="1"/>
              <a:t>würde</a:t>
            </a:r>
            <a:r>
              <a:rPr dirty="0"/>
              <a:t>, ja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nein</a:t>
            </a:r>
            <a:r>
              <a:rPr dirty="0"/>
              <a:t>. Die </a:t>
            </a:r>
            <a:r>
              <a:rPr dirty="0" err="1"/>
              <a:t>Preise</a:t>
            </a:r>
            <a:r>
              <a:rPr dirty="0"/>
              <a:t> </a:t>
            </a:r>
            <a:r>
              <a:rPr dirty="0" err="1"/>
              <a:t>gingen</a:t>
            </a:r>
            <a:r>
              <a:rPr dirty="0"/>
              <a:t> von null bis 70 Franken in </a:t>
            </a:r>
            <a:r>
              <a:rPr dirty="0" err="1"/>
              <a:t>Fünferschritten</a:t>
            </a:r>
            <a:r>
              <a:rPr dirty="0"/>
              <a:t>. Die </a:t>
            </a:r>
            <a:r>
              <a:rPr dirty="0" err="1"/>
              <a:t>Abfrage</a:t>
            </a:r>
            <a:r>
              <a:rPr dirty="0"/>
              <a:t> war </a:t>
            </a:r>
            <a:r>
              <a:rPr dirty="0" err="1"/>
              <a:t>adaptiv</a:t>
            </a:r>
            <a:r>
              <a:rPr dirty="0"/>
              <a:t>: Nach </a:t>
            </a:r>
            <a:r>
              <a:rPr dirty="0" err="1"/>
              <a:t>einem</a:t>
            </a:r>
            <a:r>
              <a:rPr dirty="0"/>
              <a:t> Ja </a:t>
            </a:r>
            <a:r>
              <a:rPr dirty="0" err="1"/>
              <a:t>kam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höherer</a:t>
            </a:r>
            <a:r>
              <a:rPr dirty="0"/>
              <a:t> Preis, </a:t>
            </a:r>
            <a:r>
              <a:rPr dirty="0" err="1"/>
              <a:t>nach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Nein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tieferer</a:t>
            </a:r>
            <a:r>
              <a:rPr dirty="0"/>
              <a:t>. So </a:t>
            </a:r>
            <a:r>
              <a:rPr dirty="0" err="1"/>
              <a:t>bekommen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pro Bad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Nachfragekurve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Rechts</a:t>
            </a:r>
            <a:r>
              <a:rPr dirty="0"/>
              <a:t> die Choice-based Conjoint-</a:t>
            </a:r>
            <a:r>
              <a:rPr dirty="0" err="1"/>
              <a:t>Analyse</a:t>
            </a:r>
            <a:r>
              <a:rPr dirty="0"/>
              <a:t>. 29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 in </a:t>
            </a:r>
            <a:r>
              <a:rPr dirty="0" err="1"/>
              <a:t>sieben</a:t>
            </a:r>
            <a:r>
              <a:rPr dirty="0"/>
              <a:t> </a:t>
            </a:r>
            <a:r>
              <a:rPr dirty="0" err="1"/>
              <a:t>Aufgaben</a:t>
            </a:r>
            <a:r>
              <a:rPr dirty="0"/>
              <a:t> </a:t>
            </a:r>
            <a:r>
              <a:rPr dirty="0" err="1"/>
              <a:t>jeweils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Badezimmern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keinem</a:t>
            </a:r>
            <a:r>
              <a:rPr dirty="0"/>
              <a:t> </a:t>
            </a:r>
            <a:r>
              <a:rPr dirty="0" err="1"/>
              <a:t>gewählt</a:t>
            </a:r>
            <a:r>
              <a:rPr dirty="0"/>
              <a:t>. Die </a:t>
            </a:r>
            <a:r>
              <a:rPr dirty="0" err="1"/>
              <a:t>Bäder</a:t>
            </a:r>
            <a:r>
              <a:rPr dirty="0"/>
              <a:t> </a:t>
            </a:r>
            <a:r>
              <a:rPr dirty="0" err="1"/>
              <a:t>unterschieden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in vier </a:t>
            </a:r>
            <a:r>
              <a:rPr dirty="0" err="1"/>
              <a:t>Ausstattungsmerkmalen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je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Stufen</a:t>
            </a:r>
            <a:r>
              <a:rPr dirty="0"/>
              <a:t> und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Aufpreis</a:t>
            </a:r>
            <a:r>
              <a:rPr dirty="0"/>
              <a:t> von null, 15 </a:t>
            </a:r>
            <a:r>
              <a:rPr dirty="0" err="1"/>
              <a:t>oder</a:t>
            </a:r>
            <a:r>
              <a:rPr dirty="0"/>
              <a:t> 45 Franken,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einem</a:t>
            </a:r>
            <a:r>
              <a:rPr dirty="0"/>
              <a:t> </a:t>
            </a:r>
            <a:r>
              <a:rPr dirty="0" err="1"/>
              <a:t>Zimmerpreis</a:t>
            </a:r>
            <a:r>
              <a:rPr dirty="0"/>
              <a:t> von 150 Franken. Daran </a:t>
            </a:r>
            <a:r>
              <a:rPr dirty="0" err="1"/>
              <a:t>sehen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, was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gegeneinander</a:t>
            </a:r>
            <a:r>
              <a:rPr dirty="0"/>
              <a:t> </a:t>
            </a:r>
            <a:r>
              <a:rPr dirty="0" err="1"/>
              <a:t>abwägen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Teilnehmenden</a:t>
            </a:r>
            <a:r>
              <a:rPr dirty="0"/>
              <a:t> </a:t>
            </a:r>
            <a:r>
              <a:rPr dirty="0" err="1"/>
              <a:t>stammen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</a:t>
            </a:r>
            <a:r>
              <a:rPr dirty="0" err="1"/>
              <a:t>unserem</a:t>
            </a:r>
            <a:r>
              <a:rPr dirty="0"/>
              <a:t> </a:t>
            </a:r>
            <a:r>
              <a:rPr dirty="0" err="1"/>
              <a:t>persönlichen</a:t>
            </a:r>
            <a:r>
              <a:rPr dirty="0"/>
              <a:t> und </a:t>
            </a:r>
            <a:r>
              <a:rPr dirty="0" err="1"/>
              <a:t>beruflichen</a:t>
            </a:r>
            <a:r>
              <a:rPr dirty="0"/>
              <a:t> </a:t>
            </a:r>
            <a:r>
              <a:rPr dirty="0" err="1"/>
              <a:t>Netzwerk</a:t>
            </a:r>
            <a:r>
              <a:rPr dirty="0"/>
              <a:t>. Es </a:t>
            </a:r>
            <a:r>
              <a:rPr dirty="0" err="1"/>
              <a:t>ist</a:t>
            </a:r>
            <a:r>
              <a:rPr dirty="0"/>
              <a:t> also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Gelegenheitsstichprobe</a:t>
            </a:r>
            <a:r>
              <a:rPr dirty="0"/>
              <a:t> und nicht </a:t>
            </a:r>
            <a:r>
              <a:rPr dirty="0" err="1"/>
              <a:t>repräsentativ</a:t>
            </a:r>
            <a:r>
              <a:rPr dirty="0"/>
              <a:t>.</a:t>
            </a:r>
          </a:p>
          <a:p>
            <a:endParaRPr dirty="0"/>
          </a:p>
          <a:p>
            <a:r>
              <a:rPr lang="de-CH" dirty="0"/>
              <a:t>(</a:t>
            </a:r>
            <a:r>
              <a:rPr dirty="0"/>
              <a:t>Die Conjoint-</a:t>
            </a:r>
            <a:r>
              <a:rPr dirty="0" err="1"/>
              <a:t>Befragung</a:t>
            </a:r>
            <a:r>
              <a:rPr dirty="0"/>
              <a:t> </a:t>
            </a:r>
            <a:r>
              <a:rPr dirty="0" err="1"/>
              <a:t>dauerte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Median </a:t>
            </a:r>
            <a:r>
              <a:rPr dirty="0" err="1"/>
              <a:t>rund</a:t>
            </a:r>
            <a:r>
              <a:rPr dirty="0"/>
              <a:t> 6 Minuten. </a:t>
            </a:r>
            <a:r>
              <a:rPr dirty="0" err="1"/>
              <a:t>Insgesamt</a:t>
            </a:r>
            <a:r>
              <a:rPr dirty="0"/>
              <a:t> gab es 203 </a:t>
            </a:r>
            <a:r>
              <a:rPr dirty="0" err="1"/>
              <a:t>Wahlentscheidungen</a:t>
            </a:r>
            <a:r>
              <a:rPr dirty="0"/>
              <a:t>, in 22 </a:t>
            </a:r>
            <a:r>
              <a:rPr dirty="0" err="1"/>
              <a:t>davon</a:t>
            </a:r>
            <a:r>
              <a:rPr dirty="0"/>
              <a:t> </a:t>
            </a:r>
            <a:r>
              <a:rPr dirty="0" err="1"/>
              <a:t>wurde</a:t>
            </a:r>
            <a:r>
              <a:rPr dirty="0"/>
              <a:t> «</a:t>
            </a:r>
            <a:r>
              <a:rPr dirty="0" err="1"/>
              <a:t>keines</a:t>
            </a:r>
            <a:r>
              <a:rPr dirty="0"/>
              <a:t>» </a:t>
            </a:r>
            <a:r>
              <a:rPr dirty="0" err="1"/>
              <a:t>gewählt</a:t>
            </a:r>
            <a:r>
              <a:rPr dirty="0"/>
              <a:t> (10.8 %). Eine Person hat </a:t>
            </a:r>
            <a:r>
              <a:rPr dirty="0" err="1"/>
              <a:t>siebenmal</a:t>
            </a:r>
            <a:r>
              <a:rPr dirty="0"/>
              <a:t> «</a:t>
            </a:r>
            <a:r>
              <a:rPr dirty="0" err="1"/>
              <a:t>keines</a:t>
            </a:r>
            <a:r>
              <a:rPr dirty="0"/>
              <a:t>» </a:t>
            </a:r>
            <a:r>
              <a:rPr dirty="0" err="1"/>
              <a:t>gewählt</a:t>
            </a:r>
            <a:r>
              <a:rPr dirty="0"/>
              <a:t>.</a:t>
            </a:r>
          </a:p>
          <a:p>
            <a:r>
              <a:rPr dirty="0"/>
              <a:t>Die </a:t>
            </a:r>
            <a:r>
              <a:rPr dirty="0" err="1"/>
              <a:t>beiden</a:t>
            </a:r>
            <a:r>
              <a:rPr dirty="0"/>
              <a:t> </a:t>
            </a:r>
            <a:r>
              <a:rPr dirty="0" err="1"/>
              <a:t>Befragungen</a:t>
            </a:r>
            <a:r>
              <a:rPr dirty="0"/>
              <a:t> </a:t>
            </a:r>
            <a:r>
              <a:rPr dirty="0" err="1"/>
              <a:t>wurden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verschiedenen</a:t>
            </a:r>
            <a:r>
              <a:rPr dirty="0"/>
              <a:t>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gemacht</a:t>
            </a:r>
            <a:r>
              <a:rPr dirty="0"/>
              <a:t>, um Reihenfolgeeffekte </a:t>
            </a:r>
            <a:r>
              <a:rPr dirty="0" err="1"/>
              <a:t>zwischen</a:t>
            </a:r>
            <a:r>
              <a:rPr dirty="0"/>
              <a:t> den </a:t>
            </a:r>
            <a:r>
              <a:rPr dirty="0" err="1"/>
              <a:t>beiden</a:t>
            </a:r>
            <a:r>
              <a:rPr dirty="0"/>
              <a:t> </a:t>
            </a:r>
            <a:r>
              <a:rPr dirty="0" err="1"/>
              <a:t>Preismessungen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vermeiden</a:t>
            </a:r>
            <a:r>
              <a:rPr dirty="0"/>
              <a:t>. </a:t>
            </a:r>
            <a:r>
              <a:rPr dirty="0" err="1"/>
              <a:t>Dafür</a:t>
            </a:r>
            <a:r>
              <a:rPr dirty="0"/>
              <a:t> </a:t>
            </a:r>
            <a:r>
              <a:rPr dirty="0" err="1"/>
              <a:t>lassen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beiden</a:t>
            </a:r>
            <a:r>
              <a:rPr dirty="0"/>
              <a:t> Gruppen </a:t>
            </a:r>
            <a:r>
              <a:rPr dirty="0" err="1"/>
              <a:t>nur</a:t>
            </a:r>
            <a:r>
              <a:rPr dirty="0"/>
              <a:t> auf </a:t>
            </a:r>
            <a:r>
              <a:rPr dirty="0" err="1"/>
              <a:t>Gruppenebene</a:t>
            </a:r>
            <a:r>
              <a:rPr dirty="0"/>
              <a:t> </a:t>
            </a:r>
            <a:r>
              <a:rPr dirty="0" err="1"/>
              <a:t>vergleichen</a:t>
            </a:r>
            <a:r>
              <a:rPr dirty="0"/>
              <a:t>.</a:t>
            </a:r>
            <a:r>
              <a:rPr lang="de-CH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Die </a:t>
            </a:r>
            <a:r>
              <a:rPr dirty="0" err="1"/>
              <a:t>Kurven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viele</a:t>
            </a:r>
            <a:r>
              <a:rPr dirty="0"/>
              <a:t>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bestimmten</a:t>
            </a:r>
            <a:r>
              <a:rPr dirty="0"/>
              <a:t> </a:t>
            </a:r>
            <a:r>
              <a:rPr dirty="0" err="1"/>
              <a:t>Aufpreis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akzeptieren</a:t>
            </a:r>
            <a:r>
              <a:rPr dirty="0"/>
              <a:t>. Beim Basis-Bad </a:t>
            </a:r>
            <a:r>
              <a:rPr dirty="0" err="1"/>
              <a:t>halbiert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Zustimmung</a:t>
            </a:r>
            <a:r>
              <a:rPr dirty="0"/>
              <a:t> </a:t>
            </a:r>
            <a:r>
              <a:rPr dirty="0" err="1"/>
              <a:t>schon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5 Franken. Das Premium-Bad, die </a:t>
            </a:r>
            <a:r>
              <a:rPr dirty="0" err="1"/>
              <a:t>dunkle</a:t>
            </a:r>
            <a:r>
              <a:rPr dirty="0"/>
              <a:t> Linie, </a:t>
            </a:r>
            <a:r>
              <a:rPr dirty="0" err="1"/>
              <a:t>hält</a:t>
            </a:r>
            <a:r>
              <a:rPr dirty="0"/>
              <a:t> am </a:t>
            </a:r>
            <a:r>
              <a:rPr dirty="0" err="1"/>
              <a:t>längsten</a:t>
            </a:r>
            <a:r>
              <a:rPr dirty="0"/>
              <a:t>: Bis 20 Franken </a:t>
            </a:r>
            <a:r>
              <a:rPr dirty="0" err="1"/>
              <a:t>sagen</a:t>
            </a:r>
            <a:r>
              <a:rPr dirty="0"/>
              <a:t> 65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Ja. Bei 25 Franken </a:t>
            </a:r>
            <a:r>
              <a:rPr dirty="0" err="1"/>
              <a:t>fällt</a:t>
            </a:r>
            <a:r>
              <a:rPr dirty="0"/>
              <a:t> die </a:t>
            </a:r>
            <a:r>
              <a:rPr dirty="0" err="1"/>
              <a:t>Kurve</a:t>
            </a:r>
            <a:r>
              <a:rPr dirty="0"/>
              <a:t> auf 30 </a:t>
            </a:r>
            <a:r>
              <a:rPr dirty="0" err="1"/>
              <a:t>Prozent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Der </a:t>
            </a:r>
            <a:r>
              <a:rPr dirty="0" err="1"/>
              <a:t>umsatzstärkste</a:t>
            </a:r>
            <a:r>
              <a:rPr dirty="0"/>
              <a:t> Preis </a:t>
            </a:r>
            <a:r>
              <a:rPr dirty="0" err="1"/>
              <a:t>beim</a:t>
            </a:r>
            <a:r>
              <a:rPr dirty="0"/>
              <a:t> Premium-Bad </a:t>
            </a:r>
            <a:r>
              <a:rPr dirty="0" err="1"/>
              <a:t>liegt</a:t>
            </a:r>
            <a:r>
              <a:rPr dirty="0"/>
              <a:t>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20 Franken.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stabil</a:t>
            </a:r>
            <a:r>
              <a:rPr dirty="0"/>
              <a:t>: In 72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unserer</a:t>
            </a:r>
            <a:r>
              <a:rPr dirty="0"/>
              <a:t> </a:t>
            </a:r>
            <a:r>
              <a:rPr dirty="0" err="1"/>
              <a:t>Wiederholungsrechnungen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zufällig</a:t>
            </a:r>
            <a:r>
              <a:rPr dirty="0"/>
              <a:t> </a:t>
            </a:r>
            <a:r>
              <a:rPr dirty="0" err="1"/>
              <a:t>gezogenen</a:t>
            </a:r>
            <a:r>
              <a:rPr dirty="0"/>
              <a:t> </a:t>
            </a:r>
            <a:r>
              <a:rPr dirty="0" err="1"/>
              <a:t>Stichproben</a:t>
            </a:r>
            <a:r>
              <a:rPr dirty="0"/>
              <a:t>, dem Bootstrap, </a:t>
            </a:r>
            <a:r>
              <a:rPr dirty="0" err="1"/>
              <a:t>kommt</a:t>
            </a:r>
            <a:r>
              <a:rPr dirty="0"/>
              <a:t> </a:t>
            </a:r>
            <a:r>
              <a:rPr dirty="0" err="1"/>
              <a:t>wieder</a:t>
            </a:r>
            <a:r>
              <a:rPr dirty="0"/>
              <a:t> 20 Franken </a:t>
            </a:r>
            <a:r>
              <a:rPr dirty="0" err="1"/>
              <a:t>heraus</a:t>
            </a:r>
            <a:r>
              <a:rPr dirty="0"/>
              <a:t>. Bei Basis- und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gibt</a:t>
            </a:r>
            <a:r>
              <a:rPr dirty="0"/>
              <a:t> es </a:t>
            </a:r>
            <a:r>
              <a:rPr dirty="0" err="1"/>
              <a:t>dagegen</a:t>
            </a:r>
            <a:r>
              <a:rPr dirty="0"/>
              <a:t> </a:t>
            </a:r>
            <a:r>
              <a:rPr dirty="0" err="1"/>
              <a:t>kein</a:t>
            </a:r>
            <a:r>
              <a:rPr dirty="0"/>
              <a:t> stabiles Optimum. Es </a:t>
            </a:r>
            <a:r>
              <a:rPr dirty="0" err="1"/>
              <a:t>hängt</a:t>
            </a:r>
            <a:r>
              <a:rPr dirty="0"/>
              <a:t> an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hohen</a:t>
            </a:r>
            <a:r>
              <a:rPr dirty="0"/>
              <a:t> </a:t>
            </a:r>
            <a:r>
              <a:rPr dirty="0" err="1"/>
              <a:t>Preisen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Der Median der </a:t>
            </a:r>
            <a:r>
              <a:rPr dirty="0" err="1"/>
              <a:t>akzeptierten</a:t>
            </a:r>
            <a:r>
              <a:rPr dirty="0"/>
              <a:t> </a:t>
            </a:r>
            <a:r>
              <a:rPr dirty="0" err="1"/>
              <a:t>Aufpreise</a:t>
            </a:r>
            <a:r>
              <a:rPr dirty="0"/>
              <a:t> </a:t>
            </a:r>
            <a:r>
              <a:rPr dirty="0" err="1"/>
              <a:t>liegt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2.50 Franken für das Basis-Bad, </a:t>
            </a:r>
            <a:r>
              <a:rPr dirty="0" err="1"/>
              <a:t>bei</a:t>
            </a:r>
            <a:r>
              <a:rPr dirty="0"/>
              <a:t> 10 Franken für das </a:t>
            </a:r>
            <a:r>
              <a:rPr dirty="0" err="1"/>
              <a:t>Komfort</a:t>
            </a:r>
            <a:r>
              <a:rPr dirty="0"/>
              <a:t>-Bad und </a:t>
            </a:r>
            <a:r>
              <a:rPr dirty="0" err="1"/>
              <a:t>bei</a:t>
            </a:r>
            <a:r>
              <a:rPr dirty="0"/>
              <a:t> 20 Franken für das Premium-Bad.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Aus der </a:t>
            </a:r>
            <a:r>
              <a:rPr dirty="0" err="1"/>
              <a:t>Nachfragekurve</a:t>
            </a:r>
            <a:r>
              <a:rPr dirty="0"/>
              <a:t> </a:t>
            </a:r>
            <a:r>
              <a:rPr dirty="0" err="1"/>
              <a:t>lässt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Umsatzkurve</a:t>
            </a:r>
            <a:r>
              <a:rPr dirty="0"/>
              <a:t> </a:t>
            </a:r>
            <a:r>
              <a:rPr dirty="0" err="1"/>
              <a:t>ableiten</a:t>
            </a:r>
            <a:r>
              <a:rPr dirty="0"/>
              <a:t>: </a:t>
            </a:r>
            <a:r>
              <a:rPr dirty="0" err="1"/>
              <a:t>Aufpreis</a:t>
            </a:r>
            <a:r>
              <a:rPr dirty="0"/>
              <a:t> mal </a:t>
            </a:r>
            <a:r>
              <a:rPr dirty="0" err="1"/>
              <a:t>Zustimmungsanteil</a:t>
            </a:r>
            <a:r>
              <a:rPr dirty="0"/>
              <a:t>, </a:t>
            </a:r>
            <a:r>
              <a:rPr dirty="0" err="1"/>
              <a:t>geteilt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100.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Index, </a:t>
            </a:r>
            <a:r>
              <a:rPr dirty="0" err="1"/>
              <a:t>kein</a:t>
            </a:r>
            <a:r>
              <a:rPr dirty="0"/>
              <a:t> Franken-</a:t>
            </a:r>
            <a:r>
              <a:rPr dirty="0" err="1"/>
              <a:t>Umsatz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Beim Premium-Bad </a:t>
            </a:r>
            <a:r>
              <a:rPr dirty="0" err="1"/>
              <a:t>steigt</a:t>
            </a:r>
            <a:r>
              <a:rPr dirty="0"/>
              <a:t> der </a:t>
            </a:r>
            <a:r>
              <a:rPr dirty="0" err="1"/>
              <a:t>Umsatz</a:t>
            </a:r>
            <a:r>
              <a:rPr dirty="0"/>
              <a:t> bis 20 Franken auf 13. Dann </a:t>
            </a:r>
            <a:r>
              <a:rPr dirty="0" err="1"/>
              <a:t>bricht</a:t>
            </a:r>
            <a:r>
              <a:rPr dirty="0"/>
              <a:t> er </a:t>
            </a:r>
            <a:r>
              <a:rPr dirty="0" err="1"/>
              <a:t>ein</a:t>
            </a:r>
            <a:r>
              <a:rPr dirty="0"/>
              <a:t>, </a:t>
            </a:r>
            <a:r>
              <a:rPr dirty="0" err="1"/>
              <a:t>weil</a:t>
            </a:r>
            <a:r>
              <a:rPr dirty="0"/>
              <a:t> die </a:t>
            </a:r>
            <a:r>
              <a:rPr dirty="0" err="1"/>
              <a:t>Zustimmung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20 und 25 Franken von 65 auf 30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fällt</a:t>
            </a:r>
            <a:r>
              <a:rPr dirty="0"/>
              <a:t>. Bei 35 Franken </a:t>
            </a:r>
            <a:r>
              <a:rPr dirty="0" err="1"/>
              <a:t>gibt</a:t>
            </a:r>
            <a:r>
              <a:rPr dirty="0"/>
              <a:t> es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zweites</a:t>
            </a:r>
            <a:r>
              <a:rPr dirty="0"/>
              <a:t>, </a:t>
            </a:r>
            <a:r>
              <a:rPr dirty="0" err="1"/>
              <a:t>tieferes</a:t>
            </a:r>
            <a:r>
              <a:rPr dirty="0"/>
              <a:t> Maximum von 10.5.</a:t>
            </a:r>
          </a:p>
          <a:p>
            <a:endParaRPr dirty="0"/>
          </a:p>
          <a:p>
            <a:r>
              <a:rPr dirty="0"/>
              <a:t>Beim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verläuft</a:t>
            </a:r>
            <a:r>
              <a:rPr dirty="0"/>
              <a:t> die </a:t>
            </a:r>
            <a:r>
              <a:rPr dirty="0" err="1"/>
              <a:t>Kurve</a:t>
            </a:r>
            <a:r>
              <a:rPr dirty="0"/>
              <a:t> </a:t>
            </a:r>
            <a:r>
              <a:rPr dirty="0" err="1"/>
              <a:t>ziemlich</a:t>
            </a:r>
            <a:r>
              <a:rPr dirty="0"/>
              <a:t> </a:t>
            </a:r>
            <a:r>
              <a:rPr dirty="0" err="1"/>
              <a:t>flach</a:t>
            </a:r>
            <a:r>
              <a:rPr dirty="0"/>
              <a:t>,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rund</a:t>
            </a:r>
            <a:r>
              <a:rPr dirty="0"/>
              <a:t> 7 bis 7.5. Beim Basis-Bad </a:t>
            </a:r>
            <a:r>
              <a:rPr dirty="0" err="1"/>
              <a:t>liegt</a:t>
            </a:r>
            <a:r>
              <a:rPr dirty="0"/>
              <a:t> das </a:t>
            </a:r>
            <a:r>
              <a:rPr dirty="0" err="1"/>
              <a:t>rechnerische</a:t>
            </a:r>
            <a:r>
              <a:rPr dirty="0"/>
              <a:t> Maximum erst </a:t>
            </a:r>
            <a:r>
              <a:rPr dirty="0" err="1"/>
              <a:t>bei</a:t>
            </a:r>
            <a:r>
              <a:rPr dirty="0"/>
              <a:t> 50 Franken, </a:t>
            </a:r>
            <a:r>
              <a:rPr dirty="0" err="1"/>
              <a:t>getragen</a:t>
            </a:r>
            <a:r>
              <a:rPr dirty="0"/>
              <a:t> von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hohen</a:t>
            </a:r>
            <a:r>
              <a:rPr dirty="0"/>
              <a:t> </a:t>
            </a:r>
            <a:r>
              <a:rPr dirty="0" err="1"/>
              <a:t>Werten</a:t>
            </a:r>
            <a:r>
              <a:rPr dirty="0"/>
              <a:t>.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beiden</a:t>
            </a:r>
            <a:r>
              <a:rPr dirty="0"/>
              <a:t> Optima </a:t>
            </a:r>
            <a:r>
              <a:rPr dirty="0" err="1"/>
              <a:t>sind</a:t>
            </a:r>
            <a:r>
              <a:rPr dirty="0"/>
              <a:t> nicht </a:t>
            </a:r>
            <a:r>
              <a:rPr dirty="0" err="1"/>
              <a:t>verlässlich</a:t>
            </a:r>
            <a:r>
              <a:rPr dirty="0"/>
              <a:t>,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empfehlen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nicht.</a:t>
            </a:r>
          </a:p>
          <a:p>
            <a:endParaRPr dirty="0"/>
          </a:p>
          <a:p>
            <a:r>
              <a:rPr dirty="0"/>
              <a:t>Eine </a:t>
            </a:r>
            <a:r>
              <a:rPr dirty="0" err="1"/>
              <a:t>Einschränkung</a:t>
            </a:r>
            <a:r>
              <a:rPr dirty="0"/>
              <a:t> </a:t>
            </a:r>
            <a:r>
              <a:rPr dirty="0" err="1"/>
              <a:t>gehört</a:t>
            </a:r>
            <a:r>
              <a:rPr dirty="0"/>
              <a:t> </a:t>
            </a:r>
            <a:r>
              <a:rPr dirty="0" err="1"/>
              <a:t>dazu</a:t>
            </a:r>
            <a:r>
              <a:rPr dirty="0"/>
              <a:t>: </a:t>
            </a:r>
            <a:r>
              <a:rPr dirty="0" err="1"/>
              <a:t>Befragte</a:t>
            </a:r>
            <a:r>
              <a:rPr dirty="0"/>
              <a:t> </a:t>
            </a:r>
            <a:r>
              <a:rPr dirty="0" err="1"/>
              <a:t>überschätzen</a:t>
            </a:r>
            <a:r>
              <a:rPr dirty="0"/>
              <a:t> </a:t>
            </a:r>
            <a:r>
              <a:rPr dirty="0" err="1"/>
              <a:t>ihre</a:t>
            </a:r>
            <a:r>
              <a:rPr dirty="0"/>
              <a:t> </a:t>
            </a:r>
            <a:r>
              <a:rPr dirty="0" err="1"/>
              <a:t>Zahlungsbereitschaft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hypothetischen</a:t>
            </a:r>
            <a:r>
              <a:rPr dirty="0"/>
              <a:t> </a:t>
            </a:r>
            <a:r>
              <a:rPr dirty="0" err="1"/>
              <a:t>Fragen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Mittel um </a:t>
            </a:r>
            <a:r>
              <a:rPr dirty="0" err="1"/>
              <a:t>rund</a:t>
            </a:r>
            <a:r>
              <a:rPr dirty="0"/>
              <a:t> 21 </a:t>
            </a:r>
            <a:r>
              <a:rPr dirty="0" err="1"/>
              <a:t>Prozent</a:t>
            </a:r>
            <a:r>
              <a:rPr dirty="0"/>
              <a:t>. Die 20 Franken </a:t>
            </a:r>
            <a:r>
              <a:rPr dirty="0" err="1"/>
              <a:t>würden</a:t>
            </a:r>
            <a:r>
              <a:rPr dirty="0"/>
              <a:t> </a:t>
            </a:r>
            <a:r>
              <a:rPr dirty="0" err="1"/>
              <a:t>dann</a:t>
            </a:r>
            <a:r>
              <a:rPr dirty="0"/>
              <a:t> </a:t>
            </a:r>
            <a:r>
              <a:rPr dirty="0" err="1"/>
              <a:t>eher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16 bis 17 Franken </a:t>
            </a:r>
            <a:r>
              <a:rPr dirty="0" err="1"/>
              <a:t>liegen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Damit </a:t>
            </a:r>
            <a:r>
              <a:rPr dirty="0" err="1"/>
              <a:t>übergebe</a:t>
            </a:r>
            <a:r>
              <a:rPr dirty="0"/>
              <a:t> ich an Dominic, der den Conjoint </a:t>
            </a:r>
            <a:r>
              <a:rPr dirty="0" err="1"/>
              <a:t>vorstellt</a:t>
            </a:r>
            <a:r>
              <a:rPr dirty="0"/>
              <a:t>.</a:t>
            </a:r>
          </a:p>
          <a:p>
            <a:endParaRPr dirty="0"/>
          </a:p>
          <a:p>
            <a:r>
              <a:rPr lang="de-CH" dirty="0"/>
              <a:t>(</a:t>
            </a:r>
            <a:r>
              <a:rPr dirty="0" err="1"/>
              <a:t>Ohne</a:t>
            </a:r>
            <a:r>
              <a:rPr dirty="0"/>
              <a:t> die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Hochpreis-Personen</a:t>
            </a:r>
            <a:r>
              <a:rPr dirty="0"/>
              <a:t> (n = 17) </a:t>
            </a:r>
            <a:r>
              <a:rPr dirty="0" err="1"/>
              <a:t>bleibt</a:t>
            </a:r>
            <a:r>
              <a:rPr dirty="0"/>
              <a:t> das Premium-Optimum </a:t>
            </a:r>
            <a:r>
              <a:rPr dirty="0" err="1"/>
              <a:t>bei</a:t>
            </a:r>
            <a:r>
              <a:rPr dirty="0"/>
              <a:t> 20 Franken (Index 11.8). Basis </a:t>
            </a:r>
            <a:r>
              <a:rPr dirty="0" err="1"/>
              <a:t>rutscht</a:t>
            </a:r>
            <a:r>
              <a:rPr dirty="0"/>
              <a:t> auf 10 bis 20 Franken, </a:t>
            </a:r>
            <a:r>
              <a:rPr dirty="0" err="1"/>
              <a:t>Komfort</a:t>
            </a:r>
            <a:r>
              <a:rPr dirty="0"/>
              <a:t> auf 10 Franken. Der </a:t>
            </a:r>
            <a:r>
              <a:rPr dirty="0" err="1"/>
              <a:t>Verlauf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treppenförmig</a:t>
            </a:r>
            <a:r>
              <a:rPr dirty="0"/>
              <a:t>, </a:t>
            </a:r>
            <a:r>
              <a:rPr dirty="0" err="1"/>
              <a:t>weil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Ja/Nein-</a:t>
            </a:r>
            <a:r>
              <a:rPr dirty="0" err="1"/>
              <a:t>Antworten</a:t>
            </a:r>
            <a:r>
              <a:rPr dirty="0"/>
              <a:t> auf </a:t>
            </a: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Preise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.</a:t>
            </a:r>
            <a:r>
              <a:rPr lang="de-CH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Wir </a:t>
            </a:r>
            <a:r>
              <a:rPr dirty="0" err="1"/>
              <a:t>kommen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Conjoint-</a:t>
            </a:r>
            <a:r>
              <a:rPr dirty="0" err="1"/>
              <a:t>Analyse</a:t>
            </a:r>
            <a:r>
              <a:rPr dirty="0"/>
              <a:t>. Die Zahlen </a:t>
            </a:r>
            <a:r>
              <a:rPr dirty="0" err="1"/>
              <a:t>beruhen</a:t>
            </a:r>
            <a:r>
              <a:rPr dirty="0"/>
              <a:t> auf </a:t>
            </a:r>
            <a:r>
              <a:rPr dirty="0" err="1"/>
              <a:t>allen</a:t>
            </a:r>
            <a:r>
              <a:rPr dirty="0"/>
              <a:t> 29 </a:t>
            </a:r>
            <a:r>
              <a:rPr dirty="0" err="1"/>
              <a:t>Befragten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Wenn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Bädern</a:t>
            </a:r>
            <a:r>
              <a:rPr dirty="0"/>
              <a:t> </a:t>
            </a:r>
            <a:r>
              <a:rPr dirty="0" err="1"/>
              <a:t>wählen</a:t>
            </a:r>
            <a:r>
              <a:rPr dirty="0"/>
              <a:t>, </a:t>
            </a:r>
            <a:r>
              <a:rPr dirty="0" err="1"/>
              <a:t>bestimmt</a:t>
            </a:r>
            <a:r>
              <a:rPr dirty="0"/>
              <a:t> der </a:t>
            </a:r>
            <a:r>
              <a:rPr dirty="0" err="1"/>
              <a:t>Aufpreis</a:t>
            </a:r>
            <a:r>
              <a:rPr dirty="0"/>
              <a:t> gut die </a:t>
            </a:r>
            <a:r>
              <a:rPr dirty="0" err="1"/>
              <a:t>Hälfte</a:t>
            </a:r>
            <a:r>
              <a:rPr dirty="0"/>
              <a:t> der </a:t>
            </a:r>
            <a:r>
              <a:rPr dirty="0" err="1"/>
              <a:t>Entscheidung</a:t>
            </a:r>
            <a:r>
              <a:rPr dirty="0"/>
              <a:t>, </a:t>
            </a:r>
            <a:r>
              <a:rPr dirty="0" err="1"/>
              <a:t>nämlich</a:t>
            </a:r>
            <a:r>
              <a:rPr dirty="0"/>
              <a:t> 56 </a:t>
            </a:r>
            <a:r>
              <a:rPr dirty="0" err="1"/>
              <a:t>Prozent</a:t>
            </a:r>
            <a:r>
              <a:rPr dirty="0"/>
              <a:t>. Bei der </a:t>
            </a:r>
            <a:r>
              <a:rPr dirty="0" err="1"/>
              <a:t>Ausstattung</a:t>
            </a:r>
            <a:r>
              <a:rPr dirty="0"/>
              <a:t> </a:t>
            </a:r>
            <a:r>
              <a:rPr dirty="0" err="1"/>
              <a:t>zählt</a:t>
            </a:r>
            <a:r>
              <a:rPr dirty="0"/>
              <a:t> die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Abstand am </a:t>
            </a:r>
            <a:r>
              <a:rPr dirty="0" err="1"/>
              <a:t>meisten</a:t>
            </a:r>
            <a:r>
              <a:rPr dirty="0"/>
              <a:t>,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erklärt</a:t>
            </a:r>
            <a:r>
              <a:rPr dirty="0"/>
              <a:t> 20 </a:t>
            </a:r>
            <a:r>
              <a:rPr dirty="0" err="1"/>
              <a:t>Prozent</a:t>
            </a:r>
            <a:r>
              <a:rPr dirty="0"/>
              <a:t>. </a:t>
            </a:r>
            <a:r>
              <a:rPr dirty="0" err="1"/>
              <a:t>Danach</a:t>
            </a:r>
            <a:r>
              <a:rPr dirty="0"/>
              <a:t> </a:t>
            </a:r>
            <a:r>
              <a:rPr dirty="0" err="1"/>
              <a:t>kommen</a:t>
            </a:r>
            <a:r>
              <a:rPr dirty="0"/>
              <a:t> der Spiegel </a:t>
            </a:r>
            <a:r>
              <a:rPr dirty="0" err="1"/>
              <a:t>mit</a:t>
            </a:r>
            <a:r>
              <a:rPr dirty="0"/>
              <a:t> 9 </a:t>
            </a:r>
            <a:r>
              <a:rPr dirty="0" err="1"/>
              <a:t>Prozent</a:t>
            </a:r>
            <a:r>
              <a:rPr dirty="0"/>
              <a:t>, die Toilette </a:t>
            </a:r>
            <a:r>
              <a:rPr dirty="0" err="1"/>
              <a:t>mit</a:t>
            </a:r>
            <a:r>
              <a:rPr dirty="0"/>
              <a:t> 8 und der </a:t>
            </a:r>
            <a:r>
              <a:rPr dirty="0" err="1"/>
              <a:t>Waschtisch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6 </a:t>
            </a:r>
            <a:r>
              <a:rPr dirty="0" err="1"/>
              <a:t>Prozent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Man muss den </a:t>
            </a:r>
            <a:r>
              <a:rPr dirty="0" err="1"/>
              <a:t>Preisanteil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Vorsicht</a:t>
            </a:r>
            <a:r>
              <a:rPr dirty="0"/>
              <a:t> </a:t>
            </a:r>
            <a:r>
              <a:rPr dirty="0" err="1"/>
              <a:t>lesen</a:t>
            </a:r>
            <a:r>
              <a:rPr dirty="0"/>
              <a:t>. Ein Teil </a:t>
            </a:r>
            <a:r>
              <a:rPr dirty="0" err="1"/>
              <a:t>davon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Designeffekt</a:t>
            </a:r>
            <a:r>
              <a:rPr dirty="0"/>
              <a:t>: Die </a:t>
            </a:r>
            <a:r>
              <a:rPr dirty="0" err="1"/>
              <a:t>Preisspanne</a:t>
            </a:r>
            <a:r>
              <a:rPr dirty="0"/>
              <a:t> von 0 bis 45 Franken </a:t>
            </a:r>
            <a:r>
              <a:rPr dirty="0" err="1"/>
              <a:t>ist</a:t>
            </a:r>
            <a:r>
              <a:rPr dirty="0"/>
              <a:t> gross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Vergleich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den </a:t>
            </a:r>
            <a:r>
              <a:rPr dirty="0" err="1"/>
              <a:t>Unterschieden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den </a:t>
            </a:r>
            <a:r>
              <a:rPr dirty="0" err="1"/>
              <a:t>Ausstattungsstufen</a:t>
            </a:r>
            <a:r>
              <a:rPr dirty="0"/>
              <a:t>. </a:t>
            </a:r>
            <a:r>
              <a:rPr dirty="0" err="1"/>
              <a:t>Aussagekräftiger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darum</a:t>
            </a:r>
            <a:r>
              <a:rPr dirty="0"/>
              <a:t> die </a:t>
            </a:r>
            <a:r>
              <a:rPr dirty="0" err="1"/>
              <a:t>Rangfolge</a:t>
            </a:r>
            <a:r>
              <a:rPr dirty="0"/>
              <a:t> der </a:t>
            </a:r>
            <a:r>
              <a:rPr dirty="0" err="1"/>
              <a:t>Ausstattung</a:t>
            </a:r>
            <a:r>
              <a:rPr dirty="0"/>
              <a:t>: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 Spiegel, Toilette und </a:t>
            </a:r>
            <a:r>
              <a:rPr dirty="0" err="1"/>
              <a:t>Waschtisch</a:t>
            </a:r>
            <a:r>
              <a:rPr dirty="0"/>
              <a:t>. (Die </a:t>
            </a:r>
            <a:r>
              <a:rPr dirty="0" err="1"/>
              <a:t>gerundeten</a:t>
            </a:r>
            <a:r>
              <a:rPr dirty="0"/>
              <a:t> 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ergeben</a:t>
            </a:r>
            <a:r>
              <a:rPr dirty="0"/>
              <a:t> </a:t>
            </a:r>
            <a:r>
              <a:rPr dirty="0" err="1"/>
              <a:t>zusammen</a:t>
            </a:r>
            <a:r>
              <a:rPr dirty="0"/>
              <a:t> 99,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Rundungsdifferenz</a:t>
            </a:r>
            <a:r>
              <a:rPr dirty="0"/>
              <a:t>.)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Aus den </a:t>
            </a:r>
            <a:r>
              <a:rPr dirty="0" err="1"/>
              <a:t>Teilnutzenwerten</a:t>
            </a:r>
            <a:r>
              <a:rPr dirty="0"/>
              <a:t> </a:t>
            </a:r>
            <a:r>
              <a:rPr dirty="0" err="1"/>
              <a:t>rechnen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Frankenwert</a:t>
            </a:r>
            <a:r>
              <a:rPr dirty="0"/>
              <a:t> pro </a:t>
            </a:r>
            <a:r>
              <a:rPr dirty="0" err="1"/>
              <a:t>Ausstattung</a:t>
            </a:r>
            <a:r>
              <a:rPr dirty="0"/>
              <a:t> </a:t>
            </a:r>
            <a:r>
              <a:rPr dirty="0" err="1"/>
              <a:t>aus.</a:t>
            </a:r>
            <a:r>
              <a:rPr dirty="0"/>
              <a:t> Das </a:t>
            </a:r>
            <a:r>
              <a:rPr dirty="0" err="1"/>
              <a:t>heisst</a:t>
            </a:r>
            <a:r>
              <a:rPr dirty="0"/>
              <a:t>: Wie </a:t>
            </a:r>
            <a:r>
              <a:rPr dirty="0" err="1"/>
              <a:t>viel</a:t>
            </a:r>
            <a:r>
              <a:rPr dirty="0"/>
              <a:t> </a:t>
            </a:r>
            <a:r>
              <a:rPr dirty="0" err="1"/>
              <a:t>Aufpreis</a:t>
            </a:r>
            <a:r>
              <a:rPr dirty="0"/>
              <a:t> </a:t>
            </a:r>
            <a:r>
              <a:rPr dirty="0" err="1"/>
              <a:t>wäre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Person </a:t>
            </a:r>
            <a:r>
              <a:rPr dirty="0" err="1"/>
              <a:t>bereit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zahlen</a:t>
            </a:r>
            <a:r>
              <a:rPr dirty="0"/>
              <a:t>, </a:t>
            </a:r>
            <a:r>
              <a:rPr dirty="0" err="1"/>
              <a:t>damit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Ausstattung</a:t>
            </a:r>
            <a:r>
              <a:rPr dirty="0"/>
              <a:t> </a:t>
            </a:r>
            <a:r>
              <a:rPr dirty="0" err="1"/>
              <a:t>statt</a:t>
            </a:r>
            <a:r>
              <a:rPr dirty="0"/>
              <a:t> der </a:t>
            </a:r>
            <a:r>
              <a:rPr dirty="0" err="1"/>
              <a:t>Basisstufe</a:t>
            </a:r>
            <a:r>
              <a:rPr dirty="0"/>
              <a:t> </a:t>
            </a:r>
            <a:r>
              <a:rPr dirty="0" err="1"/>
              <a:t>bekommt</a:t>
            </a:r>
            <a:r>
              <a:rPr dirty="0"/>
              <a:t>?</a:t>
            </a:r>
          </a:p>
          <a:p>
            <a:endParaRPr dirty="0"/>
          </a:p>
          <a:p>
            <a:r>
              <a:rPr dirty="0"/>
              <a:t>Am </a:t>
            </a:r>
            <a:r>
              <a:rPr dirty="0" err="1"/>
              <a:t>meisten</a:t>
            </a:r>
            <a:r>
              <a:rPr dirty="0"/>
              <a:t> </a:t>
            </a:r>
            <a:r>
              <a:rPr dirty="0" err="1"/>
              <a:t>zahlen</a:t>
            </a:r>
            <a:r>
              <a:rPr dirty="0"/>
              <a:t> </a:t>
            </a:r>
            <a:r>
              <a:rPr dirty="0" err="1"/>
              <a:t>Gäste</a:t>
            </a:r>
            <a:r>
              <a:rPr dirty="0"/>
              <a:t> für die </a:t>
            </a:r>
            <a:r>
              <a:rPr dirty="0" err="1"/>
              <a:t>Dusche</a:t>
            </a:r>
            <a:r>
              <a:rPr dirty="0"/>
              <a:t>. Die </a:t>
            </a:r>
            <a:r>
              <a:rPr dirty="0" err="1"/>
              <a:t>Regendusche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bodenebener</a:t>
            </a:r>
            <a:r>
              <a:rPr dirty="0"/>
              <a:t>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rund</a:t>
            </a:r>
            <a:r>
              <a:rPr dirty="0"/>
              <a:t> 12 Franken pro Nacht wert, das </a:t>
            </a:r>
            <a:r>
              <a:rPr dirty="0" err="1"/>
              <a:t>Intervall</a:t>
            </a:r>
            <a:r>
              <a:rPr dirty="0"/>
              <a:t> </a:t>
            </a:r>
            <a:r>
              <a:rPr dirty="0" err="1"/>
              <a:t>geht</a:t>
            </a:r>
            <a:r>
              <a:rPr dirty="0"/>
              <a:t> von 10 bis 15 Franken. Die </a:t>
            </a:r>
            <a:r>
              <a:rPr dirty="0" err="1"/>
              <a:t>bodenebene</a:t>
            </a:r>
            <a:r>
              <a:rPr dirty="0"/>
              <a:t>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Rinne </a:t>
            </a:r>
            <a:r>
              <a:rPr dirty="0" err="1"/>
              <a:t>liegt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gut 7 Franken.</a:t>
            </a:r>
          </a:p>
          <a:p>
            <a:endParaRPr dirty="0"/>
          </a:p>
          <a:p>
            <a:r>
              <a:rPr dirty="0" err="1"/>
              <a:t>Danach</a:t>
            </a:r>
            <a:r>
              <a:rPr dirty="0"/>
              <a:t> </a:t>
            </a:r>
            <a:r>
              <a:rPr dirty="0" err="1"/>
              <a:t>folgen</a:t>
            </a:r>
            <a:r>
              <a:rPr dirty="0"/>
              <a:t> die </a:t>
            </a:r>
            <a:r>
              <a:rPr dirty="0" err="1"/>
              <a:t>beiden</a:t>
            </a:r>
            <a:r>
              <a:rPr dirty="0"/>
              <a:t> Spiegel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rund</a:t>
            </a:r>
            <a:r>
              <a:rPr dirty="0"/>
              <a:t> 3 Franken, die </a:t>
            </a:r>
            <a:r>
              <a:rPr dirty="0" err="1"/>
              <a:t>berührungslose</a:t>
            </a:r>
            <a:r>
              <a:rPr dirty="0"/>
              <a:t> </a:t>
            </a:r>
            <a:r>
              <a:rPr dirty="0" err="1"/>
              <a:t>Armatur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gut 2 und der </a:t>
            </a:r>
            <a:r>
              <a:rPr dirty="0" err="1"/>
              <a:t>grosse</a:t>
            </a:r>
            <a:r>
              <a:rPr dirty="0"/>
              <a:t> </a:t>
            </a:r>
            <a:r>
              <a:rPr dirty="0" err="1"/>
              <a:t>Waschtisch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gut 1 Franken.</a:t>
            </a:r>
          </a:p>
          <a:p>
            <a:endParaRPr dirty="0"/>
          </a:p>
          <a:p>
            <a:r>
              <a:rPr dirty="0"/>
              <a:t>Beim Dusch-WC und </a:t>
            </a:r>
            <a:r>
              <a:rPr dirty="0" err="1"/>
              <a:t>beim</a:t>
            </a:r>
            <a:r>
              <a:rPr dirty="0"/>
              <a:t> </a:t>
            </a:r>
            <a:r>
              <a:rPr dirty="0" err="1"/>
              <a:t>leisen</a:t>
            </a:r>
            <a:r>
              <a:rPr dirty="0"/>
              <a:t> WC </a:t>
            </a:r>
            <a:r>
              <a:rPr dirty="0" err="1"/>
              <a:t>finden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keinen</a:t>
            </a:r>
            <a:r>
              <a:rPr dirty="0"/>
              <a:t> </a:t>
            </a:r>
            <a:r>
              <a:rPr dirty="0" err="1"/>
              <a:t>messbaren</a:t>
            </a:r>
            <a:r>
              <a:rPr dirty="0"/>
              <a:t> </a:t>
            </a:r>
            <a:r>
              <a:rPr dirty="0" err="1"/>
              <a:t>Mehrwert</a:t>
            </a:r>
            <a:r>
              <a:rPr dirty="0"/>
              <a:t>. Die 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liegen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null, und die </a:t>
            </a:r>
            <a:r>
              <a:rPr dirty="0" err="1"/>
              <a:t>Intervalle</a:t>
            </a:r>
            <a:r>
              <a:rPr dirty="0"/>
              <a:t> </a:t>
            </a:r>
            <a:r>
              <a:rPr dirty="0" err="1"/>
              <a:t>schliessen</a:t>
            </a:r>
            <a:r>
              <a:rPr dirty="0"/>
              <a:t> null </a:t>
            </a:r>
            <a:r>
              <a:rPr dirty="0" err="1"/>
              <a:t>ein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Wichtig</a:t>
            </a:r>
            <a:r>
              <a:rPr dirty="0"/>
              <a:t> für die </a:t>
            </a:r>
            <a:r>
              <a:rPr dirty="0" err="1"/>
              <a:t>Empfehlung</a:t>
            </a:r>
            <a:r>
              <a:rPr dirty="0"/>
              <a:t>: Keine </a:t>
            </a: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Aufwertung</a:t>
            </a:r>
            <a:r>
              <a:rPr dirty="0"/>
              <a:t> </a:t>
            </a:r>
            <a:r>
              <a:rPr dirty="0" err="1"/>
              <a:t>erreicht</a:t>
            </a:r>
            <a:r>
              <a:rPr dirty="0"/>
              <a:t> 15 Franken. Erst das Paket </a:t>
            </a:r>
            <a:r>
              <a:rPr dirty="0" err="1"/>
              <a:t>rechtfertigt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Aufpreis</a:t>
            </a:r>
            <a:r>
              <a:rPr dirty="0"/>
              <a:t>.</a:t>
            </a:r>
          </a:p>
          <a:p>
            <a:endParaRPr dirty="0"/>
          </a:p>
          <a:p>
            <a:r>
              <a:rPr lang="de-CH" dirty="0"/>
              <a:t>(</a:t>
            </a:r>
            <a:r>
              <a:rPr dirty="0" err="1"/>
              <a:t>Berechnung</a:t>
            </a:r>
            <a:r>
              <a:rPr dirty="0"/>
              <a:t>: </a:t>
            </a:r>
            <a:r>
              <a:rPr dirty="0" err="1"/>
              <a:t>Nutzendifferenz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</a:t>
            </a:r>
            <a:r>
              <a:rPr dirty="0" err="1"/>
              <a:t>Basisstufe</a:t>
            </a:r>
            <a:r>
              <a:rPr dirty="0"/>
              <a:t> </a:t>
            </a:r>
            <a:r>
              <a:rPr dirty="0" err="1"/>
              <a:t>geteilt</a:t>
            </a:r>
            <a:r>
              <a:rPr dirty="0"/>
              <a:t> </a:t>
            </a:r>
            <a:r>
              <a:rPr dirty="0" err="1"/>
              <a:t>durch</a:t>
            </a:r>
            <a:r>
              <a:rPr dirty="0"/>
              <a:t> den </a:t>
            </a:r>
            <a:r>
              <a:rPr dirty="0" err="1"/>
              <a:t>Preisnutzen</a:t>
            </a:r>
            <a:r>
              <a:rPr dirty="0"/>
              <a:t> pro Franken, </a:t>
            </a:r>
            <a:r>
              <a:rPr dirty="0" err="1"/>
              <a:t>wobei</a:t>
            </a:r>
            <a:r>
              <a:rPr dirty="0"/>
              <a:t> der </a:t>
            </a:r>
            <a:r>
              <a:rPr dirty="0" err="1"/>
              <a:t>Preisnutzen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den </a:t>
            </a:r>
            <a:r>
              <a:rPr dirty="0" err="1"/>
              <a:t>getesteten</a:t>
            </a:r>
            <a:r>
              <a:rPr dirty="0"/>
              <a:t> </a:t>
            </a:r>
            <a:r>
              <a:rPr dirty="0" err="1"/>
              <a:t>Preisen</a:t>
            </a:r>
            <a:r>
              <a:rPr dirty="0"/>
              <a:t> 0, 15 und 45 Franken linear </a:t>
            </a:r>
            <a:r>
              <a:rPr dirty="0" err="1"/>
              <a:t>angenommen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. Die </a:t>
            </a:r>
            <a:r>
              <a:rPr dirty="0" err="1"/>
              <a:t>Werte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Annäherung</a:t>
            </a:r>
            <a:r>
              <a:rPr dirty="0"/>
              <a:t>.</a:t>
            </a:r>
          </a:p>
          <a:p>
            <a:r>
              <a:rPr dirty="0"/>
              <a:t>95-%-</a:t>
            </a:r>
            <a:r>
              <a:rPr dirty="0" err="1"/>
              <a:t>Intervalle</a:t>
            </a:r>
            <a:r>
              <a:rPr dirty="0"/>
              <a:t>: </a:t>
            </a:r>
            <a:r>
              <a:rPr dirty="0" err="1"/>
              <a:t>Regendusche</a:t>
            </a:r>
            <a:r>
              <a:rPr dirty="0"/>
              <a:t> 9.9 bis 14.9, </a:t>
            </a:r>
            <a:r>
              <a:rPr dirty="0" err="1"/>
              <a:t>Duschrinne</a:t>
            </a:r>
            <a:r>
              <a:rPr dirty="0"/>
              <a:t> 5.5 bis 10.3, </a:t>
            </a:r>
            <a:r>
              <a:rPr dirty="0" err="1"/>
              <a:t>beleuchteter</a:t>
            </a:r>
            <a:r>
              <a:rPr dirty="0"/>
              <a:t> Spiegel 2.1 bis 5.8, Dusch-WC -1.7 bis 1.8, </a:t>
            </a:r>
            <a:r>
              <a:rPr dirty="0" err="1"/>
              <a:t>leises</a:t>
            </a:r>
            <a:r>
              <a:rPr dirty="0"/>
              <a:t> WC -2.3 bis 0.5.</a:t>
            </a:r>
          </a:p>
          <a:p>
            <a:r>
              <a:rPr dirty="0"/>
              <a:t>Alle 29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bewerten</a:t>
            </a:r>
            <a:r>
              <a:rPr dirty="0"/>
              <a:t> die </a:t>
            </a:r>
            <a:r>
              <a:rPr dirty="0" err="1"/>
              <a:t>Regendusche</a:t>
            </a:r>
            <a:r>
              <a:rPr dirty="0"/>
              <a:t> und die </a:t>
            </a:r>
            <a:r>
              <a:rPr dirty="0" err="1"/>
              <a:t>Duschrinne</a:t>
            </a:r>
            <a:r>
              <a:rPr dirty="0"/>
              <a:t> </a:t>
            </a:r>
            <a:r>
              <a:rPr dirty="0" err="1"/>
              <a:t>höher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die </a:t>
            </a:r>
            <a:r>
              <a:rPr dirty="0" err="1"/>
              <a:t>Duschwanne</a:t>
            </a:r>
            <a:r>
              <a:rPr dirty="0"/>
              <a:t>. Das Dusch-WC </a:t>
            </a:r>
            <a:r>
              <a:rPr dirty="0" err="1"/>
              <a:t>bewerten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38 % </a:t>
            </a:r>
            <a:r>
              <a:rPr dirty="0" err="1"/>
              <a:t>höher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das </a:t>
            </a:r>
            <a:r>
              <a:rPr dirty="0" err="1"/>
              <a:t>klassische</a:t>
            </a:r>
            <a:r>
              <a:rPr dirty="0"/>
              <a:t> WC.</a:t>
            </a:r>
            <a:r>
              <a:rPr lang="de-CH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Mit den </a:t>
            </a:r>
            <a:r>
              <a:rPr dirty="0" err="1"/>
              <a:t>Nutzenwerten</a:t>
            </a:r>
            <a:r>
              <a:rPr dirty="0"/>
              <a:t> </a:t>
            </a:r>
            <a:r>
              <a:rPr dirty="0" err="1"/>
              <a:t>simulieren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Wahl: </a:t>
            </a:r>
            <a:r>
              <a:rPr dirty="0" err="1"/>
              <a:t>Jede</a:t>
            </a:r>
            <a:r>
              <a:rPr dirty="0"/>
              <a:t> Person </a:t>
            </a:r>
            <a:r>
              <a:rPr dirty="0" err="1"/>
              <a:t>nimmt</a:t>
            </a:r>
            <a:r>
              <a:rPr dirty="0"/>
              <a:t> das Bad </a:t>
            </a:r>
            <a:r>
              <a:rPr dirty="0" err="1"/>
              <a:t>mit</a:t>
            </a:r>
            <a:r>
              <a:rPr dirty="0"/>
              <a:t> dem </a:t>
            </a:r>
            <a:r>
              <a:rPr dirty="0" err="1"/>
              <a:t>höchsten</a:t>
            </a:r>
            <a:r>
              <a:rPr dirty="0"/>
              <a:t> </a:t>
            </a:r>
            <a:r>
              <a:rPr dirty="0" err="1"/>
              <a:t>Gesamtnutzen</a:t>
            </a:r>
            <a:r>
              <a:rPr dirty="0"/>
              <a:t>,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keines</a:t>
            </a:r>
            <a:r>
              <a:rPr dirty="0"/>
              <a:t>. Hier </a:t>
            </a:r>
            <a:r>
              <a:rPr dirty="0" err="1"/>
              <a:t>kosten</a:t>
            </a:r>
            <a:r>
              <a:rPr dirty="0"/>
              <a:t> alle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Bäder</a:t>
            </a:r>
            <a:r>
              <a:rPr dirty="0"/>
              <a:t> </a:t>
            </a:r>
            <a:r>
              <a:rPr dirty="0" err="1"/>
              <a:t>gleich</a:t>
            </a:r>
            <a:r>
              <a:rPr dirty="0"/>
              <a:t> </a:t>
            </a:r>
            <a:r>
              <a:rPr dirty="0" err="1"/>
              <a:t>viel</a:t>
            </a:r>
            <a:r>
              <a:rPr dirty="0"/>
              <a:t>, </a:t>
            </a:r>
            <a:r>
              <a:rPr dirty="0" err="1"/>
              <a:t>nämlich</a:t>
            </a:r>
            <a:r>
              <a:rPr dirty="0"/>
              <a:t> 15 Franken </a:t>
            </a:r>
            <a:r>
              <a:rPr dirty="0" err="1"/>
              <a:t>Aufpreis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Das </a:t>
            </a:r>
            <a:r>
              <a:rPr dirty="0" err="1"/>
              <a:t>Ergebnis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deutlich</a:t>
            </a:r>
            <a:r>
              <a:rPr dirty="0"/>
              <a:t>: Basis- und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wählt</a:t>
            </a:r>
            <a:r>
              <a:rPr dirty="0"/>
              <a:t> </a:t>
            </a:r>
            <a:r>
              <a:rPr dirty="0" err="1"/>
              <a:t>niemand</a:t>
            </a:r>
            <a:r>
              <a:rPr dirty="0"/>
              <a:t>. 86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nehmen</a:t>
            </a:r>
            <a:r>
              <a:rPr dirty="0"/>
              <a:t> das Premium-Bad, 14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lieber</a:t>
            </a:r>
            <a:r>
              <a:rPr dirty="0"/>
              <a:t> </a:t>
            </a:r>
            <a:r>
              <a:rPr dirty="0" err="1"/>
              <a:t>keines</a:t>
            </a:r>
            <a:r>
              <a:rPr dirty="0"/>
              <a:t> von den </a:t>
            </a:r>
            <a:r>
              <a:rPr dirty="0" err="1"/>
              <a:t>dreien</a:t>
            </a:r>
            <a:r>
              <a:rPr dirty="0"/>
              <a:t>. Das Premium-Bad </a:t>
            </a:r>
            <a:r>
              <a:rPr dirty="0" err="1"/>
              <a:t>gewinnt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allem</a:t>
            </a:r>
            <a:r>
              <a:rPr dirty="0"/>
              <a:t> </a:t>
            </a:r>
            <a:r>
              <a:rPr dirty="0" err="1"/>
              <a:t>wegen</a:t>
            </a:r>
            <a:r>
              <a:rPr dirty="0"/>
              <a:t> der </a:t>
            </a:r>
            <a:r>
              <a:rPr dirty="0" err="1"/>
              <a:t>Regendusche</a:t>
            </a:r>
            <a:r>
              <a:rPr dirty="0"/>
              <a:t> und der </a:t>
            </a:r>
            <a:r>
              <a:rPr dirty="0" err="1"/>
              <a:t>berührungslosen</a:t>
            </a:r>
            <a:r>
              <a:rPr dirty="0"/>
              <a:t> </a:t>
            </a:r>
            <a:r>
              <a:rPr dirty="0" err="1"/>
              <a:t>Armatur</a:t>
            </a:r>
            <a:r>
              <a:rPr dirty="0"/>
              <a:t>, nicht </a:t>
            </a:r>
            <a:r>
              <a:rPr dirty="0" err="1"/>
              <a:t>wegen</a:t>
            </a:r>
            <a:r>
              <a:rPr dirty="0"/>
              <a:t> des Dusch-WCs.</a:t>
            </a:r>
          </a:p>
          <a:p>
            <a:endParaRPr dirty="0"/>
          </a:p>
          <a:p>
            <a:r>
              <a:rPr dirty="0"/>
              <a:t>Das Bild </a:t>
            </a:r>
            <a:r>
              <a:rPr dirty="0" err="1"/>
              <a:t>ändert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, </a:t>
            </a:r>
            <a:r>
              <a:rPr dirty="0" err="1"/>
              <a:t>sobald</a:t>
            </a:r>
            <a:r>
              <a:rPr dirty="0"/>
              <a:t> die </a:t>
            </a:r>
            <a:r>
              <a:rPr dirty="0" err="1"/>
              <a:t>Preise</a:t>
            </a:r>
            <a:r>
              <a:rPr dirty="0"/>
              <a:t> </a:t>
            </a:r>
            <a:r>
              <a:rPr dirty="0" err="1"/>
              <a:t>auseinandergehen</a:t>
            </a:r>
            <a:r>
              <a:rPr dirty="0"/>
              <a:t>. </a:t>
            </a:r>
            <a:r>
              <a:rPr dirty="0" err="1"/>
              <a:t>Kostet</a:t>
            </a:r>
            <a:r>
              <a:rPr dirty="0"/>
              <a:t> das Premium-Bad 45 Franken, </a:t>
            </a:r>
            <a:r>
              <a:rPr dirty="0" err="1"/>
              <a:t>wählt</a:t>
            </a:r>
            <a:r>
              <a:rPr dirty="0"/>
              <a:t> es </a:t>
            </a:r>
            <a:r>
              <a:rPr dirty="0" err="1"/>
              <a:t>niemand</a:t>
            </a:r>
            <a:r>
              <a:rPr dirty="0"/>
              <a:t> </a:t>
            </a:r>
            <a:r>
              <a:rPr dirty="0" err="1"/>
              <a:t>mehr</a:t>
            </a:r>
            <a:r>
              <a:rPr dirty="0"/>
              <a:t>, und die </a:t>
            </a:r>
            <a:r>
              <a:rPr dirty="0" err="1"/>
              <a:t>Mehrheit</a:t>
            </a:r>
            <a:r>
              <a:rPr dirty="0"/>
              <a:t> </a:t>
            </a:r>
            <a:r>
              <a:rPr dirty="0" err="1"/>
              <a:t>nimmt</a:t>
            </a:r>
            <a:r>
              <a:rPr dirty="0"/>
              <a:t> das </a:t>
            </a:r>
            <a:r>
              <a:rPr dirty="0" err="1"/>
              <a:t>günstige</a:t>
            </a:r>
            <a:r>
              <a:rPr dirty="0"/>
              <a:t> Basis-Bad. Das </a:t>
            </a:r>
            <a:r>
              <a:rPr dirty="0" err="1"/>
              <a:t>zeigen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r>
              <a:rPr dirty="0" err="1"/>
              <a:t>Anhang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Hier </a:t>
            </a:r>
            <a:r>
              <a:rPr dirty="0" err="1"/>
              <a:t>stellen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die </a:t>
            </a:r>
            <a:r>
              <a:rPr dirty="0" err="1"/>
              <a:t>beiden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 </a:t>
            </a:r>
            <a:r>
              <a:rPr dirty="0" err="1"/>
              <a:t>nebeneinander</a:t>
            </a:r>
            <a:r>
              <a:rPr dirty="0"/>
              <a:t>. Pro Bad </a:t>
            </a:r>
            <a:r>
              <a:rPr dirty="0" err="1"/>
              <a:t>sehen</a:t>
            </a:r>
            <a:r>
              <a:rPr dirty="0"/>
              <a:t> Sie den </a:t>
            </a:r>
            <a:r>
              <a:rPr dirty="0" err="1"/>
              <a:t>durchschnittlich</a:t>
            </a:r>
            <a:r>
              <a:rPr dirty="0"/>
              <a:t> </a:t>
            </a:r>
            <a:r>
              <a:rPr dirty="0" err="1"/>
              <a:t>akzeptierten</a:t>
            </a:r>
            <a:r>
              <a:rPr dirty="0"/>
              <a:t> </a:t>
            </a:r>
            <a:r>
              <a:rPr dirty="0" err="1"/>
              <a:t>Aufpreis</a:t>
            </a:r>
            <a:r>
              <a:rPr dirty="0"/>
              <a:t>: </a:t>
            </a:r>
            <a:r>
              <a:rPr dirty="0" err="1"/>
              <a:t>blau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der Gabor-Granger-</a:t>
            </a:r>
            <a:r>
              <a:rPr dirty="0" err="1"/>
              <a:t>Analyse</a:t>
            </a:r>
            <a:r>
              <a:rPr dirty="0"/>
              <a:t>, orange </a:t>
            </a:r>
            <a:r>
              <a:rPr dirty="0" err="1"/>
              <a:t>aus</a:t>
            </a:r>
            <a:r>
              <a:rPr dirty="0"/>
              <a:t> dem Conjoint. Beim Conjoint </a:t>
            </a:r>
            <a:r>
              <a:rPr dirty="0" err="1"/>
              <a:t>ist</a:t>
            </a:r>
            <a:r>
              <a:rPr dirty="0"/>
              <a:t> das der </a:t>
            </a:r>
            <a:r>
              <a:rPr dirty="0" err="1"/>
              <a:t>Aufpreis</a:t>
            </a:r>
            <a:r>
              <a:rPr dirty="0"/>
              <a:t>, </a:t>
            </a:r>
            <a:r>
              <a:rPr dirty="0" err="1"/>
              <a:t>bei</a:t>
            </a:r>
            <a:r>
              <a:rPr dirty="0"/>
              <a:t> dem das Bad </a:t>
            </a:r>
            <a:r>
              <a:rPr dirty="0" err="1"/>
              <a:t>gerade</a:t>
            </a:r>
            <a:r>
              <a:rPr dirty="0"/>
              <a:t> </a:t>
            </a:r>
            <a:r>
              <a:rPr dirty="0" err="1"/>
              <a:t>noch</a:t>
            </a:r>
            <a:r>
              <a:rPr dirty="0"/>
              <a:t> dem «</a:t>
            </a:r>
            <a:r>
              <a:rPr dirty="0" err="1"/>
              <a:t>keines</a:t>
            </a:r>
            <a:r>
              <a:rPr dirty="0"/>
              <a:t>» </a:t>
            </a:r>
            <a:r>
              <a:rPr dirty="0" err="1"/>
              <a:t>vorgezogen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, </a:t>
            </a:r>
            <a:r>
              <a:rPr dirty="0" err="1"/>
              <a:t>gedeckelt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45 Franken.</a:t>
            </a:r>
          </a:p>
          <a:p>
            <a:endParaRPr dirty="0"/>
          </a:p>
          <a:p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 </a:t>
            </a:r>
            <a:r>
              <a:rPr dirty="0" err="1"/>
              <a:t>ergeben</a:t>
            </a:r>
            <a:r>
              <a:rPr dirty="0"/>
              <a:t> </a:t>
            </a:r>
            <a:r>
              <a:rPr dirty="0" err="1"/>
              <a:t>dieselbe</a:t>
            </a:r>
            <a:r>
              <a:rPr dirty="0"/>
              <a:t> </a:t>
            </a:r>
            <a:r>
              <a:rPr dirty="0" err="1"/>
              <a:t>Rangfolge</a:t>
            </a:r>
            <a:r>
              <a:rPr dirty="0"/>
              <a:t>: Basis </a:t>
            </a:r>
            <a:r>
              <a:rPr dirty="0" err="1"/>
              <a:t>tief</a:t>
            </a:r>
            <a:r>
              <a:rPr dirty="0"/>
              <a:t>, </a:t>
            </a:r>
            <a:r>
              <a:rPr dirty="0" err="1"/>
              <a:t>Komfort</a:t>
            </a:r>
            <a:r>
              <a:rPr dirty="0"/>
              <a:t> in der Mitte, Premium </a:t>
            </a:r>
            <a:r>
              <a:rPr dirty="0" err="1"/>
              <a:t>oben</a:t>
            </a:r>
            <a:r>
              <a:rPr dirty="0"/>
              <a:t>. Beim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stimmen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praktisch</a:t>
            </a:r>
            <a:r>
              <a:rPr dirty="0"/>
              <a:t> </a:t>
            </a:r>
            <a:r>
              <a:rPr dirty="0" err="1"/>
              <a:t>überein</a:t>
            </a:r>
            <a:r>
              <a:rPr dirty="0"/>
              <a:t>, </a:t>
            </a:r>
            <a:r>
              <a:rPr dirty="0" err="1"/>
              <a:t>mit</a:t>
            </a:r>
            <a:r>
              <a:rPr dirty="0"/>
              <a:t> 18 und 19 Franken.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bemerkenswert</a:t>
            </a:r>
            <a:r>
              <a:rPr dirty="0"/>
              <a:t>, </a:t>
            </a:r>
            <a:r>
              <a:rPr dirty="0" err="1"/>
              <a:t>denn</a:t>
            </a:r>
            <a:r>
              <a:rPr dirty="0"/>
              <a:t> es </a:t>
            </a:r>
            <a:r>
              <a:rPr dirty="0" err="1"/>
              <a:t>waren</a:t>
            </a:r>
            <a:r>
              <a:rPr dirty="0"/>
              <a:t> </a:t>
            </a:r>
            <a:r>
              <a:rPr dirty="0" err="1"/>
              <a:t>verschiedene</a:t>
            </a:r>
            <a:r>
              <a:rPr dirty="0"/>
              <a:t> </a:t>
            </a:r>
            <a:r>
              <a:rPr dirty="0" err="1"/>
              <a:t>Personen</a:t>
            </a:r>
            <a:r>
              <a:rPr dirty="0"/>
              <a:t> und </a:t>
            </a:r>
            <a:r>
              <a:rPr dirty="0" err="1"/>
              <a:t>verschiedene</a:t>
            </a:r>
            <a:r>
              <a:rPr dirty="0"/>
              <a:t> </a:t>
            </a:r>
            <a:r>
              <a:rPr dirty="0" err="1"/>
              <a:t>Darstellungen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Beim Premium-Bad </a:t>
            </a:r>
            <a:r>
              <a:rPr dirty="0" err="1"/>
              <a:t>ist</a:t>
            </a:r>
            <a:r>
              <a:rPr dirty="0"/>
              <a:t> der Conjoint </a:t>
            </a:r>
            <a:r>
              <a:rPr dirty="0" err="1"/>
              <a:t>mit</a:t>
            </a:r>
            <a:r>
              <a:rPr dirty="0"/>
              <a:t> 30 Franken </a:t>
            </a:r>
            <a:r>
              <a:rPr dirty="0" err="1"/>
              <a:t>deutlich</a:t>
            </a:r>
            <a:r>
              <a:rPr dirty="0"/>
              <a:t> </a:t>
            </a:r>
            <a:r>
              <a:rPr dirty="0" err="1"/>
              <a:t>höher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die Gabor-Granger </a:t>
            </a:r>
            <a:r>
              <a:rPr dirty="0" err="1"/>
              <a:t>mit</a:t>
            </a:r>
            <a:r>
              <a:rPr dirty="0"/>
              <a:t> 22. Das </a:t>
            </a:r>
            <a:r>
              <a:rPr dirty="0" err="1"/>
              <a:t>ist</a:t>
            </a:r>
            <a:r>
              <a:rPr dirty="0"/>
              <a:t> die </a:t>
            </a:r>
            <a:r>
              <a:rPr dirty="0" err="1"/>
              <a:t>Obergrenze</a:t>
            </a:r>
            <a:r>
              <a:rPr dirty="0"/>
              <a:t>, bis </a:t>
            </a:r>
            <a:r>
              <a:rPr dirty="0" err="1"/>
              <a:t>zu</a:t>
            </a:r>
            <a:r>
              <a:rPr dirty="0"/>
              <a:t> der </a:t>
            </a:r>
            <a:r>
              <a:rPr dirty="0" err="1"/>
              <a:t>Gäste</a:t>
            </a:r>
            <a:r>
              <a:rPr dirty="0"/>
              <a:t> das Bad dem «</a:t>
            </a:r>
            <a:r>
              <a:rPr dirty="0" err="1"/>
              <a:t>keines</a:t>
            </a:r>
            <a:r>
              <a:rPr dirty="0"/>
              <a:t>» </a:t>
            </a:r>
            <a:r>
              <a:rPr dirty="0" err="1"/>
              <a:t>noch</a:t>
            </a:r>
            <a:r>
              <a:rPr dirty="0"/>
              <a:t> </a:t>
            </a:r>
            <a:r>
              <a:rPr dirty="0" err="1"/>
              <a:t>vorziehen</a:t>
            </a:r>
            <a:r>
              <a:rPr dirty="0"/>
              <a:t>. Das </a:t>
            </a:r>
            <a:r>
              <a:rPr dirty="0" err="1"/>
              <a:t>Umsatzoptimum</a:t>
            </a:r>
            <a:r>
              <a:rPr dirty="0"/>
              <a:t> </a:t>
            </a:r>
            <a:r>
              <a:rPr dirty="0" err="1"/>
              <a:t>liegt</a:t>
            </a:r>
            <a:r>
              <a:rPr dirty="0"/>
              <a:t> </a:t>
            </a:r>
            <a:r>
              <a:rPr dirty="0" err="1"/>
              <a:t>tiefer</a:t>
            </a:r>
            <a:r>
              <a:rPr dirty="0"/>
              <a:t>. Wir </a:t>
            </a:r>
            <a:r>
              <a:rPr dirty="0" err="1"/>
              <a:t>lesen</a:t>
            </a:r>
            <a:r>
              <a:rPr dirty="0"/>
              <a:t> das </a:t>
            </a:r>
            <a:r>
              <a:rPr dirty="0" err="1"/>
              <a:t>darum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Hinweis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beim</a:t>
            </a:r>
            <a:r>
              <a:rPr dirty="0"/>
              <a:t> Premium-Bad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Spielraum</a:t>
            </a:r>
            <a:r>
              <a:rPr dirty="0"/>
              <a:t> </a:t>
            </a:r>
            <a:r>
              <a:rPr dirty="0" err="1"/>
              <a:t>möglich</a:t>
            </a:r>
            <a:r>
              <a:rPr dirty="0"/>
              <a:t> sein </a:t>
            </a:r>
            <a:r>
              <a:rPr dirty="0" err="1"/>
              <a:t>könnte</a:t>
            </a:r>
            <a:r>
              <a:rPr dirty="0"/>
              <a:t>, und nicht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Preisempfehlung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Beim Basis-Bad </a:t>
            </a:r>
            <a:r>
              <a:rPr dirty="0" err="1"/>
              <a:t>liegt</a:t>
            </a:r>
            <a:r>
              <a:rPr dirty="0"/>
              <a:t> der Conjoint </a:t>
            </a:r>
            <a:r>
              <a:rPr dirty="0" err="1"/>
              <a:t>mit</a:t>
            </a:r>
            <a:r>
              <a:rPr dirty="0"/>
              <a:t> 7 Franken </a:t>
            </a:r>
            <a:r>
              <a:rPr dirty="0" err="1"/>
              <a:t>unter</a:t>
            </a:r>
            <a:r>
              <a:rPr dirty="0"/>
              <a:t> der Gabor-Granger. Dort </a:t>
            </a:r>
            <a:r>
              <a:rPr dirty="0" err="1"/>
              <a:t>wählt</a:t>
            </a:r>
            <a:r>
              <a:rPr dirty="0"/>
              <a:t> </a:t>
            </a:r>
            <a:r>
              <a:rPr dirty="0" err="1"/>
              <a:t>rund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Drittel</a:t>
            </a:r>
            <a:r>
              <a:rPr dirty="0"/>
              <a:t> der </a:t>
            </a:r>
            <a:r>
              <a:rPr dirty="0" err="1"/>
              <a:t>Befragten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null Franken </a:t>
            </a:r>
            <a:r>
              <a:rPr dirty="0" err="1"/>
              <a:t>lieber</a:t>
            </a:r>
            <a:r>
              <a:rPr dirty="0"/>
              <a:t> </a:t>
            </a:r>
            <a:r>
              <a:rPr dirty="0" err="1"/>
              <a:t>keines</a:t>
            </a:r>
            <a:r>
              <a:rPr dirty="0"/>
              <a:t> von den </a:t>
            </a:r>
            <a:r>
              <a:rPr dirty="0" err="1"/>
              <a:t>Bädern</a:t>
            </a:r>
            <a:r>
              <a:rPr dirty="0"/>
              <a:t>.</a:t>
            </a:r>
          </a:p>
          <a:p>
            <a:endParaRPr dirty="0"/>
          </a:p>
          <a:p>
            <a:r>
              <a:rPr lang="de-CH" dirty="0"/>
              <a:t>(</a:t>
            </a:r>
            <a:r>
              <a:rPr dirty="0"/>
              <a:t>Die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unterschiedlich</a:t>
            </a:r>
            <a:r>
              <a:rPr dirty="0"/>
              <a:t>: In der Gabor-Granger </a:t>
            </a:r>
            <a:r>
              <a:rPr dirty="0" err="1"/>
              <a:t>zahlen</a:t>
            </a:r>
            <a:r>
              <a:rPr dirty="0"/>
              <a:t> 30 % für </a:t>
            </a:r>
            <a:r>
              <a:rPr dirty="0" err="1"/>
              <a:t>kein</a:t>
            </a:r>
            <a:r>
              <a:rPr dirty="0"/>
              <a:t> Bad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5 Franken, 15 % </a:t>
            </a:r>
            <a:r>
              <a:rPr dirty="0" err="1"/>
              <a:t>nennen</a:t>
            </a:r>
            <a:r>
              <a:rPr dirty="0"/>
              <a:t> für </a:t>
            </a:r>
            <a:r>
              <a:rPr dirty="0" err="1"/>
              <a:t>jedes</a:t>
            </a:r>
            <a:r>
              <a:rPr dirty="0"/>
              <a:t> Bad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hohe</a:t>
            </a:r>
            <a:r>
              <a:rPr dirty="0"/>
              <a:t> </a:t>
            </a:r>
            <a:r>
              <a:rPr dirty="0" err="1"/>
              <a:t>Werte</a:t>
            </a:r>
            <a:r>
              <a:rPr dirty="0"/>
              <a:t>. Die Conjoint-</a:t>
            </a:r>
            <a:r>
              <a:rPr dirty="0" err="1"/>
              <a:t>Segmente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 </a:t>
            </a:r>
            <a:r>
              <a:rPr dirty="0" err="1"/>
              <a:t>dasselbe</a:t>
            </a:r>
            <a:r>
              <a:rPr dirty="0"/>
              <a:t> Muster (</a:t>
            </a:r>
            <a:r>
              <a:rPr dirty="0" err="1"/>
              <a:t>Anhang</a:t>
            </a:r>
            <a:r>
              <a:rPr dirty="0"/>
              <a:t> A4)</a:t>
            </a:r>
            <a:r>
              <a:rPr lang="de-CH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Kurz </a:t>
            </a:r>
            <a:r>
              <a:rPr dirty="0" err="1"/>
              <a:t>zu</a:t>
            </a:r>
            <a:r>
              <a:rPr dirty="0"/>
              <a:t> den </a:t>
            </a:r>
            <a:r>
              <a:rPr dirty="0" err="1"/>
              <a:t>Teilnehmenden</a:t>
            </a:r>
            <a:r>
              <a:rPr dirty="0"/>
              <a:t>. Die Conjoint-</a:t>
            </a:r>
            <a:r>
              <a:rPr dirty="0" err="1"/>
              <a:t>Befragten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sehr</a:t>
            </a:r>
            <a:r>
              <a:rPr dirty="0"/>
              <a:t> </a:t>
            </a:r>
            <a:r>
              <a:rPr dirty="0" err="1"/>
              <a:t>jung</a:t>
            </a:r>
            <a:r>
              <a:rPr dirty="0"/>
              <a:t>: 83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25 und 34 Jahre alt. Die Gabor-Granger-Gruppe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gemischter</a:t>
            </a:r>
            <a:r>
              <a:rPr dirty="0"/>
              <a:t>,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Älteren</a:t>
            </a:r>
            <a:r>
              <a:rPr dirty="0"/>
              <a:t>. Bei </a:t>
            </a:r>
            <a:r>
              <a:rPr dirty="0" err="1"/>
              <a:t>Einkommen</a:t>
            </a:r>
            <a:r>
              <a:rPr dirty="0"/>
              <a:t> und </a:t>
            </a:r>
            <a:r>
              <a:rPr dirty="0" err="1"/>
              <a:t>Reiseart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die </a:t>
            </a:r>
            <a:r>
              <a:rPr dirty="0" err="1"/>
              <a:t>Unterschiede</a:t>
            </a:r>
            <a:r>
              <a:rPr dirty="0"/>
              <a:t> </a:t>
            </a:r>
            <a:r>
              <a:rPr dirty="0" err="1"/>
              <a:t>kleiner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Senioren</a:t>
            </a:r>
            <a:r>
              <a:rPr dirty="0"/>
              <a:t> in der </a:t>
            </a:r>
            <a:r>
              <a:rPr dirty="0" err="1"/>
              <a:t>Stichprobe</a:t>
            </a:r>
            <a:r>
              <a:rPr dirty="0"/>
              <a:t>, und alle </a:t>
            </a:r>
            <a:r>
              <a:rPr dirty="0" err="1"/>
              <a:t>Befragten</a:t>
            </a:r>
            <a:r>
              <a:rPr dirty="0"/>
              <a:t> leben in der Schweiz. Die </a:t>
            </a:r>
            <a:r>
              <a:rPr dirty="0" err="1"/>
              <a:t>Ergebnisse</a:t>
            </a:r>
            <a:r>
              <a:rPr dirty="0"/>
              <a:t> </a:t>
            </a:r>
            <a:r>
              <a:rPr dirty="0" err="1"/>
              <a:t>gelten</a:t>
            </a:r>
            <a:r>
              <a:rPr dirty="0"/>
              <a:t>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für </a:t>
            </a:r>
            <a:r>
              <a:rPr dirty="0" err="1"/>
              <a:t>diese</a:t>
            </a:r>
            <a:r>
              <a:rPr dirty="0"/>
              <a:t> Gruppe und </a:t>
            </a:r>
            <a:r>
              <a:rPr dirty="0" err="1"/>
              <a:t>lassen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nicht auf alle </a:t>
            </a:r>
            <a:r>
              <a:rPr dirty="0" err="1"/>
              <a:t>Hotelgäste</a:t>
            </a:r>
            <a:r>
              <a:rPr dirty="0"/>
              <a:t> </a:t>
            </a:r>
            <a:r>
              <a:rPr dirty="0" err="1"/>
              <a:t>übertragen</a:t>
            </a:r>
            <a:r>
              <a:rPr dirty="0"/>
              <a:t>. </a:t>
            </a:r>
            <a:r>
              <a:rPr dirty="0" err="1"/>
              <a:t>Genau</a:t>
            </a:r>
            <a:r>
              <a:rPr dirty="0"/>
              <a:t>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Punkt</a:t>
            </a:r>
            <a:r>
              <a:rPr dirty="0"/>
              <a:t> für die </a:t>
            </a:r>
            <a:r>
              <a:rPr dirty="0" err="1"/>
              <a:t>Folgestudie</a:t>
            </a:r>
            <a:r>
              <a:rPr dirty="0"/>
              <a:t>.</a:t>
            </a:r>
          </a:p>
          <a:p>
            <a:endParaRPr dirty="0"/>
          </a:p>
          <a:p>
            <a:r>
              <a:rPr lang="de-CH" dirty="0"/>
              <a:t>(</a:t>
            </a:r>
            <a:r>
              <a:rPr dirty="0" err="1"/>
              <a:t>Angaben</a:t>
            </a:r>
            <a:r>
              <a:rPr dirty="0"/>
              <a:t> </a:t>
            </a:r>
            <a:r>
              <a:rPr dirty="0" err="1"/>
              <a:t>zur</a:t>
            </a:r>
            <a:r>
              <a:rPr dirty="0"/>
              <a:t> Person </a:t>
            </a:r>
            <a:r>
              <a:rPr dirty="0" err="1"/>
              <a:t>liegen</a:t>
            </a:r>
            <a:r>
              <a:rPr dirty="0"/>
              <a:t> für 19 der 20 </a:t>
            </a:r>
            <a:r>
              <a:rPr dirty="0" err="1"/>
              <a:t>auswertbaren</a:t>
            </a:r>
            <a:r>
              <a:rPr dirty="0"/>
              <a:t> Gabor-Granger-</a:t>
            </a:r>
            <a:r>
              <a:rPr dirty="0" err="1"/>
              <a:t>Befragten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. Die </a:t>
            </a:r>
            <a:r>
              <a:rPr dirty="0" err="1"/>
              <a:t>beiden</a:t>
            </a:r>
            <a:r>
              <a:rPr dirty="0"/>
              <a:t> Gruppen </a:t>
            </a:r>
            <a:r>
              <a:rPr dirty="0" err="1"/>
              <a:t>sind</a:t>
            </a:r>
            <a:r>
              <a:rPr dirty="0"/>
              <a:t> nicht </a:t>
            </a:r>
            <a:r>
              <a:rPr dirty="0" err="1"/>
              <a:t>identisch</a:t>
            </a:r>
            <a:r>
              <a:rPr dirty="0"/>
              <a:t>.</a:t>
            </a:r>
          </a:p>
          <a:p>
            <a:r>
              <a:rPr dirty="0"/>
              <a:t>Einen </a:t>
            </a:r>
            <a:r>
              <a:rPr dirty="0" err="1"/>
              <a:t>Zusammenhang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Zahlungsbereitschaft</a:t>
            </a:r>
            <a:r>
              <a:rPr dirty="0"/>
              <a:t> und Alter, </a:t>
            </a:r>
            <a:r>
              <a:rPr dirty="0" err="1"/>
              <a:t>Einkommen</a:t>
            </a:r>
            <a:r>
              <a:rPr dirty="0"/>
              <a:t>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Reiseart</a:t>
            </a:r>
            <a:r>
              <a:rPr dirty="0"/>
              <a:t> </a:t>
            </a:r>
            <a:r>
              <a:rPr dirty="0" err="1"/>
              <a:t>können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diesen</a:t>
            </a:r>
            <a:r>
              <a:rPr dirty="0"/>
              <a:t> </a:t>
            </a:r>
            <a:r>
              <a:rPr dirty="0" err="1"/>
              <a:t>Gruppengrössen</a:t>
            </a:r>
            <a:r>
              <a:rPr dirty="0"/>
              <a:t> nicht </a:t>
            </a:r>
            <a:r>
              <a:rPr dirty="0" err="1"/>
              <a:t>belegen</a:t>
            </a:r>
            <a:r>
              <a:rPr dirty="0"/>
              <a:t> (Gabor-Granger: </a:t>
            </a:r>
            <a:r>
              <a:rPr dirty="0" err="1"/>
              <a:t>Einkommen</a:t>
            </a:r>
            <a:r>
              <a:rPr dirty="0"/>
              <a:t> ρ = .24, p = .32; Alter ρ = .00)</a:t>
            </a:r>
            <a:r>
              <a:rPr lang="de-CH" dirty="0"/>
              <a:t>)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Daraus</a:t>
            </a:r>
            <a:r>
              <a:rPr dirty="0"/>
              <a:t> </a:t>
            </a:r>
            <a:r>
              <a:rPr dirty="0" err="1"/>
              <a:t>leiten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vier </a:t>
            </a:r>
            <a:r>
              <a:rPr dirty="0" err="1"/>
              <a:t>Empfehlungen</a:t>
            </a:r>
            <a:r>
              <a:rPr dirty="0"/>
              <a:t> für </a:t>
            </a:r>
            <a:r>
              <a:rPr dirty="0" err="1"/>
              <a:t>Geberit</a:t>
            </a:r>
            <a:r>
              <a:rPr dirty="0"/>
              <a:t> und die Hoteliers ab.</a:t>
            </a:r>
          </a:p>
          <a:p>
            <a:endParaRPr dirty="0"/>
          </a:p>
          <a:p>
            <a:r>
              <a:rPr dirty="0" err="1"/>
              <a:t>Erstens</a:t>
            </a:r>
            <a:r>
              <a:rPr dirty="0"/>
              <a:t>: Ein </a:t>
            </a:r>
            <a:r>
              <a:rPr dirty="0" err="1"/>
              <a:t>Aufpreis</a:t>
            </a:r>
            <a:r>
              <a:rPr dirty="0"/>
              <a:t> von 15 bis 20 Franken pro Nacht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tragfähiger</a:t>
            </a:r>
            <a:r>
              <a:rPr dirty="0"/>
              <a:t> Rahmen. Das </a:t>
            </a:r>
            <a:r>
              <a:rPr dirty="0" err="1"/>
              <a:t>sind</a:t>
            </a:r>
            <a:r>
              <a:rPr dirty="0"/>
              <a:t> 10 bis 13 </a:t>
            </a:r>
            <a:r>
              <a:rPr dirty="0" err="1"/>
              <a:t>Prozent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</a:t>
            </a:r>
            <a:r>
              <a:rPr dirty="0" err="1"/>
              <a:t>Zimmerpreises</a:t>
            </a:r>
            <a:r>
              <a:rPr dirty="0"/>
              <a:t> von 150 Franken. </a:t>
            </a:r>
            <a:r>
              <a:rPr dirty="0" err="1"/>
              <a:t>Über</a:t>
            </a:r>
            <a:r>
              <a:rPr dirty="0"/>
              <a:t> 25 Franken </a:t>
            </a:r>
            <a:r>
              <a:rPr dirty="0" err="1"/>
              <a:t>bricht</a:t>
            </a:r>
            <a:r>
              <a:rPr dirty="0"/>
              <a:t> die </a:t>
            </a:r>
            <a:r>
              <a:rPr dirty="0" err="1"/>
              <a:t>Zustimmung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Zweitens</a:t>
            </a:r>
            <a:r>
              <a:rPr dirty="0"/>
              <a:t>: Die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gehört</a:t>
            </a:r>
            <a:r>
              <a:rPr dirty="0"/>
              <a:t> in den </a:t>
            </a:r>
            <a:r>
              <a:rPr dirty="0" err="1"/>
              <a:t>Mittelpunkt</a:t>
            </a:r>
            <a:r>
              <a:rPr dirty="0"/>
              <a:t>. Die </a:t>
            </a:r>
            <a:r>
              <a:rPr dirty="0" err="1"/>
              <a:t>bodenebene</a:t>
            </a:r>
            <a:r>
              <a:rPr dirty="0"/>
              <a:t>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Regendusche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rund</a:t>
            </a:r>
            <a:r>
              <a:rPr dirty="0"/>
              <a:t> 12 Franken pro Nacht der </a:t>
            </a:r>
            <a:r>
              <a:rPr dirty="0" err="1"/>
              <a:t>grösste</a:t>
            </a:r>
            <a:r>
              <a:rPr dirty="0"/>
              <a:t> </a:t>
            </a:r>
            <a:r>
              <a:rPr dirty="0" err="1"/>
              <a:t>Einzelwert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Drittens</a:t>
            </a:r>
            <a:r>
              <a:rPr dirty="0"/>
              <a:t>: Das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sollte</a:t>
            </a:r>
            <a:r>
              <a:rPr dirty="0"/>
              <a:t> der Kern des </a:t>
            </a:r>
            <a:r>
              <a:rPr dirty="0" err="1"/>
              <a:t>Angebots</a:t>
            </a:r>
            <a:r>
              <a:rPr dirty="0"/>
              <a:t> sein. Hier </a:t>
            </a:r>
            <a:r>
              <a:rPr dirty="0" err="1"/>
              <a:t>kommen</a:t>
            </a:r>
            <a:r>
              <a:rPr dirty="0"/>
              <a:t> </a:t>
            </a:r>
            <a:r>
              <a:rPr dirty="0" err="1"/>
              <a:t>beide</a:t>
            </a:r>
            <a:r>
              <a:rPr dirty="0"/>
              <a:t> </a:t>
            </a:r>
            <a:r>
              <a:rPr dirty="0" err="1"/>
              <a:t>Methoden</a:t>
            </a:r>
            <a:r>
              <a:rPr dirty="0"/>
              <a:t> auf </a:t>
            </a:r>
            <a:r>
              <a:rPr dirty="0" err="1"/>
              <a:t>rund</a:t>
            </a:r>
            <a:r>
              <a:rPr dirty="0"/>
              <a:t> 18 bis 19 Franken. Beim Premium-Bad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die </a:t>
            </a:r>
            <a:r>
              <a:rPr dirty="0" err="1"/>
              <a:t>Methoden</a:t>
            </a:r>
            <a:r>
              <a:rPr dirty="0"/>
              <a:t> </a:t>
            </a:r>
            <a:r>
              <a:rPr dirty="0" err="1"/>
              <a:t>weniger</a:t>
            </a:r>
            <a:r>
              <a:rPr dirty="0"/>
              <a:t> </a:t>
            </a:r>
            <a:r>
              <a:rPr dirty="0" err="1"/>
              <a:t>einig</a:t>
            </a:r>
            <a:r>
              <a:rPr dirty="0"/>
              <a:t>,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empfehlen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Premium-</a:t>
            </a:r>
            <a:r>
              <a:rPr dirty="0" err="1"/>
              <a:t>Elemente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Option. Das Dusch-WC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Zusatzmodul</a:t>
            </a:r>
            <a:r>
              <a:rPr dirty="0"/>
              <a:t> sein und nicht das </a:t>
            </a:r>
            <a:r>
              <a:rPr dirty="0" err="1"/>
              <a:t>Hauptargument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Viertens</a:t>
            </a:r>
            <a:r>
              <a:rPr dirty="0"/>
              <a:t>: Vor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Markteinführung</a:t>
            </a:r>
            <a:r>
              <a:rPr dirty="0"/>
              <a:t> </a:t>
            </a:r>
            <a:r>
              <a:rPr dirty="0" err="1"/>
              <a:t>sollte</a:t>
            </a:r>
            <a:r>
              <a:rPr dirty="0"/>
              <a:t> man die </a:t>
            </a:r>
            <a:r>
              <a:rPr dirty="0" err="1"/>
              <a:t>Ergebnisse</a:t>
            </a:r>
            <a:r>
              <a:rPr dirty="0"/>
              <a:t> </a:t>
            </a:r>
            <a:r>
              <a:rPr dirty="0" err="1"/>
              <a:t>absichern</a:t>
            </a:r>
            <a:r>
              <a:rPr dirty="0"/>
              <a:t>,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Folgestudie</a:t>
            </a:r>
            <a:r>
              <a:rPr dirty="0"/>
              <a:t> und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Befragten</a:t>
            </a:r>
            <a:r>
              <a:rPr dirty="0"/>
              <a:t>, </a:t>
            </a:r>
            <a:r>
              <a:rPr dirty="0" err="1"/>
              <a:t>einer</a:t>
            </a:r>
            <a:r>
              <a:rPr dirty="0"/>
              <a:t> </a:t>
            </a:r>
            <a:r>
              <a:rPr dirty="0" err="1"/>
              <a:t>breiteren</a:t>
            </a:r>
            <a:r>
              <a:rPr dirty="0"/>
              <a:t> </a:t>
            </a:r>
            <a:r>
              <a:rPr dirty="0" err="1"/>
              <a:t>Demografie</a:t>
            </a:r>
            <a:r>
              <a:rPr dirty="0"/>
              <a:t> und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Nationalitäten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Wichtig</a:t>
            </a:r>
            <a:r>
              <a:rPr dirty="0"/>
              <a:t>: Das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Hypothesen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</a:t>
            </a:r>
            <a:r>
              <a:rPr dirty="0" err="1"/>
              <a:t>kleinen</a:t>
            </a:r>
            <a:r>
              <a:rPr dirty="0"/>
              <a:t> </a:t>
            </a:r>
            <a:r>
              <a:rPr dirty="0" err="1"/>
              <a:t>Stichproben</a:t>
            </a:r>
            <a:r>
              <a:rPr dirty="0"/>
              <a:t> und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gesicherte</a:t>
            </a:r>
            <a:r>
              <a:rPr dirty="0"/>
              <a:t> Prognose.</a:t>
            </a:r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dirty="0"/>
          </a:p>
          <a:p>
            <a:endParaRPr lang="de-CH" dirty="0"/>
          </a:p>
          <a:p>
            <a:r>
              <a:rPr lang="de-CH" sz="800" dirty="0"/>
              <a:t>(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Zu 3: Der Sprung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vom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Basis-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zum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Komfort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-Bad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ist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gross (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Gesamtnutzen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etwa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91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Punkte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rund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CHF 12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mehr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akzeptierter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Aufpreis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derjenige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vom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Komfort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zum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Premium-Bad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kleiner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etwa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51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Punkte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). In der Gabor-Granger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beträgt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der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Unterschied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nur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rund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4 Franken,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Conjoint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rund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10. Die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Methoden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widersprechen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sich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also,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deshalb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Premium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als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Option und nicht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als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Kern.</a:t>
            </a:r>
          </a:p>
          <a:p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Zu 1: Nach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Korrektur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des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hypothetischen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Bias (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rund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21 %)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bleiben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für Premium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etwa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16 bis 17 Franken, für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Komfort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etwa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15 bis 16 Franken. Der Rahmen von 15 bis 20 Franken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deckt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das ab.</a:t>
            </a:r>
          </a:p>
          <a:p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Zielgruppen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sind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explorativ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Wellness-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Reisende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zeigten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die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höchste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Städtereisende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die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niedrigste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Zahlungsbereitschaft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nicht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signifikant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Für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preissensible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Hotels (30 bis 55 %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zahlen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höchstens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5 Franken)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eher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Wertbeitrag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als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Aufpreis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argumentieren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Folgestudie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mindestens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72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Befragte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Faustregel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Orme: n ×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Aufgaben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×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Alternativen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Stufen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≥ 500,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wir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haben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29),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feinere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Preisstufen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zwischen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15 und 45 Franken, Dusch-WC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einzeln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testen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möglichst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Pilotversuch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einem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Hotel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echten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Preisen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Nicht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untersucht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Investitionskosten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Auslastung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Amortisation</a:t>
            </a:r>
            <a:r>
              <a:rPr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(Business Case).</a:t>
            </a:r>
            <a:r>
              <a:rPr lang="de-CH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Schwellenpreis</a:t>
            </a:r>
            <a:r>
              <a:rPr dirty="0"/>
              <a:t> = </a:t>
            </a:r>
            <a:r>
              <a:rPr dirty="0" err="1"/>
              <a:t>höchster</a:t>
            </a:r>
            <a:r>
              <a:rPr dirty="0"/>
              <a:t> </a:t>
            </a:r>
            <a:r>
              <a:rPr dirty="0" err="1"/>
              <a:t>akzeptierter</a:t>
            </a:r>
            <a:r>
              <a:rPr dirty="0"/>
              <a:t> Preis (0, </a:t>
            </a:r>
            <a:r>
              <a:rPr dirty="0" err="1"/>
              <a:t>wenn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</a:t>
            </a:r>
            <a:r>
              <a:rPr dirty="0" err="1"/>
              <a:t>akzeptiert</a:t>
            </a:r>
            <a:r>
              <a:rPr dirty="0"/>
              <a:t>). Die </a:t>
            </a:r>
            <a:r>
              <a:rPr dirty="0" err="1"/>
              <a:t>Intervalle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Bootstrap-</a:t>
            </a:r>
            <a:r>
              <a:rPr dirty="0" err="1"/>
              <a:t>Intervalle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5'000 </a:t>
            </a:r>
            <a:r>
              <a:rPr dirty="0" err="1"/>
              <a:t>Ziehungen</a:t>
            </a:r>
            <a:r>
              <a:rPr dirty="0"/>
              <a:t>. Der </a:t>
            </a:r>
            <a:r>
              <a:rPr dirty="0" err="1"/>
              <a:t>Umsatzindex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Preis mal </a:t>
            </a:r>
            <a:r>
              <a:rPr dirty="0" err="1"/>
              <a:t>Zustimmungsanteil</a:t>
            </a:r>
            <a:r>
              <a:rPr dirty="0"/>
              <a:t>, </a:t>
            </a:r>
            <a:r>
              <a:rPr dirty="0" err="1"/>
              <a:t>hypothetisch</a:t>
            </a:r>
            <a:r>
              <a:rPr dirty="0"/>
              <a:t> in CHF je Gast und Nacht.</a:t>
            </a:r>
          </a:p>
          <a:p>
            <a:endParaRPr dirty="0"/>
          </a:p>
          <a:p>
            <a:r>
              <a:rPr dirty="0" err="1"/>
              <a:t>Ohne</a:t>
            </a:r>
            <a:r>
              <a:rPr dirty="0"/>
              <a:t> das </a:t>
            </a:r>
            <a:r>
              <a:rPr dirty="0" err="1"/>
              <a:t>Hochpreis</a:t>
            </a:r>
            <a:r>
              <a:rPr dirty="0"/>
              <a:t>-Segment (3 </a:t>
            </a:r>
            <a:r>
              <a:rPr dirty="0" err="1"/>
              <a:t>Personen</a:t>
            </a:r>
            <a:r>
              <a:rPr dirty="0"/>
              <a:t>, also n = 17) </a:t>
            </a:r>
            <a:r>
              <a:rPr dirty="0" err="1"/>
              <a:t>bleibt</a:t>
            </a:r>
            <a:r>
              <a:rPr dirty="0"/>
              <a:t> das Premium-Optimum </a:t>
            </a:r>
            <a:r>
              <a:rPr dirty="0" err="1"/>
              <a:t>bei</a:t>
            </a:r>
            <a:r>
              <a:rPr dirty="0"/>
              <a:t> CHF 20. Die Optima von Basis und </a:t>
            </a:r>
            <a:r>
              <a:rPr dirty="0" err="1"/>
              <a:t>Komfort</a:t>
            </a:r>
            <a:r>
              <a:rPr dirty="0"/>
              <a:t> </a:t>
            </a:r>
            <a:r>
              <a:rPr dirty="0" err="1"/>
              <a:t>verschieben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auf CHF 10 bis 20 </a:t>
            </a:r>
            <a:r>
              <a:rPr dirty="0" err="1"/>
              <a:t>beziehungsweise</a:t>
            </a:r>
            <a:r>
              <a:rPr dirty="0"/>
              <a:t> CHF 10.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empfehlen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das Premium-Optimum.</a:t>
            </a:r>
          </a:p>
          <a:p>
            <a:endParaRPr dirty="0"/>
          </a:p>
          <a:p>
            <a:r>
              <a:rPr dirty="0" err="1"/>
              <a:t>Höchstens</a:t>
            </a:r>
            <a:r>
              <a:rPr dirty="0"/>
              <a:t> CHF 5 </a:t>
            </a:r>
            <a:r>
              <a:rPr dirty="0" err="1"/>
              <a:t>zahlen</a:t>
            </a:r>
            <a:r>
              <a:rPr dirty="0"/>
              <a:t> 55 % (Basis), 35 % (</a:t>
            </a:r>
            <a:r>
              <a:rPr dirty="0" err="1"/>
              <a:t>Komfort</a:t>
            </a:r>
            <a:r>
              <a:rPr dirty="0"/>
              <a:t>) und 30 % (Premium). </a:t>
            </a:r>
            <a:r>
              <a:rPr dirty="0" err="1"/>
              <a:t>Mindestens</a:t>
            </a:r>
            <a:r>
              <a:rPr dirty="0"/>
              <a:t> CHF 45 </a:t>
            </a:r>
            <a:r>
              <a:rPr dirty="0" err="1"/>
              <a:t>nennen</a:t>
            </a:r>
            <a:r>
              <a:rPr dirty="0"/>
              <a:t> 15 %, 15 % und 20 %.</a:t>
            </a:r>
          </a:p>
          <a:p>
            <a:endParaRPr dirty="0"/>
          </a:p>
          <a:p>
            <a:r>
              <a:rPr dirty="0" err="1"/>
              <a:t>Mittelwert</a:t>
            </a:r>
            <a:r>
              <a:rPr dirty="0"/>
              <a:t> und Median </a:t>
            </a:r>
            <a:r>
              <a:rPr dirty="0" err="1"/>
              <a:t>unterscheiden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stark, </a:t>
            </a:r>
            <a:r>
              <a:rPr dirty="0" err="1"/>
              <a:t>weil</a:t>
            </a:r>
            <a:r>
              <a:rPr dirty="0"/>
              <a:t> die </a:t>
            </a:r>
            <a:r>
              <a:rPr dirty="0" err="1"/>
              <a:t>Verteilung</a:t>
            </a:r>
            <a:r>
              <a:rPr dirty="0"/>
              <a:t> </a:t>
            </a:r>
            <a:r>
              <a:rPr dirty="0" err="1"/>
              <a:t>zweigipflig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 Wir </a:t>
            </a:r>
            <a:r>
              <a:rPr dirty="0" err="1"/>
              <a:t>berichten</a:t>
            </a:r>
            <a:r>
              <a:rPr dirty="0"/>
              <a:t> </a:t>
            </a:r>
            <a:r>
              <a:rPr dirty="0" err="1"/>
              <a:t>deshalb</a:t>
            </a:r>
            <a:r>
              <a:rPr dirty="0"/>
              <a:t> </a:t>
            </a:r>
            <a:r>
              <a:rPr dirty="0" err="1"/>
              <a:t>beides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Die vier </a:t>
            </a:r>
            <a:r>
              <a:rPr dirty="0" err="1"/>
              <a:t>Ausstattungsmerkmale</a:t>
            </a:r>
            <a:r>
              <a:rPr dirty="0"/>
              <a:t> und der </a:t>
            </a:r>
            <a:r>
              <a:rPr dirty="0" err="1"/>
              <a:t>Aufpreis</a:t>
            </a:r>
            <a:r>
              <a:rPr dirty="0"/>
              <a:t>, je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Stufen</a:t>
            </a:r>
            <a:r>
              <a:rPr dirty="0"/>
              <a:t>. </a:t>
            </a:r>
            <a:r>
              <a:rPr dirty="0" err="1"/>
              <a:t>Jede</a:t>
            </a:r>
            <a:r>
              <a:rPr dirty="0"/>
              <a:t> </a:t>
            </a:r>
            <a:r>
              <a:rPr dirty="0" err="1"/>
              <a:t>Wahlaufgabe</a:t>
            </a:r>
            <a:r>
              <a:rPr dirty="0"/>
              <a:t> </a:t>
            </a:r>
            <a:r>
              <a:rPr dirty="0" err="1"/>
              <a:t>zeigte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Profile und «</a:t>
            </a:r>
            <a:r>
              <a:rPr dirty="0" err="1"/>
              <a:t>keines</a:t>
            </a:r>
            <a:r>
              <a:rPr dirty="0"/>
              <a:t> </a:t>
            </a:r>
            <a:r>
              <a:rPr dirty="0" err="1"/>
              <a:t>davon</a:t>
            </a:r>
            <a:r>
              <a:rPr dirty="0"/>
              <a:t>». </a:t>
            </a:r>
            <a:r>
              <a:rPr dirty="0" err="1"/>
              <a:t>Referenz</a:t>
            </a:r>
            <a:r>
              <a:rPr dirty="0"/>
              <a:t> war </a:t>
            </a:r>
            <a:r>
              <a:rPr dirty="0" err="1"/>
              <a:t>ein</a:t>
            </a:r>
            <a:r>
              <a:rPr dirty="0"/>
              <a:t> Zimmer </a:t>
            </a:r>
            <a:r>
              <a:rPr dirty="0" err="1"/>
              <a:t>zu</a:t>
            </a:r>
            <a:r>
              <a:rPr dirty="0"/>
              <a:t> CHF 150 pro Nacht, die </a:t>
            </a:r>
            <a:r>
              <a:rPr dirty="0" err="1"/>
              <a:t>Aufpreise</a:t>
            </a:r>
            <a:r>
              <a:rPr dirty="0"/>
              <a:t> von CHF 15 und CHF 45 </a:t>
            </a:r>
            <a:r>
              <a:rPr dirty="0" err="1"/>
              <a:t>entsprechen</a:t>
            </a:r>
            <a:r>
              <a:rPr dirty="0"/>
              <a:t> 10 und 30 % </a:t>
            </a:r>
            <a:r>
              <a:rPr dirty="0" err="1"/>
              <a:t>davon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Merkmale</a:t>
            </a:r>
            <a:r>
              <a:rPr dirty="0"/>
              <a:t> </a:t>
            </a:r>
            <a:r>
              <a:rPr dirty="0" err="1"/>
              <a:t>lassen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unabhängig</a:t>
            </a:r>
            <a:r>
              <a:rPr dirty="0"/>
              <a:t> </a:t>
            </a:r>
            <a:r>
              <a:rPr dirty="0" err="1"/>
              <a:t>voneinander</a:t>
            </a:r>
            <a:r>
              <a:rPr dirty="0"/>
              <a:t> </a:t>
            </a:r>
            <a:r>
              <a:rPr dirty="0" err="1"/>
              <a:t>variieren</a:t>
            </a:r>
            <a:r>
              <a:rPr dirty="0"/>
              <a:t>. </a:t>
            </a:r>
            <a:r>
              <a:rPr dirty="0" err="1"/>
              <a:t>Einzelne</a:t>
            </a:r>
            <a:r>
              <a:rPr dirty="0"/>
              <a:t> </a:t>
            </a:r>
            <a:r>
              <a:rPr dirty="0" err="1"/>
              <a:t>Stufen</a:t>
            </a:r>
            <a:r>
              <a:rPr dirty="0"/>
              <a:t> </a:t>
            </a:r>
            <a:r>
              <a:rPr dirty="0" err="1"/>
              <a:t>bündeln</a:t>
            </a:r>
            <a:r>
              <a:rPr dirty="0"/>
              <a:t> </a:t>
            </a:r>
            <a:r>
              <a:rPr dirty="0" err="1"/>
              <a:t>mehrere</a:t>
            </a:r>
            <a:r>
              <a:rPr dirty="0"/>
              <a:t> </a:t>
            </a:r>
            <a:r>
              <a:rPr dirty="0" err="1"/>
              <a:t>Eigenschaften</a:t>
            </a:r>
            <a:r>
              <a:rPr dirty="0"/>
              <a:t>,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 </a:t>
            </a:r>
            <a:r>
              <a:rPr dirty="0" err="1"/>
              <a:t>Grösse</a:t>
            </a:r>
            <a:r>
              <a:rPr dirty="0"/>
              <a:t> und </a:t>
            </a:r>
            <a:r>
              <a:rPr dirty="0" err="1"/>
              <a:t>berührungslose</a:t>
            </a:r>
            <a:r>
              <a:rPr dirty="0"/>
              <a:t> </a:t>
            </a:r>
            <a:r>
              <a:rPr dirty="0" err="1"/>
              <a:t>Armatur</a:t>
            </a:r>
            <a:r>
              <a:rPr dirty="0"/>
              <a:t> </a:t>
            </a:r>
            <a:r>
              <a:rPr dirty="0" err="1"/>
              <a:t>beim</a:t>
            </a:r>
            <a:r>
              <a:rPr dirty="0"/>
              <a:t> </a:t>
            </a:r>
            <a:r>
              <a:rPr dirty="0" err="1"/>
              <a:t>Waschtisch</a:t>
            </a:r>
            <a:r>
              <a:rPr dirty="0"/>
              <a:t>. Das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besteht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</a:t>
            </a:r>
            <a:r>
              <a:rPr dirty="0" err="1"/>
              <a:t>Stufe</a:t>
            </a:r>
            <a:r>
              <a:rPr dirty="0"/>
              <a:t> 2 </a:t>
            </a:r>
            <a:r>
              <a:rPr dirty="0" err="1"/>
              <a:t>aller</a:t>
            </a:r>
            <a:r>
              <a:rPr dirty="0"/>
              <a:t> </a:t>
            </a:r>
            <a:r>
              <a:rPr dirty="0" err="1"/>
              <a:t>Merkmale</a:t>
            </a:r>
            <a:r>
              <a:rPr dirty="0"/>
              <a:t>, das Premium-Bad </a:t>
            </a:r>
            <a:r>
              <a:rPr dirty="0" err="1"/>
              <a:t>aus</a:t>
            </a:r>
            <a:r>
              <a:rPr dirty="0"/>
              <a:t> </a:t>
            </a:r>
            <a:r>
              <a:rPr dirty="0" err="1"/>
              <a:t>Stufe</a:t>
            </a:r>
            <a:r>
              <a:rPr dirty="0"/>
              <a:t> 3.</a:t>
            </a:r>
          </a:p>
          <a:p>
            <a:endParaRPr dirty="0"/>
          </a:p>
          <a:p>
            <a:r>
              <a:rPr dirty="0" err="1"/>
              <a:t>Zwischen</a:t>
            </a:r>
            <a:r>
              <a:rPr dirty="0"/>
              <a:t> CHF 15 und CHF 45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getestet</a:t>
            </a:r>
            <a:r>
              <a:rPr dirty="0"/>
              <a:t>, der </a:t>
            </a:r>
            <a:r>
              <a:rPr dirty="0" err="1"/>
              <a:t>Verlauf</a:t>
            </a:r>
            <a:r>
              <a:rPr dirty="0"/>
              <a:t> </a:t>
            </a:r>
            <a:r>
              <a:rPr dirty="0" err="1"/>
              <a:t>dort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interpoliert</a:t>
            </a:r>
            <a:r>
              <a:rPr dirty="0"/>
              <a:t>. Das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bekannte</a:t>
            </a:r>
            <a:r>
              <a:rPr dirty="0"/>
              <a:t> </a:t>
            </a:r>
            <a:r>
              <a:rPr dirty="0" err="1"/>
              <a:t>Einschränkung</a:t>
            </a:r>
            <a:r>
              <a:rPr dirty="0"/>
              <a:t>. Eine </a:t>
            </a:r>
            <a:r>
              <a:rPr dirty="0" err="1"/>
              <a:t>Folgestudie</a:t>
            </a:r>
            <a:r>
              <a:rPr dirty="0"/>
              <a:t> </a:t>
            </a:r>
            <a:r>
              <a:rPr dirty="0" err="1"/>
              <a:t>sollte</a:t>
            </a:r>
            <a:r>
              <a:rPr dirty="0"/>
              <a:t> </a:t>
            </a:r>
            <a:r>
              <a:rPr dirty="0" err="1"/>
              <a:t>Stufen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CHF 15 und 30 </a:t>
            </a:r>
            <a:r>
              <a:rPr dirty="0" err="1"/>
              <a:t>testen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Links die </a:t>
            </a:r>
            <a:r>
              <a:rPr dirty="0" err="1"/>
              <a:t>durchschnittlichen</a:t>
            </a:r>
            <a:r>
              <a:rPr dirty="0"/>
              <a:t> </a:t>
            </a:r>
            <a:r>
              <a:rPr dirty="0" err="1"/>
              <a:t>Teilnutzenwerte</a:t>
            </a:r>
            <a:r>
              <a:rPr dirty="0"/>
              <a:t> (Zero-Centered Diffs) </a:t>
            </a:r>
            <a:r>
              <a:rPr dirty="0" err="1"/>
              <a:t>aller</a:t>
            </a:r>
            <a:r>
              <a:rPr dirty="0"/>
              <a:t> 29 </a:t>
            </a:r>
            <a:r>
              <a:rPr dirty="0" err="1"/>
              <a:t>Personen</a:t>
            </a:r>
            <a:r>
              <a:rPr dirty="0"/>
              <a:t>. </a:t>
            </a:r>
            <a:r>
              <a:rPr dirty="0" err="1"/>
              <a:t>Höher</a:t>
            </a:r>
            <a:r>
              <a:rPr dirty="0"/>
              <a:t> </a:t>
            </a:r>
            <a:r>
              <a:rPr dirty="0" err="1"/>
              <a:t>heisst</a:t>
            </a:r>
            <a:r>
              <a:rPr dirty="0"/>
              <a:t> </a:t>
            </a:r>
            <a:r>
              <a:rPr dirty="0" err="1"/>
              <a:t>beliebter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Dusche</a:t>
            </a:r>
            <a:r>
              <a:rPr dirty="0"/>
              <a:t>: Die </a:t>
            </a:r>
            <a:r>
              <a:rPr dirty="0" err="1"/>
              <a:t>Regendusche</a:t>
            </a:r>
            <a:r>
              <a:rPr dirty="0"/>
              <a:t> (+45) </a:t>
            </a:r>
            <a:r>
              <a:rPr dirty="0" err="1"/>
              <a:t>liegt</a:t>
            </a:r>
            <a:r>
              <a:rPr dirty="0"/>
              <a:t> </a:t>
            </a:r>
            <a:r>
              <a:rPr dirty="0" err="1"/>
              <a:t>weit</a:t>
            </a:r>
            <a:r>
              <a:rPr dirty="0"/>
              <a:t> </a:t>
            </a:r>
            <a:r>
              <a:rPr dirty="0" err="1"/>
              <a:t>vor</a:t>
            </a:r>
            <a:r>
              <a:rPr dirty="0"/>
              <a:t> der Standard-</a:t>
            </a:r>
            <a:r>
              <a:rPr dirty="0" err="1"/>
              <a:t>Duschwanne</a:t>
            </a:r>
            <a:r>
              <a:rPr dirty="0"/>
              <a:t> (-53). Der </a:t>
            </a:r>
            <a:r>
              <a:rPr dirty="0" err="1"/>
              <a:t>Spielraum</a:t>
            </a:r>
            <a:r>
              <a:rPr dirty="0"/>
              <a:t> der </a:t>
            </a:r>
            <a:r>
              <a:rPr dirty="0" err="1"/>
              <a:t>Dusche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Abstand der </a:t>
            </a:r>
            <a:r>
              <a:rPr dirty="0" err="1"/>
              <a:t>grösste</a:t>
            </a:r>
            <a:r>
              <a:rPr dirty="0"/>
              <a:t>.</a:t>
            </a:r>
          </a:p>
          <a:p>
            <a:r>
              <a:rPr dirty="0" err="1"/>
              <a:t>Waschtisch</a:t>
            </a:r>
            <a:r>
              <a:rPr dirty="0"/>
              <a:t>: </a:t>
            </a:r>
            <a:r>
              <a:rPr dirty="0" err="1"/>
              <a:t>steigt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jeder</a:t>
            </a:r>
            <a:r>
              <a:rPr dirty="0"/>
              <a:t> </a:t>
            </a:r>
            <a:r>
              <a:rPr dirty="0" err="1"/>
              <a:t>Stufe</a:t>
            </a:r>
            <a:r>
              <a:rPr dirty="0"/>
              <a:t> (-10, +1, +9).</a:t>
            </a:r>
          </a:p>
          <a:p>
            <a:r>
              <a:rPr dirty="0"/>
              <a:t>Spiegel: Der </a:t>
            </a:r>
            <a:r>
              <a:rPr dirty="0" err="1"/>
              <a:t>beleuchtete</a:t>
            </a:r>
            <a:r>
              <a:rPr dirty="0"/>
              <a:t> Spiegel (+11) </a:t>
            </a:r>
            <a:r>
              <a:rPr dirty="0" err="1"/>
              <a:t>ist</a:t>
            </a:r>
            <a:r>
              <a:rPr dirty="0"/>
              <a:t> am </a:t>
            </a:r>
            <a:r>
              <a:rPr dirty="0" err="1"/>
              <a:t>beliebtesten</a:t>
            </a:r>
            <a:r>
              <a:rPr dirty="0"/>
              <a:t>, der </a:t>
            </a:r>
            <a:r>
              <a:rPr dirty="0" err="1"/>
              <a:t>dimmbare</a:t>
            </a:r>
            <a:r>
              <a:rPr dirty="0"/>
              <a:t> (+8) </a:t>
            </a:r>
            <a:r>
              <a:rPr dirty="0" err="1"/>
              <a:t>bringt</a:t>
            </a:r>
            <a:r>
              <a:rPr dirty="0"/>
              <a:t>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Zusätzliches</a:t>
            </a:r>
            <a:r>
              <a:rPr dirty="0"/>
              <a:t>.</a:t>
            </a:r>
          </a:p>
          <a:p>
            <a:r>
              <a:rPr dirty="0"/>
              <a:t>Toilette: </a:t>
            </a:r>
            <a:r>
              <a:rPr dirty="0" err="1"/>
              <a:t>kein</a:t>
            </a:r>
            <a:r>
              <a:rPr dirty="0"/>
              <a:t> </a:t>
            </a:r>
            <a:r>
              <a:rPr dirty="0" err="1"/>
              <a:t>klares</a:t>
            </a:r>
            <a:r>
              <a:rPr dirty="0"/>
              <a:t> Muster (+4, -6, +2). Das </a:t>
            </a:r>
            <a:r>
              <a:rPr dirty="0" err="1"/>
              <a:t>klassische</a:t>
            </a:r>
            <a:r>
              <a:rPr dirty="0"/>
              <a:t> WC </a:t>
            </a:r>
            <a:r>
              <a:rPr dirty="0" err="1"/>
              <a:t>schneidet</a:t>
            </a:r>
            <a:r>
              <a:rPr dirty="0"/>
              <a:t> nicht </a:t>
            </a:r>
            <a:r>
              <a:rPr dirty="0" err="1"/>
              <a:t>schlechter</a:t>
            </a:r>
            <a:r>
              <a:rPr dirty="0"/>
              <a:t> ab </a:t>
            </a:r>
            <a:r>
              <a:rPr dirty="0" err="1"/>
              <a:t>als</a:t>
            </a:r>
            <a:r>
              <a:rPr dirty="0"/>
              <a:t> das Dusch-WC.</a:t>
            </a:r>
          </a:p>
          <a:p>
            <a:endParaRPr dirty="0"/>
          </a:p>
          <a:p>
            <a:r>
              <a:rPr dirty="0" err="1"/>
              <a:t>Rechts</a:t>
            </a:r>
            <a:r>
              <a:rPr dirty="0"/>
              <a:t> der </a:t>
            </a:r>
            <a:r>
              <a:rPr dirty="0" err="1"/>
              <a:t>Preisnutzen</a:t>
            </a:r>
            <a:r>
              <a:rPr dirty="0"/>
              <a:t>: Er </a:t>
            </a:r>
            <a:r>
              <a:rPr dirty="0" err="1"/>
              <a:t>fällt</a:t>
            </a:r>
            <a:r>
              <a:rPr dirty="0"/>
              <a:t> von CHF 0 (+135) auf CHF 15 (+11) um 123 </a:t>
            </a:r>
            <a:r>
              <a:rPr dirty="0" err="1"/>
              <a:t>Punkte</a:t>
            </a:r>
            <a:r>
              <a:rPr dirty="0"/>
              <a:t> und von CHF 15 auf CHF 45 (-146) um 157 </a:t>
            </a:r>
            <a:r>
              <a:rPr dirty="0" err="1"/>
              <a:t>Punkte</a:t>
            </a:r>
            <a:r>
              <a:rPr dirty="0"/>
              <a:t>. Pro Franken </a:t>
            </a:r>
            <a:r>
              <a:rPr dirty="0" err="1"/>
              <a:t>ist</a:t>
            </a:r>
            <a:r>
              <a:rPr dirty="0"/>
              <a:t> der </a:t>
            </a:r>
            <a:r>
              <a:rPr dirty="0" err="1"/>
              <a:t>Verlust</a:t>
            </a:r>
            <a:r>
              <a:rPr dirty="0"/>
              <a:t> also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tiefen</a:t>
            </a:r>
            <a:r>
              <a:rPr dirty="0"/>
              <a:t> </a:t>
            </a:r>
            <a:r>
              <a:rPr dirty="0" err="1"/>
              <a:t>Preisen</a:t>
            </a:r>
            <a:r>
              <a:rPr dirty="0"/>
              <a:t> </a:t>
            </a:r>
            <a:r>
              <a:rPr dirty="0" err="1"/>
              <a:t>steiler</a:t>
            </a:r>
            <a:r>
              <a:rPr dirty="0"/>
              <a:t> (</a:t>
            </a:r>
            <a:r>
              <a:rPr dirty="0" err="1"/>
              <a:t>rund</a:t>
            </a:r>
            <a:r>
              <a:rPr dirty="0"/>
              <a:t> 8.2 </a:t>
            </a:r>
            <a:r>
              <a:rPr dirty="0" err="1"/>
              <a:t>Punkte</a:t>
            </a:r>
            <a:r>
              <a:rPr dirty="0"/>
              <a:t>) </a:t>
            </a:r>
            <a:r>
              <a:rPr dirty="0" err="1"/>
              <a:t>als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hohen</a:t>
            </a:r>
            <a:r>
              <a:rPr dirty="0"/>
              <a:t> (</a:t>
            </a:r>
            <a:r>
              <a:rPr dirty="0" err="1"/>
              <a:t>rund</a:t>
            </a:r>
            <a:r>
              <a:rPr dirty="0"/>
              <a:t> 5.2 </a:t>
            </a:r>
            <a:r>
              <a:rPr dirty="0" err="1"/>
              <a:t>Punkte</a:t>
            </a:r>
            <a:r>
              <a:rPr dirty="0"/>
              <a:t>).</a:t>
            </a:r>
          </a:p>
          <a:p>
            <a:endParaRPr dirty="0"/>
          </a:p>
          <a:p>
            <a:r>
              <a:rPr dirty="0" err="1"/>
              <a:t>Nutzenwerte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relative </a:t>
            </a:r>
            <a:r>
              <a:rPr dirty="0" err="1"/>
              <a:t>Grössen</a:t>
            </a:r>
            <a:r>
              <a:rPr dirty="0"/>
              <a:t>. </a:t>
            </a:r>
            <a:r>
              <a:rPr dirty="0" err="1"/>
              <a:t>Zwischen</a:t>
            </a:r>
            <a:r>
              <a:rPr dirty="0"/>
              <a:t> den </a:t>
            </a:r>
            <a:r>
              <a:rPr dirty="0" err="1"/>
              <a:t>Merkmalen</a:t>
            </a:r>
            <a:r>
              <a:rPr dirty="0"/>
              <a:t> </a:t>
            </a:r>
            <a:r>
              <a:rPr dirty="0" err="1"/>
              <a:t>darf</a:t>
            </a:r>
            <a:r>
              <a:rPr dirty="0"/>
              <a:t> man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über</a:t>
            </a:r>
            <a:r>
              <a:rPr dirty="0"/>
              <a:t> die </a:t>
            </a:r>
            <a:r>
              <a:rPr dirty="0" err="1"/>
              <a:t>Spannweite</a:t>
            </a:r>
            <a:r>
              <a:rPr dirty="0"/>
              <a:t> (</a:t>
            </a:r>
            <a:r>
              <a:rPr dirty="0" err="1"/>
              <a:t>Wichtigkeit</a:t>
            </a:r>
            <a:r>
              <a:rPr dirty="0"/>
              <a:t>) </a:t>
            </a:r>
            <a:r>
              <a:rPr dirty="0" err="1"/>
              <a:t>vergleichen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Die </a:t>
            </a:r>
            <a:r>
              <a:rPr dirty="0" err="1"/>
              <a:t>Segmentzuordnung</a:t>
            </a:r>
            <a:r>
              <a:rPr dirty="0"/>
              <a:t> </a:t>
            </a:r>
            <a:r>
              <a:rPr dirty="0" err="1"/>
              <a:t>stammt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der </a:t>
            </a:r>
            <a:r>
              <a:rPr dirty="0" err="1"/>
              <a:t>Auswertungssoftware</a:t>
            </a:r>
            <a:r>
              <a:rPr dirty="0"/>
              <a:t> (</a:t>
            </a:r>
            <a:r>
              <a:rPr dirty="0" err="1"/>
              <a:t>Lösung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Segmenten</a:t>
            </a:r>
            <a:r>
              <a:rPr dirty="0"/>
              <a:t>, Basis alle 29 </a:t>
            </a:r>
            <a:r>
              <a:rPr dirty="0" err="1"/>
              <a:t>Personen</a:t>
            </a:r>
            <a:r>
              <a:rPr dirty="0"/>
              <a:t>).</a:t>
            </a:r>
          </a:p>
          <a:p>
            <a:endParaRPr dirty="0"/>
          </a:p>
          <a:p>
            <a:r>
              <a:rPr dirty="0" err="1"/>
              <a:t>Komfortorientiert</a:t>
            </a:r>
            <a:r>
              <a:rPr dirty="0"/>
              <a:t> (10 </a:t>
            </a:r>
            <a:r>
              <a:rPr dirty="0" err="1"/>
              <a:t>Personen</a:t>
            </a:r>
            <a:r>
              <a:rPr dirty="0"/>
              <a:t>, 34 %): Preis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weniger</a:t>
            </a:r>
            <a:r>
              <a:rPr dirty="0"/>
              <a:t> </a:t>
            </a:r>
            <a:r>
              <a:rPr dirty="0" err="1"/>
              <a:t>wichtig</a:t>
            </a:r>
            <a:r>
              <a:rPr dirty="0"/>
              <a:t> (50 %), der </a:t>
            </a:r>
            <a:r>
              <a:rPr dirty="0" err="1"/>
              <a:t>Nutzenverlust</a:t>
            </a:r>
            <a:r>
              <a:rPr dirty="0"/>
              <a:t> von 0 auf 15 Franken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klein</a:t>
            </a:r>
            <a:r>
              <a:rPr dirty="0"/>
              <a:t> (46 </a:t>
            </a:r>
            <a:r>
              <a:rPr dirty="0" err="1"/>
              <a:t>Punkte</a:t>
            </a:r>
            <a:r>
              <a:rPr dirty="0"/>
              <a:t>), die </a:t>
            </a:r>
            <a:r>
              <a:rPr dirty="0" err="1"/>
              <a:t>Preisschwellen</a:t>
            </a:r>
            <a:r>
              <a:rPr dirty="0"/>
              <a:t> </a:t>
            </a:r>
            <a:r>
              <a:rPr dirty="0" err="1"/>
              <a:t>liegen</a:t>
            </a:r>
            <a:r>
              <a:rPr dirty="0"/>
              <a:t> </a:t>
            </a:r>
            <a:r>
              <a:rPr dirty="0" err="1"/>
              <a:t>hoch</a:t>
            </a:r>
            <a:r>
              <a:rPr dirty="0"/>
              <a:t> (</a:t>
            </a:r>
            <a:r>
              <a:rPr dirty="0" err="1"/>
              <a:t>Komfort</a:t>
            </a:r>
            <a:r>
              <a:rPr dirty="0"/>
              <a:t> 26.9, Premium 35.0). Am </a:t>
            </a:r>
            <a:r>
              <a:rPr dirty="0" err="1"/>
              <a:t>häufigsten</a:t>
            </a:r>
            <a:r>
              <a:rPr dirty="0"/>
              <a:t> </a:t>
            </a:r>
            <a:r>
              <a:rPr dirty="0" err="1"/>
              <a:t>Aktivurlaub</a:t>
            </a:r>
            <a:r>
              <a:rPr dirty="0"/>
              <a:t> (6 von 10).</a:t>
            </a:r>
          </a:p>
          <a:p>
            <a:endParaRPr dirty="0"/>
          </a:p>
          <a:p>
            <a:r>
              <a:rPr dirty="0" err="1"/>
              <a:t>Preissensibel</a:t>
            </a:r>
            <a:r>
              <a:rPr dirty="0"/>
              <a:t> (17 </a:t>
            </a:r>
            <a:r>
              <a:rPr dirty="0" err="1"/>
              <a:t>Personen</a:t>
            </a:r>
            <a:r>
              <a:rPr dirty="0"/>
              <a:t>, 59 %): Der Preis </a:t>
            </a:r>
            <a:r>
              <a:rPr dirty="0" err="1"/>
              <a:t>zählt</a:t>
            </a:r>
            <a:r>
              <a:rPr dirty="0"/>
              <a:t> am </a:t>
            </a:r>
            <a:r>
              <a:rPr dirty="0" err="1"/>
              <a:t>meisten</a:t>
            </a:r>
            <a:r>
              <a:rPr dirty="0"/>
              <a:t> (60 %), der </a:t>
            </a:r>
            <a:r>
              <a:rPr dirty="0" err="1"/>
              <a:t>Nutzenverlust</a:t>
            </a:r>
            <a:r>
              <a:rPr dirty="0"/>
              <a:t> von 0 auf 15 </a:t>
            </a:r>
            <a:r>
              <a:rPr dirty="0" err="1"/>
              <a:t>ist</a:t>
            </a:r>
            <a:r>
              <a:rPr dirty="0"/>
              <a:t> gross (175 </a:t>
            </a:r>
            <a:r>
              <a:rPr dirty="0" err="1"/>
              <a:t>Punkte</a:t>
            </a:r>
            <a:r>
              <a:rPr dirty="0"/>
              <a:t>), </a:t>
            </a:r>
            <a:r>
              <a:rPr dirty="0" err="1"/>
              <a:t>Schwellen</a:t>
            </a:r>
            <a:r>
              <a:rPr dirty="0"/>
              <a:t> 16.1 und 29.6. </a:t>
            </a:r>
            <a:r>
              <a:rPr dirty="0" err="1"/>
              <a:t>Reiseart</a:t>
            </a:r>
            <a:r>
              <a:rPr dirty="0"/>
              <a:t> </a:t>
            </a:r>
            <a:r>
              <a:rPr dirty="0" err="1"/>
              <a:t>gemischt</a:t>
            </a:r>
            <a:r>
              <a:rPr dirty="0"/>
              <a:t>, Wellness (6) und </a:t>
            </a:r>
            <a:r>
              <a:rPr dirty="0" err="1"/>
              <a:t>Städtereise</a:t>
            </a:r>
            <a:r>
              <a:rPr dirty="0"/>
              <a:t> (5) am </a:t>
            </a:r>
            <a:r>
              <a:rPr dirty="0" err="1"/>
              <a:t>häufigsten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Ablehnend</a:t>
            </a:r>
            <a:r>
              <a:rPr dirty="0"/>
              <a:t> (2 </a:t>
            </a:r>
            <a:r>
              <a:rPr dirty="0" err="1"/>
              <a:t>Personen</a:t>
            </a:r>
            <a:r>
              <a:rPr dirty="0"/>
              <a:t>, 7 %): Sie </a:t>
            </a:r>
            <a:r>
              <a:rPr dirty="0" err="1"/>
              <a:t>wählen</a:t>
            </a:r>
            <a:r>
              <a:rPr dirty="0"/>
              <a:t> in 79 % der </a:t>
            </a:r>
            <a:r>
              <a:rPr dirty="0" err="1"/>
              <a:t>Aufgaben</a:t>
            </a:r>
            <a:r>
              <a:rPr dirty="0"/>
              <a:t> «</a:t>
            </a:r>
            <a:r>
              <a:rPr dirty="0" err="1"/>
              <a:t>keines</a:t>
            </a:r>
            <a:r>
              <a:rPr dirty="0"/>
              <a:t>», die </a:t>
            </a:r>
            <a:r>
              <a:rPr dirty="0" err="1"/>
              <a:t>Schwellen</a:t>
            </a:r>
            <a:r>
              <a:rPr dirty="0"/>
              <a:t> </a:t>
            </a:r>
            <a:r>
              <a:rPr dirty="0" err="1"/>
              <a:t>liegen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rund</a:t>
            </a:r>
            <a:r>
              <a:rPr dirty="0"/>
              <a:t> 3 bis 5 Franken. Mit </a:t>
            </a:r>
            <a:r>
              <a:rPr dirty="0" err="1"/>
              <a:t>zwei</a:t>
            </a:r>
            <a:r>
              <a:rPr dirty="0"/>
              <a:t> </a:t>
            </a:r>
            <a:r>
              <a:rPr dirty="0" err="1"/>
              <a:t>Personen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das </a:t>
            </a:r>
            <a:r>
              <a:rPr dirty="0" err="1"/>
              <a:t>nur</a:t>
            </a:r>
            <a:r>
              <a:rPr dirty="0"/>
              <a:t> </a:t>
            </a:r>
            <a:r>
              <a:rPr dirty="0" err="1"/>
              <a:t>Einzelfälle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zeigen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es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gibt</a:t>
            </a:r>
            <a:r>
              <a:rPr dirty="0"/>
              <a:t>, die für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besseres</a:t>
            </a:r>
            <a:r>
              <a:rPr dirty="0"/>
              <a:t> Bad </a:t>
            </a:r>
            <a:r>
              <a:rPr dirty="0" err="1"/>
              <a:t>nichts</a:t>
            </a:r>
            <a:r>
              <a:rPr dirty="0"/>
              <a:t> </a:t>
            </a:r>
            <a:r>
              <a:rPr dirty="0" err="1"/>
              <a:t>zusätzlich</a:t>
            </a:r>
            <a:r>
              <a:rPr dirty="0"/>
              <a:t> </a:t>
            </a:r>
            <a:r>
              <a:rPr dirty="0" err="1"/>
              <a:t>zahlen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Die </a:t>
            </a:r>
            <a:r>
              <a:rPr dirty="0" err="1"/>
              <a:t>Segmente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beschreibend</a:t>
            </a:r>
            <a:r>
              <a:rPr dirty="0"/>
              <a:t>. Ein </a:t>
            </a:r>
            <a:r>
              <a:rPr dirty="0" err="1"/>
              <a:t>Zusammenhang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Alter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Einkommen</a:t>
            </a:r>
            <a:r>
              <a:rPr dirty="0"/>
              <a:t> </a:t>
            </a:r>
            <a:r>
              <a:rPr dirty="0" err="1"/>
              <a:t>lässt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diesen</a:t>
            </a:r>
            <a:r>
              <a:rPr dirty="0"/>
              <a:t> </a:t>
            </a:r>
            <a:r>
              <a:rPr dirty="0" err="1"/>
              <a:t>Gruppengrössen</a:t>
            </a:r>
            <a:r>
              <a:rPr dirty="0"/>
              <a:t> nicht </a:t>
            </a:r>
            <a:r>
              <a:rPr dirty="0" err="1"/>
              <a:t>belegen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Die </a:t>
            </a:r>
            <a:r>
              <a:rPr dirty="0" err="1"/>
              <a:t>Forschungsfragen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der </a:t>
            </a:r>
            <a:r>
              <a:rPr dirty="0" err="1"/>
              <a:t>Projektskizze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den </a:t>
            </a:r>
            <a:r>
              <a:rPr dirty="0" err="1"/>
              <a:t>Ergebnissen</a:t>
            </a:r>
            <a:r>
              <a:rPr dirty="0"/>
              <a:t> und </a:t>
            </a:r>
            <a:r>
              <a:rPr dirty="0" err="1"/>
              <a:t>unserer</a:t>
            </a:r>
            <a:r>
              <a:rPr dirty="0"/>
              <a:t> </a:t>
            </a:r>
            <a:r>
              <a:rPr dirty="0" err="1"/>
              <a:t>Bewertung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Beantwortet</a:t>
            </a:r>
            <a:r>
              <a:rPr dirty="0"/>
              <a:t>: Premium-</a:t>
            </a:r>
            <a:r>
              <a:rPr dirty="0" err="1"/>
              <a:t>Aufpreis</a:t>
            </a:r>
            <a:r>
              <a:rPr dirty="0"/>
              <a:t> (Gabor-Granger CHF 21.8, Conjoint CHF 29.6), </a:t>
            </a:r>
            <a:r>
              <a:rPr dirty="0" err="1"/>
              <a:t>Wichtigkeiten</a:t>
            </a:r>
            <a:r>
              <a:rPr dirty="0"/>
              <a:t>, </a:t>
            </a:r>
            <a:r>
              <a:rPr dirty="0" err="1"/>
              <a:t>Teilnutzen</a:t>
            </a:r>
            <a:r>
              <a:rPr dirty="0"/>
              <a:t>, </a:t>
            </a:r>
            <a:r>
              <a:rPr dirty="0" err="1"/>
              <a:t>bestes</a:t>
            </a:r>
            <a:r>
              <a:rPr dirty="0"/>
              <a:t> </a:t>
            </a:r>
            <a:r>
              <a:rPr dirty="0" err="1"/>
              <a:t>Gesamtprofil</a:t>
            </a:r>
            <a:r>
              <a:rPr dirty="0"/>
              <a:t>.</a:t>
            </a:r>
          </a:p>
          <a:p>
            <a:r>
              <a:rPr dirty="0"/>
              <a:t>H1 </a:t>
            </a:r>
            <a:r>
              <a:rPr dirty="0" err="1"/>
              <a:t>bestätigt</a:t>
            </a:r>
            <a:r>
              <a:rPr dirty="0"/>
              <a:t>: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zahlen</a:t>
            </a:r>
            <a:r>
              <a:rPr dirty="0"/>
              <a:t>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Aufpreis</a:t>
            </a:r>
            <a:r>
              <a:rPr dirty="0"/>
              <a:t>, </a:t>
            </a:r>
            <a:r>
              <a:rPr dirty="0" err="1"/>
              <a:t>rund</a:t>
            </a:r>
            <a:r>
              <a:rPr dirty="0"/>
              <a:t> CHF 15 bis 20. 30 % </a:t>
            </a:r>
            <a:r>
              <a:rPr dirty="0" err="1"/>
              <a:t>zahlen</a:t>
            </a:r>
            <a:r>
              <a:rPr dirty="0"/>
              <a:t> </a:t>
            </a:r>
            <a:r>
              <a:rPr dirty="0" err="1"/>
              <a:t>höchstens</a:t>
            </a:r>
            <a:r>
              <a:rPr dirty="0"/>
              <a:t> CHF 5.</a:t>
            </a:r>
          </a:p>
          <a:p>
            <a:r>
              <a:rPr dirty="0"/>
              <a:t>H2 </a:t>
            </a:r>
            <a:r>
              <a:rPr dirty="0" err="1"/>
              <a:t>teilweise</a:t>
            </a:r>
            <a:r>
              <a:rPr dirty="0"/>
              <a:t>: Es </a:t>
            </a:r>
            <a:r>
              <a:rPr dirty="0" err="1"/>
              <a:t>gibt</a:t>
            </a:r>
            <a:r>
              <a:rPr dirty="0"/>
              <a:t> </a:t>
            </a:r>
            <a:r>
              <a:rPr dirty="0" err="1"/>
              <a:t>starke</a:t>
            </a:r>
            <a:r>
              <a:rPr dirty="0"/>
              <a:t> </a:t>
            </a:r>
            <a:r>
              <a:rPr dirty="0" err="1"/>
              <a:t>Unterschiede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den </a:t>
            </a:r>
            <a:r>
              <a:rPr dirty="0" err="1"/>
              <a:t>Segmenten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sie</a:t>
            </a:r>
            <a:r>
              <a:rPr dirty="0"/>
              <a:t> </a:t>
            </a:r>
            <a:r>
              <a:rPr dirty="0" err="1"/>
              <a:t>lassen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nicht </a:t>
            </a:r>
            <a:r>
              <a:rPr dirty="0" err="1"/>
              <a:t>über</a:t>
            </a:r>
            <a:r>
              <a:rPr dirty="0"/>
              <a:t> </a:t>
            </a:r>
            <a:r>
              <a:rPr dirty="0" err="1"/>
              <a:t>Soziodemografie</a:t>
            </a:r>
            <a:r>
              <a:rPr dirty="0"/>
              <a:t> </a:t>
            </a:r>
            <a:r>
              <a:rPr dirty="0" err="1"/>
              <a:t>erklären</a:t>
            </a:r>
            <a:r>
              <a:rPr dirty="0"/>
              <a:t>.</a:t>
            </a:r>
          </a:p>
          <a:p>
            <a:r>
              <a:rPr dirty="0"/>
              <a:t>H3 </a:t>
            </a:r>
            <a:r>
              <a:rPr dirty="0" err="1"/>
              <a:t>teilweise</a:t>
            </a:r>
            <a:r>
              <a:rPr dirty="0"/>
              <a:t>: Die </a:t>
            </a:r>
            <a:r>
              <a:rPr dirty="0" err="1"/>
              <a:t>berührungslose</a:t>
            </a:r>
            <a:r>
              <a:rPr dirty="0"/>
              <a:t> </a:t>
            </a:r>
            <a:r>
              <a:rPr dirty="0" err="1"/>
              <a:t>Armatur</a:t>
            </a:r>
            <a:r>
              <a:rPr dirty="0"/>
              <a:t> </a:t>
            </a:r>
            <a:r>
              <a:rPr dirty="0" err="1"/>
              <a:t>wirkt</a:t>
            </a:r>
            <a:r>
              <a:rPr dirty="0"/>
              <a:t> </a:t>
            </a:r>
            <a:r>
              <a:rPr dirty="0" err="1"/>
              <a:t>positiv</a:t>
            </a:r>
            <a:r>
              <a:rPr dirty="0"/>
              <a:t> (CHF 2.2, </a:t>
            </a:r>
            <a:r>
              <a:rPr dirty="0" err="1"/>
              <a:t>Intervall</a:t>
            </a:r>
            <a:r>
              <a:rPr dirty="0"/>
              <a:t> 1.5 bis 2.9), das Dusch-WC nicht (</a:t>
            </a:r>
            <a:r>
              <a:rPr dirty="0" err="1"/>
              <a:t>rund</a:t>
            </a:r>
            <a:r>
              <a:rPr dirty="0"/>
              <a:t> CHF 0).</a:t>
            </a:r>
          </a:p>
          <a:p>
            <a:r>
              <a:rPr dirty="0"/>
              <a:t>H4 </a:t>
            </a:r>
            <a:r>
              <a:rPr dirty="0" err="1"/>
              <a:t>bestätigt</a:t>
            </a:r>
            <a:r>
              <a:rPr dirty="0"/>
              <a:t>: Das Premium-Bad hat die </a:t>
            </a:r>
            <a:r>
              <a:rPr dirty="0" err="1"/>
              <a:t>höchste</a:t>
            </a:r>
            <a:r>
              <a:rPr dirty="0"/>
              <a:t> </a:t>
            </a:r>
            <a:r>
              <a:rPr dirty="0" err="1"/>
              <a:t>Zahlungsbereitschaft</a:t>
            </a:r>
            <a:r>
              <a:rPr dirty="0"/>
              <a:t>, </a:t>
            </a:r>
            <a:r>
              <a:rPr dirty="0" err="1"/>
              <a:t>obwohl</a:t>
            </a:r>
            <a:r>
              <a:rPr dirty="0"/>
              <a:t> das Dusch-WC </a:t>
            </a:r>
            <a:r>
              <a:rPr dirty="0" err="1"/>
              <a:t>einzeln</a:t>
            </a:r>
            <a:r>
              <a:rPr dirty="0"/>
              <a:t> </a:t>
            </a:r>
            <a:r>
              <a:rPr dirty="0" err="1"/>
              <a:t>keinen</a:t>
            </a:r>
            <a:r>
              <a:rPr dirty="0"/>
              <a:t> Wert hat. Die </a:t>
            </a:r>
            <a:r>
              <a:rPr dirty="0" err="1"/>
              <a:t>Gesamtwirkung</a:t>
            </a:r>
            <a:r>
              <a:rPr dirty="0"/>
              <a:t> des </a:t>
            </a:r>
            <a:r>
              <a:rPr dirty="0" err="1"/>
              <a:t>Bildes</a:t>
            </a:r>
            <a:r>
              <a:rPr dirty="0"/>
              <a:t> </a:t>
            </a:r>
            <a:r>
              <a:rPr dirty="0" err="1"/>
              <a:t>scheint</a:t>
            </a:r>
            <a:r>
              <a:rPr dirty="0"/>
              <a:t> also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bringen</a:t>
            </a:r>
            <a:r>
              <a:rPr dirty="0"/>
              <a:t> </a:t>
            </a:r>
            <a:r>
              <a:rPr dirty="0" err="1"/>
              <a:t>als</a:t>
            </a:r>
            <a:r>
              <a:rPr dirty="0"/>
              <a:t> die Summe der </a:t>
            </a:r>
            <a:r>
              <a:rPr dirty="0" err="1"/>
              <a:t>Teile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Das </a:t>
            </a:r>
            <a:r>
              <a:rPr dirty="0" err="1"/>
              <a:t>beste</a:t>
            </a:r>
            <a:r>
              <a:rPr dirty="0"/>
              <a:t> </a:t>
            </a:r>
            <a:r>
              <a:rPr dirty="0" err="1"/>
              <a:t>Gesamtprofil</a:t>
            </a:r>
            <a:r>
              <a:rPr dirty="0"/>
              <a:t> </a:t>
            </a:r>
            <a:r>
              <a:rPr dirty="0" err="1"/>
              <a:t>enthält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der Toilette die </a:t>
            </a:r>
            <a:r>
              <a:rPr dirty="0" err="1"/>
              <a:t>klassische</a:t>
            </a:r>
            <a:r>
              <a:rPr dirty="0"/>
              <a:t> </a:t>
            </a:r>
            <a:r>
              <a:rPr dirty="0" err="1"/>
              <a:t>Stufe</a:t>
            </a:r>
            <a:r>
              <a:rPr dirty="0"/>
              <a:t>, </a:t>
            </a:r>
            <a:r>
              <a:rPr dirty="0" err="1"/>
              <a:t>weil</a:t>
            </a:r>
            <a:r>
              <a:rPr dirty="0"/>
              <a:t> </a:t>
            </a:r>
            <a:r>
              <a:rPr dirty="0" err="1"/>
              <a:t>diese</a:t>
            </a:r>
            <a:r>
              <a:rPr dirty="0"/>
              <a:t> </a:t>
            </a:r>
            <a:r>
              <a:rPr dirty="0" err="1"/>
              <a:t>leicht</a:t>
            </a:r>
            <a:r>
              <a:rPr dirty="0"/>
              <a:t> </a:t>
            </a:r>
            <a:r>
              <a:rPr dirty="0" err="1"/>
              <a:t>besser</a:t>
            </a:r>
            <a:r>
              <a:rPr dirty="0"/>
              <a:t> </a:t>
            </a:r>
            <a:r>
              <a:rPr dirty="0" err="1"/>
              <a:t>abschneidet</a:t>
            </a:r>
            <a:r>
              <a:rPr dirty="0"/>
              <a:t>. Der </a:t>
            </a:r>
            <a:r>
              <a:rPr dirty="0" err="1"/>
              <a:t>Unterschied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klein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Wir </a:t>
            </a:r>
            <a:r>
              <a:rPr dirty="0" err="1"/>
              <a:t>haben</a:t>
            </a:r>
            <a:r>
              <a:rPr dirty="0"/>
              <a:t> </a:t>
            </a:r>
            <a:r>
              <a:rPr dirty="0" err="1"/>
              <a:t>drei</a:t>
            </a:r>
            <a:r>
              <a:rPr dirty="0"/>
              <a:t> </a:t>
            </a:r>
            <a:r>
              <a:rPr dirty="0" err="1"/>
              <a:t>Konfigurationen</a:t>
            </a:r>
            <a:r>
              <a:rPr dirty="0"/>
              <a:t> </a:t>
            </a:r>
            <a:r>
              <a:rPr dirty="0" err="1"/>
              <a:t>simuliert</a:t>
            </a:r>
            <a:r>
              <a:rPr dirty="0"/>
              <a:t> (Basis, </a:t>
            </a:r>
            <a:r>
              <a:rPr dirty="0" err="1"/>
              <a:t>Komfort</a:t>
            </a:r>
            <a:r>
              <a:rPr dirty="0"/>
              <a:t>, Premium) und </a:t>
            </a:r>
            <a:r>
              <a:rPr dirty="0" err="1"/>
              <a:t>gefragt</a:t>
            </a:r>
            <a:r>
              <a:rPr dirty="0"/>
              <a:t>, was die 29 </a:t>
            </a:r>
            <a:r>
              <a:rPr dirty="0" err="1"/>
              <a:t>Befragten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verschiedenen</a:t>
            </a:r>
            <a:r>
              <a:rPr dirty="0"/>
              <a:t> </a:t>
            </a:r>
            <a:r>
              <a:rPr dirty="0" err="1"/>
              <a:t>Preisen</a:t>
            </a:r>
            <a:r>
              <a:rPr dirty="0"/>
              <a:t> </a:t>
            </a:r>
            <a:r>
              <a:rPr dirty="0" err="1"/>
              <a:t>wählen</a:t>
            </a:r>
            <a:r>
              <a:rPr dirty="0"/>
              <a:t> </a:t>
            </a:r>
            <a:r>
              <a:rPr dirty="0" err="1"/>
              <a:t>würden</a:t>
            </a:r>
            <a:r>
              <a:rPr dirty="0"/>
              <a:t>. Die </a:t>
            </a:r>
            <a:r>
              <a:rPr dirty="0" err="1"/>
              <a:t>Preise</a:t>
            </a:r>
            <a:r>
              <a:rPr dirty="0"/>
              <a:t> in der </a:t>
            </a:r>
            <a:r>
              <a:rPr dirty="0" err="1"/>
              <a:t>Reihenfolge</a:t>
            </a:r>
            <a:r>
              <a:rPr dirty="0"/>
              <a:t> Basis / </a:t>
            </a:r>
            <a:r>
              <a:rPr dirty="0" err="1"/>
              <a:t>Komfort</a:t>
            </a:r>
            <a:r>
              <a:rPr dirty="0"/>
              <a:t> / Premium:</a:t>
            </a:r>
          </a:p>
          <a:p>
            <a:endParaRPr dirty="0"/>
          </a:p>
          <a:p>
            <a:r>
              <a:rPr dirty="0"/>
              <a:t>Alle CHF 0: Basis 0 %, </a:t>
            </a:r>
            <a:r>
              <a:rPr dirty="0" err="1"/>
              <a:t>Komfort</a:t>
            </a:r>
            <a:r>
              <a:rPr dirty="0"/>
              <a:t> 10, Premium 86, </a:t>
            </a:r>
            <a:r>
              <a:rPr dirty="0" err="1"/>
              <a:t>keines</a:t>
            </a:r>
            <a:r>
              <a:rPr dirty="0"/>
              <a:t> 3.</a:t>
            </a:r>
          </a:p>
          <a:p>
            <a:r>
              <a:rPr dirty="0"/>
              <a:t>Alle CHF 15: 0 / 0 / 86 / 14.</a:t>
            </a:r>
          </a:p>
          <a:p>
            <a:r>
              <a:rPr dirty="0"/>
              <a:t>0 / 15 / 15: 55 / 0 / 38 / 7.</a:t>
            </a:r>
          </a:p>
          <a:p>
            <a:r>
              <a:rPr dirty="0"/>
              <a:t>0 / 15 / 45: 59 / 35 / 0 / 7.</a:t>
            </a:r>
          </a:p>
          <a:p>
            <a:r>
              <a:rPr dirty="0"/>
              <a:t>0 / 0 / 15: 3 / 72 / 21 / 3.</a:t>
            </a:r>
          </a:p>
          <a:p>
            <a:endParaRPr dirty="0"/>
          </a:p>
          <a:p>
            <a:r>
              <a:rPr dirty="0"/>
              <a:t>Kurz </a:t>
            </a:r>
            <a:r>
              <a:rPr dirty="0" err="1"/>
              <a:t>gesagt</a:t>
            </a:r>
            <a:r>
              <a:rPr dirty="0"/>
              <a:t>: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zahlen</a:t>
            </a:r>
            <a:r>
              <a:rPr dirty="0"/>
              <a:t> für </a:t>
            </a:r>
            <a:r>
              <a:rPr dirty="0" err="1"/>
              <a:t>Qualität</a:t>
            </a:r>
            <a:r>
              <a:rPr dirty="0"/>
              <a:t>, </a:t>
            </a:r>
            <a:r>
              <a:rPr dirty="0" err="1"/>
              <a:t>aber</a:t>
            </a:r>
            <a:r>
              <a:rPr dirty="0"/>
              <a:t> </a:t>
            </a:r>
            <a:r>
              <a:rPr dirty="0" err="1"/>
              <a:t>nur</a:t>
            </a:r>
            <a:r>
              <a:rPr dirty="0"/>
              <a:t>, </a:t>
            </a:r>
            <a:r>
              <a:rPr dirty="0" err="1"/>
              <a:t>solange</a:t>
            </a:r>
            <a:r>
              <a:rPr dirty="0"/>
              <a:t> der Abstand </a:t>
            </a:r>
            <a:r>
              <a:rPr dirty="0" err="1"/>
              <a:t>klein</a:t>
            </a:r>
            <a:r>
              <a:rPr dirty="0"/>
              <a:t> </a:t>
            </a:r>
            <a:r>
              <a:rPr dirty="0" err="1"/>
              <a:t>bleibt</a:t>
            </a:r>
            <a:r>
              <a:rPr dirty="0"/>
              <a:t> und der </a:t>
            </a:r>
            <a:r>
              <a:rPr dirty="0" err="1"/>
              <a:t>Mehrwert</a:t>
            </a:r>
            <a:r>
              <a:rPr dirty="0"/>
              <a:t> </a:t>
            </a:r>
            <a:r>
              <a:rPr dirty="0" err="1"/>
              <a:t>sichtbar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. Wenn das </a:t>
            </a:r>
            <a:r>
              <a:rPr dirty="0" err="1"/>
              <a:t>Komfort</a:t>
            </a:r>
            <a:r>
              <a:rPr dirty="0"/>
              <a:t>-Bad </a:t>
            </a:r>
            <a:r>
              <a:rPr dirty="0" err="1"/>
              <a:t>gleich</a:t>
            </a:r>
            <a:r>
              <a:rPr dirty="0"/>
              <a:t> </a:t>
            </a:r>
            <a:r>
              <a:rPr dirty="0" err="1"/>
              <a:t>viel</a:t>
            </a:r>
            <a:r>
              <a:rPr dirty="0"/>
              <a:t> </a:t>
            </a:r>
            <a:r>
              <a:rPr dirty="0" err="1"/>
              <a:t>kostet</a:t>
            </a:r>
            <a:r>
              <a:rPr dirty="0"/>
              <a:t> </a:t>
            </a:r>
            <a:r>
              <a:rPr dirty="0" err="1"/>
              <a:t>wie</a:t>
            </a:r>
            <a:r>
              <a:rPr dirty="0"/>
              <a:t> das Basis-Bad, </a:t>
            </a:r>
            <a:r>
              <a:rPr dirty="0" err="1"/>
              <a:t>nimmt</a:t>
            </a:r>
            <a:r>
              <a:rPr dirty="0"/>
              <a:t> es fast </a:t>
            </a:r>
            <a:r>
              <a:rPr dirty="0" err="1"/>
              <a:t>jeder</a:t>
            </a:r>
            <a:r>
              <a:rPr dirty="0"/>
              <a:t>. Bei 45 Franken </a:t>
            </a:r>
            <a:r>
              <a:rPr dirty="0" err="1"/>
              <a:t>Aufpreis</a:t>
            </a:r>
            <a:r>
              <a:rPr dirty="0"/>
              <a:t> für Premium </a:t>
            </a:r>
            <a:r>
              <a:rPr dirty="0" err="1"/>
              <a:t>wechseln</a:t>
            </a:r>
            <a:r>
              <a:rPr dirty="0"/>
              <a:t> die </a:t>
            </a:r>
            <a:r>
              <a:rPr dirty="0" err="1"/>
              <a:t>Gäste</a:t>
            </a:r>
            <a:r>
              <a:rPr dirty="0"/>
              <a:t>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günstigsten</a:t>
            </a:r>
            <a:r>
              <a:rPr dirty="0"/>
              <a:t> Bad.</a:t>
            </a:r>
          </a:p>
          <a:p>
            <a:endParaRPr dirty="0"/>
          </a:p>
          <a:p>
            <a:r>
              <a:rPr dirty="0"/>
              <a:t>Regel: First Choice </a:t>
            </a:r>
            <a:r>
              <a:rPr dirty="0" err="1"/>
              <a:t>über</a:t>
            </a:r>
            <a:r>
              <a:rPr dirty="0"/>
              <a:t> die </a:t>
            </a:r>
            <a:r>
              <a:rPr dirty="0" err="1"/>
              <a:t>individuellen</a:t>
            </a:r>
            <a:r>
              <a:rPr dirty="0"/>
              <a:t> </a:t>
            </a:r>
            <a:r>
              <a:rPr dirty="0" err="1"/>
              <a:t>Nutzenwerte</a:t>
            </a:r>
            <a:r>
              <a:rPr dirty="0"/>
              <a:t> (Share of Preference). Eine Person </a:t>
            </a:r>
            <a:r>
              <a:rPr dirty="0" err="1"/>
              <a:t>entspricht</a:t>
            </a:r>
            <a:r>
              <a:rPr dirty="0"/>
              <a:t> 3.4 </a:t>
            </a:r>
            <a:r>
              <a:rPr dirty="0" err="1"/>
              <a:t>Prozentpunkten</a:t>
            </a:r>
            <a:r>
              <a:rPr dirty="0"/>
              <a:t>, </a:t>
            </a:r>
            <a:r>
              <a:rPr dirty="0" err="1"/>
              <a:t>Rundungsdifferenzen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möglich</a:t>
            </a:r>
            <a:r>
              <a:rPr dirty="0"/>
              <a:t>. Bootstrap-</a:t>
            </a:r>
            <a:r>
              <a:rPr dirty="0" err="1"/>
              <a:t>Intervalle</a:t>
            </a:r>
            <a:r>
              <a:rPr dirty="0"/>
              <a:t> </a:t>
            </a:r>
            <a:r>
              <a:rPr dirty="0" err="1"/>
              <a:t>sind</a:t>
            </a:r>
            <a:r>
              <a:rPr dirty="0"/>
              <a:t> </a:t>
            </a:r>
            <a:r>
              <a:rPr dirty="0" err="1"/>
              <a:t>breit</a:t>
            </a:r>
            <a:r>
              <a:rPr dirty="0"/>
              <a:t>, </a:t>
            </a:r>
            <a:r>
              <a:rPr dirty="0" err="1"/>
              <a:t>zum</a:t>
            </a:r>
            <a:r>
              <a:rPr dirty="0"/>
              <a:t> </a:t>
            </a:r>
            <a:r>
              <a:rPr dirty="0" err="1"/>
              <a:t>Beispiel</a:t>
            </a:r>
            <a:r>
              <a:rPr dirty="0"/>
              <a:t> Premium </a:t>
            </a:r>
            <a:r>
              <a:rPr dirty="0" err="1"/>
              <a:t>bei</a:t>
            </a:r>
            <a:r>
              <a:rPr dirty="0"/>
              <a:t> CHF 15: 86 % (72 bis 97).</a:t>
            </a:r>
          </a:p>
          <a:p>
            <a:r>
              <a:rPr dirty="0"/>
              <a:t>Keine </a:t>
            </a:r>
            <a:r>
              <a:rPr dirty="0" err="1"/>
              <a:t>Wettbewerber</a:t>
            </a:r>
            <a:r>
              <a:rPr dirty="0"/>
              <a:t>,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Verfügbarkeit</a:t>
            </a:r>
            <a:r>
              <a:rPr dirty="0"/>
              <a:t>,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Gewichtung</a:t>
            </a:r>
            <a:r>
              <a:rPr dirty="0"/>
              <a:t>. Keine-Wahl-Quote </a:t>
            </a:r>
            <a:r>
              <a:rPr dirty="0" err="1"/>
              <a:t>insgesamt</a:t>
            </a:r>
            <a:r>
              <a:rPr dirty="0"/>
              <a:t> 10.8 % (22 von 203 </a:t>
            </a:r>
            <a:r>
              <a:rPr dirty="0" err="1"/>
              <a:t>Entscheidungen</a:t>
            </a:r>
            <a:r>
              <a:rPr dirty="0"/>
              <a:t>). Die Simulation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Szenarienwerkzeug</a:t>
            </a:r>
            <a:r>
              <a:rPr dirty="0"/>
              <a:t> und </a:t>
            </a:r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Marktanteilsprognose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517B5C-A8CF-6A72-2178-F922D6610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B0F4C9-FE11-3DD8-7D15-0A9B77306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B78050-58AE-7F74-8017-A429E1B0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5A2FFC-0936-107C-F527-25568D51C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8DF31E-A6FC-89B5-12B7-A336C050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979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6AFEF8-AC9B-CA98-3C91-11048EAD9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BFA121-43B7-076A-C7D6-89B52CF3E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676F86-4755-953B-D5CD-9AF35B0BA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643E44-D658-A488-7672-2FFB71E2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DA041F-A4C4-5FE2-D664-1DCB1735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82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C120D6-F6A1-13F0-88F3-87D2FB5F4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55D67D-5F16-8866-D43A-E78A8B9FB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E0AAF1-4E54-56CC-2318-37590F88B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5494BA-8977-0669-D59F-18CADC52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87FD70-1D79-3316-CFAA-6029A915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7895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DB1F8A-6454-620B-212D-090219A3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C1F34A-DC4E-950E-01D2-1A95460D7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61BEB8-F700-A2A7-7FFB-2F40EEAFE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D0CFF4-0A60-2F2C-0960-80FE6B7B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545F08-5C08-F20D-4B10-FED2A84F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53F25F-C80D-7090-558E-E5B3695A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5526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EE587-1131-644E-7C6F-CACB6DCE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9F0622-BFAD-1215-A824-1A8D81DD6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CE8906-75EC-77D6-B6B9-173F70C87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7E88E96-9506-CC8B-6C83-823A84FE6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F7831B5-E590-E04F-A78D-94B6EC5E6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A30972-B325-2FC9-507C-B02B64AE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80A3051-327F-4066-4109-5D7C5823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A2D7238-D953-A9CC-588B-748006D1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686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11318-4DDB-9C6B-2010-444733FC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3D5464-861F-BFEA-018E-85E3279D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E44986-2503-89ED-0D16-B172725FD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E3E8BB6-488A-6E34-6193-03A2F701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6086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792DE5-0DFC-266B-0EC9-5AC99AE78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415F81-D5BF-8E07-92F5-897BD774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FA605E-39F6-358A-8FBB-69883109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1147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72D9CC-4BF6-EE93-6E57-C01DE8335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6408C4-4CEC-A8C2-18E3-C3E30FFC1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653482-81B6-A093-5B60-3266A5775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794EF8-081E-569F-E5A4-116C1FDC8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067D03-4CFB-4B43-3672-814FE560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46E924-0443-CA23-4B23-2F713461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9483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9C6AD8-BAA7-ABF7-A050-4BA3FDF52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2AC09F-60D5-26C6-AE4A-264A6CC885F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6520EB-9DE2-8D1A-06D5-FAB724070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8BBC49-3D4D-2C78-5AF1-CD5493BE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1EA37C-6E2E-01D5-8F3E-B3D5E6F7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33BA9E-619E-B7E8-0289-861DAE7C7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3679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4C9143-199C-932E-A42B-B69FCA2AA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274916-8B5F-6F64-979F-EF2C028F0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97D6E0-DE36-1C32-6C5E-1C47A9D2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9A08C5-8568-4728-11DB-9F9C2346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45E828-AA58-C012-140B-569FC61C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112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3AA199-FBC2-4849-C846-72D1FF963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E86A66-6E73-C1AC-F1B2-6CA01D23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583BC0-99A8-8E6C-6C3D-68D70DDD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CAEB3F-A4EE-D978-67DF-192C56538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7A4404-838A-FBD8-D7C4-C8DEA757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5813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elfolie Illustration_blau Verlauf">
    <p:bg>
      <p:bgPr>
        <a:gradFill flip="none" rotWithShape="1">
          <a:gsLst>
            <a:gs pos="0">
              <a:srgbClr val="002B58"/>
            </a:gs>
            <a:gs pos="100000">
              <a:srgbClr val="0064A6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8432A1D-CAF7-0291-3224-39F714136A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330639" y="2584040"/>
            <a:ext cx="10082312" cy="28083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CH" dirty="0"/>
              <a:t>Illustration/Bild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8C9C23A-4C38-3C05-BD01-A5FAE98403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white">
          <a:xfrm>
            <a:off x="0" y="6021917"/>
            <a:ext cx="12192000" cy="83608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square" lIns="48000" tIns="48000" rIns="48000" bIns="48000" rtlCol="0" anchor="ctr" anchorCtr="1"/>
          <a:lstStyle/>
          <a:p>
            <a:pPr algn="l"/>
            <a:endParaRPr lang="de-CH" sz="2400" b="1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3139868" y="2805656"/>
            <a:ext cx="5912264" cy="254355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691630D-F24F-7D4F-C384-E76E86C614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 bwMode="black">
          <a:xfrm>
            <a:off x="236864" y="240463"/>
            <a:ext cx="856913" cy="896587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5E2474AE-90C0-4751-0444-7FCF27298C0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096000" y="6190311"/>
            <a:ext cx="0" cy="5990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8AB7FDEB-1A26-A76C-D951-F09D3C287F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30639" y="1123951"/>
            <a:ext cx="10454053" cy="95112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>
              <a:defRPr sz="2933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Titel, Arial </a:t>
            </a:r>
            <a:r>
              <a:rPr lang="de-DE" dirty="0" err="1"/>
              <a:t>bold</a:t>
            </a:r>
            <a:r>
              <a:rPr lang="de-DE" dirty="0"/>
              <a:t>, 22pt</a:t>
            </a:r>
            <a:br>
              <a:rPr lang="de-DE" dirty="0"/>
            </a:br>
            <a:r>
              <a:rPr lang="de-DE" dirty="0"/>
              <a:t>2. Zeile Titel, Arial </a:t>
            </a:r>
            <a:r>
              <a:rPr lang="de-DE" dirty="0" err="1"/>
              <a:t>bold</a:t>
            </a:r>
            <a:r>
              <a:rPr lang="de-DE" dirty="0"/>
              <a:t> 22 </a:t>
            </a:r>
            <a:r>
              <a:rPr lang="de-DE" dirty="0" err="1"/>
              <a:t>pt</a:t>
            </a:r>
            <a:endParaRPr lang="fr-FR" dirty="0"/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10A543AE-2C2C-FF13-00D2-C3467FFE2D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240353" y="6229533"/>
            <a:ext cx="5663625" cy="338667"/>
          </a:xfrm>
          <a:prstGeom prst="rect">
            <a:avLst/>
          </a:prstGeom>
          <a:ln>
            <a:noFill/>
          </a:ln>
        </p:spPr>
        <p:txBody>
          <a:bodyPr/>
          <a:lstStyle>
            <a:lvl1pPr marL="0" marR="0" indent="0" algn="l" defTabSz="1038631" rtl="0" eaLnBrk="1" fontAlgn="auto" latinLnBrk="0" hangingPunct="1">
              <a:lnSpc>
                <a:spcPct val="100000"/>
              </a:lnSpc>
              <a:spcBef>
                <a:spcPts val="9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33" b="1" baseline="0">
                <a:solidFill>
                  <a:srgbClr val="012C59"/>
                </a:solidFill>
              </a:defRPr>
            </a:lvl1pPr>
            <a:lvl2pPr marL="207365" indent="0">
              <a:buFontTx/>
              <a:buNone/>
              <a:defRPr sz="1733"/>
            </a:lvl2pPr>
            <a:lvl3pPr marL="405715" indent="0">
              <a:buFontTx/>
              <a:buNone/>
              <a:defRPr sz="1733"/>
            </a:lvl3pPr>
            <a:lvl4pPr>
              <a:buFontTx/>
              <a:buNone/>
              <a:defRPr sz="1733"/>
            </a:lvl4pPr>
            <a:lvl5pPr>
              <a:buFontTx/>
              <a:buNone/>
              <a:defRPr sz="1733"/>
            </a:lvl5pPr>
          </a:lstStyle>
          <a:p>
            <a:r>
              <a:rPr lang="de-CH" dirty="0"/>
              <a:t>Titel Vorname Name (Arial </a:t>
            </a:r>
            <a:r>
              <a:rPr lang="de-CH" dirty="0" err="1"/>
              <a:t>bold</a:t>
            </a:r>
            <a:r>
              <a:rPr lang="de-CH" dirty="0"/>
              <a:t>, 10 </a:t>
            </a:r>
            <a:r>
              <a:rPr lang="de-CH" dirty="0" err="1"/>
              <a:t>pt</a:t>
            </a:r>
            <a:r>
              <a:rPr lang="de-CH" dirty="0"/>
              <a:t>)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70F0739-A4F5-D93D-3F6D-0279B95ADF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239349" y="6510622"/>
            <a:ext cx="5663619" cy="205501"/>
          </a:xfrm>
          <a:prstGeom prst="rect">
            <a:avLst/>
          </a:prstGeom>
          <a:ln>
            <a:noFill/>
          </a:ln>
        </p:spPr>
        <p:txBody>
          <a:bodyPr/>
          <a:lstStyle>
            <a:lvl1pPr marL="0" marR="0" indent="0" algn="l" defTabSz="1038631" rtl="0" eaLnBrk="1" fontAlgn="auto" latinLnBrk="0" hangingPunct="1">
              <a:lnSpc>
                <a:spcPct val="100000"/>
              </a:lnSpc>
              <a:spcBef>
                <a:spcPts val="909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33" baseline="0">
                <a:solidFill>
                  <a:srgbClr val="012C59"/>
                </a:solidFill>
              </a:defRPr>
            </a:lvl1pPr>
            <a:lvl2pPr marL="207365" indent="0">
              <a:buFontTx/>
              <a:buNone/>
              <a:defRPr sz="1733"/>
            </a:lvl2pPr>
            <a:lvl3pPr marL="405715" indent="0">
              <a:buFontTx/>
              <a:buNone/>
              <a:defRPr sz="1733"/>
            </a:lvl3pPr>
            <a:lvl4pPr>
              <a:buFontTx/>
              <a:buNone/>
              <a:defRPr sz="1733"/>
            </a:lvl4pPr>
            <a:lvl5pPr>
              <a:buFontTx/>
              <a:buNone/>
              <a:defRPr sz="1733"/>
            </a:lvl5pPr>
          </a:lstStyle>
          <a:p>
            <a:r>
              <a:rPr lang="de-CH" dirty="0"/>
              <a:t>vorname.name@zhaw.ch, TT Monat JJJJ (Arial, 10 </a:t>
            </a:r>
            <a:r>
              <a:rPr lang="de-CH" dirty="0" err="1"/>
              <a:t>pt</a:t>
            </a:r>
            <a:r>
              <a:rPr lang="de-CH" dirty="0"/>
              <a:t>)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CFF8F5F-B8BD-49D1-04E6-303DF4C57B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6119" y="381100"/>
            <a:ext cx="1924981" cy="388789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1AB9BFD-7151-CDE3-1A5E-7B27E19031FC}"/>
              </a:ext>
            </a:extLst>
          </p:cNvPr>
          <p:cNvGrpSpPr/>
          <p:nvPr userDrawn="1"/>
        </p:nvGrpSpPr>
        <p:grpSpPr>
          <a:xfrm>
            <a:off x="6843837" y="6117298"/>
            <a:ext cx="4735056" cy="672076"/>
            <a:chOff x="5132878" y="4587973"/>
            <a:chExt cx="3551292" cy="504057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63F338F0-8551-5BA5-EA09-B6B15140BE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32878" y="4714785"/>
              <a:ext cx="898828" cy="302606"/>
            </a:xfrm>
            <a:prstGeom prst="rect">
              <a:avLst/>
            </a:prstGeom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96DC03B2-1B69-1C2E-098E-BE57138659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72076" y="4754214"/>
              <a:ext cx="912094" cy="268263"/>
            </a:xfrm>
            <a:prstGeom prst="rect">
              <a:avLst/>
            </a:prstGeom>
          </p:spPr>
        </p:pic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9E70807A-033A-4276-B751-DA3062E1B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15176" b="6480"/>
            <a:stretch/>
          </p:blipFill>
          <p:spPr>
            <a:xfrm>
              <a:off x="6466954" y="4587973"/>
              <a:ext cx="891978" cy="5040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99265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25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 txBox="1">
            <a:spLocks/>
          </p:cNvSpPr>
          <p:nvPr userDrawn="1"/>
        </p:nvSpPr>
        <p:spPr>
          <a:xfrm>
            <a:off x="434272" y="257639"/>
            <a:ext cx="11319592" cy="725684"/>
          </a:xfrm>
          <a:prstGeom prst="rect">
            <a:avLst/>
          </a:prstGeom>
        </p:spPr>
        <p:txBody>
          <a:bodyPr lIns="95385" tIns="47693" rIns="95385" bIns="47693" anchor="ctr" anchorCtr="0"/>
          <a:lstStyle>
            <a:lvl1pPr marL="0" marR="0" indent="0" algn="l" defTabSz="995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88942" indent="-190149" algn="l" defTabSz="995690" rtl="0" eaLnBrk="1" latinLnBrk="0" hangingPunct="1">
              <a:spcBef>
                <a:spcPts val="871"/>
              </a:spcBef>
              <a:buFont typeface="Symbol" pitchFamily="18" charset="2"/>
              <a:buChar char="-"/>
              <a:defRPr sz="2000" kern="1200">
                <a:solidFill>
                  <a:srgbClr val="002C59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87734" indent="-198793" algn="l" defTabSz="995690" rtl="0" eaLnBrk="1" latinLnBrk="0" hangingPunct="1">
              <a:spcBef>
                <a:spcPts val="871"/>
              </a:spcBef>
              <a:buFont typeface="Symbol" pitchFamily="18" charset="2"/>
              <a:buChar char="-"/>
              <a:defRPr sz="1700" kern="1200">
                <a:solidFill>
                  <a:srgbClr val="002C59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493535" indent="0" algn="l" defTabSz="995690" rtl="0" eaLnBrk="1" latinLnBrk="0" hangingPunct="1">
              <a:spcBef>
                <a:spcPct val="20000"/>
              </a:spcBef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indent="0" algn="l" defTabSz="995690" rtl="0" eaLnBrk="1" latinLnBrk="0" hangingPunct="1">
              <a:spcBef>
                <a:spcPct val="20000"/>
              </a:spcBef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38148" indent="-248923" algn="l" defTabSz="9956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35993" indent="-248923" algn="l" defTabSz="9956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33838" indent="-248923" algn="l" defTabSz="9956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31683" indent="-248923" algn="l" defTabSz="99569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667" b="0" spc="3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487069" y="470555"/>
            <a:ext cx="11319592" cy="76244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>
              <a:defRPr sz="2667"/>
            </a:lvl1pPr>
          </a:lstStyle>
          <a:p>
            <a:r>
              <a:rPr lang="de-DE"/>
              <a:t>Mastertitelformat bearbeiten</a:t>
            </a:r>
            <a:endParaRPr lang="fr-FR" dirty="0"/>
          </a:p>
        </p:txBody>
      </p:sp>
      <p:sp>
        <p:nvSpPr>
          <p:cNvPr id="2" name="Foliennummernplatzhalter 6">
            <a:extLst>
              <a:ext uri="{FF2B5EF4-FFF2-40B4-BE49-F238E27FC236}">
                <a16:creationId xmlns:a16="http://schemas.microsoft.com/office/drawing/2014/main" id="{2F823909-434A-D95B-7FD9-70E8E90C2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43855" y="6575852"/>
            <a:ext cx="948423" cy="1436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lang="de-CH" sz="933" smtClean="0">
                <a:solidFill>
                  <a:srgbClr val="012C59"/>
                </a:solidFill>
              </a:defRPr>
            </a:lvl1pPr>
          </a:lstStyle>
          <a:p>
            <a:pPr algn="ctr"/>
            <a:fld id="{05F9AC53-F790-4868-97E7-45E3866EE614}" type="slidenum">
              <a:rPr lang="de-CH" smtClean="0"/>
              <a:pPr algn="ctr"/>
              <a:t>‹Nr.›</a:t>
            </a:fld>
            <a:r>
              <a:rPr lang="de-CH" dirty="0"/>
              <a:t> </a:t>
            </a:r>
          </a:p>
        </p:txBody>
      </p:sp>
      <p:sp>
        <p:nvSpPr>
          <p:cNvPr id="3" name="Datumsplatzhalter 1">
            <a:extLst>
              <a:ext uri="{FF2B5EF4-FFF2-40B4-BE49-F238E27FC236}">
                <a16:creationId xmlns:a16="http://schemas.microsoft.com/office/drawing/2014/main" id="{671F6185-9E0A-9111-A9FA-7850661A9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8951" y="6575852"/>
            <a:ext cx="1723896" cy="1436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de-CH" sz="933" smtClean="0">
                <a:solidFill>
                  <a:srgbClr val="012C59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ußzeilenplatzhalter 7">
            <a:extLst>
              <a:ext uri="{FF2B5EF4-FFF2-40B4-BE49-F238E27FC236}">
                <a16:creationId xmlns:a16="http://schemas.microsoft.com/office/drawing/2014/main" id="{4BEAB1BF-F8EE-7B04-9D92-0CF21ABDE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97106" y="6575852"/>
            <a:ext cx="3862489" cy="14362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>
                <a:solidFill>
                  <a:srgbClr val="012C59"/>
                </a:solidFill>
              </a:rPr>
              <a:t>CAS Pricing</a:t>
            </a:r>
            <a:endParaRPr lang="de-CH" dirty="0">
              <a:solidFill>
                <a:srgbClr val="012C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609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>
          <p15:clr>
            <a:srgbClr val="FBAE40"/>
          </p15:clr>
        </p15:guide>
        <p15:guide id="2" orient="horz" pos="78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45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402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1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40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UNKEL"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70560" y="670560"/>
            <a:ext cx="10850880" cy="1584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733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733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FFFFFF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FFFFFF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rgbClr val="FFFFFF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448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00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9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UNKEL"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670560" y="670560"/>
            <a:ext cx="10850880" cy="1584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733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733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FFFFFF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FFFFFF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rgbClr val="FFFFFF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801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923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438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106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82880"/>
            <a:ext cx="11704320" cy="99974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25184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17.10.2026</a:t>
            </a:r>
            <a:endParaRPr lang="en-US" sz="1067" dirty="0"/>
          </a:p>
        </p:txBody>
      </p:sp>
      <p:sp>
        <p:nvSpPr>
          <p:cNvPr id="5" name="Text 1"/>
          <p:cNvSpPr/>
          <p:nvPr/>
        </p:nvSpPr>
        <p:spPr>
          <a:xfrm>
            <a:off x="1950720" y="6425184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rgbClr val="5A6778"/>
                </a:solidFill>
              </a:rPr>
              <a:t>CAS Pricing | Leistungsnachweis 1 | Gruppe 2</a:t>
            </a:r>
            <a:endParaRPr lang="en-US" sz="1067" dirty="0"/>
          </a:p>
        </p:txBody>
      </p:sp>
      <p:sp>
        <p:nvSpPr>
          <p:cNvPr id="6" name="Text 2"/>
          <p:cNvSpPr/>
          <p:nvPr/>
        </p:nvSpPr>
        <p:spPr>
          <a:xfrm>
            <a:off x="8412480" y="6425184"/>
            <a:ext cx="323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67" b="1" dirty="0">
                <a:solidFill>
                  <a:schemeClr val="tx2"/>
                </a:solidFill>
              </a:rPr>
              <a:t>ZHAW School of Management and Law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4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92A5037-D532-D95F-4D64-8DFFFAE64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B54239-2EAA-EFC0-71DD-E9AD1902F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9CB314-B1A0-682F-EFEC-B10D2316A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49613B-9FE5-4A61-B5EE-2728C9E39596}" type="datetimeFigureOut">
              <a:rPr lang="de-CH" smtClean="0"/>
              <a:t>14.10.2026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81A1BA-1104-0CB1-1A95-B6CB31D7D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3493C-B308-C09F-C101-EFBB8F529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D4F9F-DB3A-4DA1-90AD-FF0D96F066E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4617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6E575C8-6F60-5B07-5B23-9DD943457F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58914764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5" imgH="405" progId="TCLayout.ActiveDocument.1">
                  <p:embed/>
                </p:oleObj>
              </mc:Choice>
              <mc:Fallback>
                <p:oleObj name="think-cell Folie" r:id="rId4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E575C8-6F60-5B07-5B23-9DD943457F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12">
            <a:extLst>
              <a:ext uri="{FF2B5EF4-FFF2-40B4-BE49-F238E27FC236}">
                <a16:creationId xmlns:a16="http://schemas.microsoft.com/office/drawing/2014/main" id="{9E899916-B2E2-4C53-813A-CE5AB56875B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235824" y="239744"/>
            <a:ext cx="11716261" cy="1200000"/>
          </a:xfrm>
          <a:prstGeom prst="rect">
            <a:avLst/>
          </a:prstGeom>
          <a:gradFill flip="none" rotWithShape="1">
            <a:gsLst>
              <a:gs pos="0">
                <a:srgbClr val="002B58"/>
              </a:gs>
              <a:gs pos="100000">
                <a:srgbClr val="0064A6"/>
              </a:gs>
            </a:gsLst>
            <a:lin ang="0" scaled="1"/>
            <a:tileRect/>
          </a:gradFill>
          <a:ln>
            <a:noFill/>
          </a:ln>
        </p:spPr>
        <p:txBody>
          <a:bodyPr lIns="0" tIns="0" rIns="0" bIns="0"/>
          <a:lstStyle/>
          <a:p>
            <a:endParaRPr lang="de-DE" sz="2400">
              <a:solidFill>
                <a:srgbClr val="000000"/>
              </a:solidFill>
              <a:ea typeface="ヒラギノ角ゴ Pro W3" charset="0"/>
              <a:cs typeface="ヒラギノ角ゴ Pro W3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6841C0-57AD-4613-AF97-70897D375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367" y="1653117"/>
            <a:ext cx="11328295" cy="43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 dirty="0"/>
              <a:t>Mastertextformat bearbeiten</a:t>
            </a:r>
          </a:p>
          <a:p>
            <a:pPr lvl="1"/>
            <a:r>
              <a:rPr lang="de-CH" noProof="0" dirty="0"/>
              <a:t>Zweite Ebene</a:t>
            </a:r>
          </a:p>
          <a:p>
            <a:pPr lvl="2"/>
            <a:r>
              <a:rPr lang="de-CH" noProof="0" dirty="0"/>
              <a:t>Dritte Ebene</a:t>
            </a:r>
          </a:p>
          <a:p>
            <a:pPr lvl="3"/>
            <a:r>
              <a:rPr lang="de-CH" noProof="0" dirty="0"/>
              <a:t>Vierte Ebene</a:t>
            </a:r>
          </a:p>
          <a:p>
            <a:pPr lvl="4"/>
            <a:r>
              <a:rPr lang="de-CH" noProof="0" dirty="0"/>
              <a:t>Fünfte Ebene</a:t>
            </a: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F1A53D24-7C78-4BAC-A0F2-BF75BD52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1" y="470554"/>
            <a:ext cx="11317711" cy="76244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de-CH" noProof="0" dirty="0"/>
              <a:t>Titelmasterformat durch Klicken bearbeiten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C4B8AFA-6379-EB2D-ED6E-89A72BD75C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067201" y="6581766"/>
            <a:ext cx="2748167" cy="145852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F0D54A-265D-EB01-D998-65082C7AF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43855" y="6575852"/>
            <a:ext cx="948423" cy="1436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lang="de-CH" sz="933" smtClean="0">
                <a:solidFill>
                  <a:srgbClr val="012C59"/>
                </a:solidFill>
              </a:defRPr>
            </a:lvl1pPr>
          </a:lstStyle>
          <a:p>
            <a:pPr algn="ctr"/>
            <a:fld id="{05F9AC53-F790-4868-97E7-45E3866EE614}" type="slidenum">
              <a:rPr lang="de-CH" smtClean="0"/>
              <a:pPr algn="ctr"/>
              <a:t>‹Nr.›</a:t>
            </a:fld>
            <a:r>
              <a:rPr lang="de-CH" dirty="0"/>
              <a:t> </a:t>
            </a:r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3A5CF6EB-5CBD-3EA9-F997-D00CC4490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8951" y="6575852"/>
            <a:ext cx="1723896" cy="1436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de-CH" sz="933" smtClean="0">
                <a:solidFill>
                  <a:srgbClr val="012C59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0" name="Fußzeilenplatzhalter 7">
            <a:extLst>
              <a:ext uri="{FF2B5EF4-FFF2-40B4-BE49-F238E27FC236}">
                <a16:creationId xmlns:a16="http://schemas.microsoft.com/office/drawing/2014/main" id="{D63CCDD5-C475-631D-051B-F7A7DC1D9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97106" y="6575852"/>
            <a:ext cx="3862489" cy="14362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CH">
                <a:solidFill>
                  <a:srgbClr val="012C59"/>
                </a:solidFill>
              </a:rPr>
              <a:t>CAS Pricing</a:t>
            </a:r>
            <a:endParaRPr lang="de-CH" dirty="0">
              <a:solidFill>
                <a:srgbClr val="012C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69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dt="0"/>
  <p:txStyles>
    <p:titleStyle>
      <a:lvl1pPr algn="l" defTabSz="1038631" rtl="0" eaLnBrk="1" latinLnBrk="0" hangingPunct="1">
        <a:spcBef>
          <a:spcPct val="0"/>
        </a:spcBef>
        <a:buNone/>
        <a:defRPr sz="2667" b="1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37061" indent="-237061" algn="l" defTabSz="1038631" rtl="0" eaLnBrk="1" latinLnBrk="0" hangingPunct="1">
        <a:lnSpc>
          <a:spcPct val="100000"/>
        </a:lnSpc>
        <a:spcBef>
          <a:spcPts val="0"/>
        </a:spcBef>
        <a:buFont typeface="Symbol" pitchFamily="18" charset="2"/>
        <a:buChar char="-"/>
        <a:tabLst/>
        <a:defRPr sz="2133" kern="1200">
          <a:solidFill>
            <a:srgbClr val="012C59"/>
          </a:solidFill>
          <a:latin typeface="Arial" pitchFamily="34" charset="0"/>
          <a:ea typeface="+mn-ea"/>
          <a:cs typeface="Arial" pitchFamily="34" charset="0"/>
        </a:defRPr>
      </a:lvl1pPr>
      <a:lvl2pPr marL="601118" indent="-241294" algn="l" defTabSz="1038631" rtl="0" eaLnBrk="1" latinLnBrk="0" hangingPunct="1">
        <a:lnSpc>
          <a:spcPct val="100000"/>
        </a:lnSpc>
        <a:spcBef>
          <a:spcPts val="0"/>
        </a:spcBef>
        <a:buFont typeface="Symbol" pitchFamily="18" charset="2"/>
        <a:buChar char="-"/>
        <a:tabLst/>
        <a:defRPr sz="1867" kern="1200">
          <a:solidFill>
            <a:srgbClr val="002C59"/>
          </a:solidFill>
          <a:latin typeface="+mn-lt"/>
          <a:ea typeface="+mn-ea"/>
          <a:cs typeface="Arial" pitchFamily="34" charset="0"/>
        </a:defRPr>
      </a:lvl2pPr>
      <a:lvl3pPr marL="956709" indent="-237061" algn="l" defTabSz="1038631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"/>
        <a:defRPr sz="1867" kern="1200">
          <a:solidFill>
            <a:srgbClr val="002C59"/>
          </a:solidFill>
          <a:latin typeface="+mn-lt"/>
          <a:ea typeface="+mn-ea"/>
          <a:cs typeface="Arial" pitchFamily="34" charset="0"/>
        </a:defRPr>
      </a:lvl3pPr>
      <a:lvl4pPr marL="1312301" indent="-232828" algn="l" defTabSz="1038631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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676358" indent="-237061" algn="l" defTabSz="1038631" rtl="0" eaLnBrk="1" latinLnBrk="0" hangingPunct="1">
        <a:lnSpc>
          <a:spcPct val="100000"/>
        </a:lnSpc>
        <a:spcBef>
          <a:spcPts val="0"/>
        </a:spcBef>
        <a:buFont typeface="Symbol" panose="05050102010706020507" pitchFamily="18" charset="2"/>
        <a:buChar char="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856237" indent="-259658" algn="l" defTabSz="1038631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6pPr>
      <a:lvl7pPr marL="3375552" indent="-259658" algn="l" defTabSz="1038631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7pPr>
      <a:lvl8pPr marL="3894868" indent="-259658" algn="l" defTabSz="1038631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8pPr>
      <a:lvl9pPr marL="4414183" indent="-259658" algn="l" defTabSz="1038631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19315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38631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557945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077263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596576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115894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635209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154527" algn="l" defTabSz="1038631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3">
          <p15:clr>
            <a:srgbClr val="F26B43"/>
          </p15:clr>
        </p15:guide>
        <p15:guide id="2" pos="514">
          <p15:clr>
            <a:srgbClr val="F26B43"/>
          </p15:clr>
        </p15:guide>
        <p15:guide id="3" pos="5579">
          <p15:clr>
            <a:srgbClr val="F26B43"/>
          </p15:clr>
        </p15:guide>
        <p15:guide id="4" pos="5647">
          <p15:clr>
            <a:srgbClr val="F26B43"/>
          </p15:clr>
        </p15:guide>
        <p15:guide id="5" orient="horz" pos="719">
          <p15:clr>
            <a:srgbClr val="F26B43"/>
          </p15:clr>
        </p15:guide>
        <p15:guide id="6" orient="horz" pos="2839">
          <p15:clr>
            <a:srgbClr val="F26B43"/>
          </p15:clr>
        </p15:guide>
        <p15:guide id="7" orient="horz" pos="827">
          <p15:clr>
            <a:srgbClr val="5ACBF0"/>
          </p15:clr>
        </p15:guide>
        <p15:guide id="8" orient="horz" pos="178">
          <p15:clr>
            <a:srgbClr val="F26B43"/>
          </p15:clr>
        </p15:guide>
        <p15:guide id="9" orient="horz" pos="531">
          <p15:clr>
            <a:srgbClr val="F26B43"/>
          </p15:clr>
        </p15:guide>
        <p15:guide id="10" orient="horz" pos="2969">
          <p15:clr>
            <a:srgbClr val="F26B43"/>
          </p15:clr>
        </p15:guide>
        <p15:guide id="11" orient="horz" pos="3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4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4" Type="http://schemas.openxmlformats.org/officeDocument/2006/relationships/chart" Target="../charts/char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FE451CC-7206-A1B0-CD92-D72A377DDD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05" imgH="405" progId="TCLayout.ActiveDocument.1">
                  <p:embed/>
                </p:oleObj>
              </mc:Choice>
              <mc:Fallback>
                <p:oleObj name="think-cell Folie" r:id="rId4" imgW="405" imgH="40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E451CC-7206-A1B0-CD92-D72A377DDD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6DB8D2CC-55F2-602E-C4A6-235C8667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ctr"/>
            <a:r>
              <a:rPr lang="de-CH" dirty="0"/>
              <a:t>Zahlungsbereitschaft für hochwertige Sanitärausstattung im Hotelzimmer</a:t>
            </a:r>
            <a:br>
              <a:rPr lang="de-CH" b="0" i="1" dirty="0"/>
            </a:br>
            <a:r>
              <a:rPr lang="de-CH" i="1" dirty="0"/>
              <a:t>Marilena Marraffino und Dominic Hüppi</a:t>
            </a:r>
            <a:br>
              <a:rPr lang="de-CH" dirty="0"/>
            </a:br>
            <a:br>
              <a:rPr lang="de-CH" b="0" i="1" dirty="0"/>
            </a:br>
            <a:endParaRPr lang="de-CH" b="0" i="1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E344AF9-82B0-B7FA-E869-CBE2C29BF7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 lnSpcReduction="20000"/>
          </a:bodyPr>
          <a:lstStyle/>
          <a:p>
            <a:r>
              <a:t>Abschlusspräsentation, 17.10.2026 | Fiktiver Auftrag der Geberit AG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3FBA128-E703-A45C-366F-B7D91F7363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CAS Pricing | Leistungsnachweis 1</a:t>
            </a:r>
          </a:p>
        </p:txBody>
      </p:sp>
    </p:spTree>
    <p:extLst>
      <p:ext uri="{BB962C8B-B14F-4D97-AF65-F5344CB8AC3E}">
        <p14:creationId xmlns:p14="http://schemas.microsoft.com/office/powerpoint/2010/main" val="2498198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/>
              <a:t>Ausgangslage: Lohnt sich ein besseres Bad für Hotels?</a:t>
            </a:r>
          </a:p>
        </p:txBody>
      </p:sp>
      <p:pic>
        <p:nvPicPr>
          <p:cNvPr id="3" name="Bild Hotelzimmer" descr="Hotelzimmer aus der Befragu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24000"/>
            <a:ext cx="5242560" cy="4632960"/>
          </a:xfrm>
          <a:prstGeom prst="rect">
            <a:avLst/>
          </a:prstGeom>
        </p:spPr>
      </p:pic>
      <p:sp>
        <p:nvSpPr>
          <p:cNvPr id="4" name="Leitfrage"/>
          <p:cNvSpPr/>
          <p:nvPr/>
        </p:nvSpPr>
        <p:spPr>
          <a:xfrm>
            <a:off x="6217920" y="1524000"/>
            <a:ext cx="5425440" cy="316992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 txBox="1"/>
          <p:nvPr/>
        </p:nvSpPr>
        <p:spPr>
          <a:xfrm>
            <a:off x="6583680" y="176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b="1" kern="0" spc="133" dirty="0">
                <a:solidFill>
                  <a:srgbClr val="9FC6EA"/>
                </a:solidFill>
              </a:rPr>
              <a:t>LEITFRAGE</a:t>
            </a:r>
            <a:endParaRPr lang="en-US" sz="1467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194560"/>
            <a:ext cx="47548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FFFFFF"/>
                </a:solidFill>
              </a:rPr>
              <a:t>Welche Sanitärausstattung steigert die Zahlungsbereitschaft so stark, dass sich die Investition für Hotels lohnt?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217920" y="4937760"/>
            <a:ext cx="1706880" cy="1219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Shape 5"/>
          <p:cNvSpPr/>
          <p:nvPr/>
        </p:nvSpPr>
        <p:spPr>
          <a:xfrm>
            <a:off x="6827520" y="5035296"/>
            <a:ext cx="487680" cy="4876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318" y="5162094"/>
            <a:ext cx="234087" cy="2340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78880" y="5571744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chemeClr val="tx2"/>
                </a:solidFill>
              </a:rPr>
              <a:t>Hotels investieren</a:t>
            </a:r>
            <a:endParaRPr lang="en-US" sz="1333" dirty="0"/>
          </a:p>
        </p:txBody>
      </p:sp>
      <p:sp>
        <p:nvSpPr>
          <p:cNvPr id="11" name="Shape 7"/>
          <p:cNvSpPr/>
          <p:nvPr/>
        </p:nvSpPr>
        <p:spPr>
          <a:xfrm>
            <a:off x="8046720" y="4937760"/>
            <a:ext cx="1706880" cy="1219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Shape 8"/>
          <p:cNvSpPr/>
          <p:nvPr/>
        </p:nvSpPr>
        <p:spPr>
          <a:xfrm>
            <a:off x="8656320" y="5035296"/>
            <a:ext cx="487680" cy="4876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118" y="5162094"/>
            <a:ext cx="234087" cy="2340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07680" y="5571744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chemeClr val="tx2"/>
                </a:solidFill>
              </a:rPr>
              <a:t>Wert unklar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9875520" y="4937760"/>
            <a:ext cx="1706880" cy="1219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Shape 11"/>
          <p:cNvSpPr/>
          <p:nvPr/>
        </p:nvSpPr>
        <p:spPr>
          <a:xfrm>
            <a:off x="10485120" y="5035296"/>
            <a:ext cx="487680" cy="4876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1918" y="5162094"/>
            <a:ext cx="234087" cy="2340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936480" y="5571744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chemeClr val="tx2"/>
                </a:solidFill>
              </a:rPr>
              <a:t>Geberit braucht Argumente</a:t>
            </a:r>
            <a:endParaRPr lang="en-US" sz="133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30D27-2143-84CA-5E99-2ED0DD51AC13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de-CH" dirty="0"/>
              <a:t>Badezimmer-Ausstattungen</a:t>
            </a:r>
          </a:p>
        </p:txBody>
      </p:sp>
      <p:pic>
        <p:nvPicPr>
          <p:cNvPr id="11" name="Grafik 10" descr="The image depicts a modern bathroom with a vanity, a mirror above a sink, a toilet, and a glass shower with a towel rack.&#10;&#10;KI-generierte Inhalte können fehlerhaft sein.">
            <a:extLst>
              <a:ext uri="{FF2B5EF4-FFF2-40B4-BE49-F238E27FC236}">
                <a16:creationId xmlns:a16="http://schemas.microsoft.com/office/drawing/2014/main" id="{14B235FE-DC38-90DC-1836-04B47D258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36" y="2109971"/>
            <a:ext cx="3580410" cy="3580410"/>
          </a:xfrm>
          <a:prstGeom prst="rect">
            <a:avLst/>
          </a:prstGeom>
        </p:spPr>
      </p:pic>
      <p:pic>
        <p:nvPicPr>
          <p:cNvPr id="17" name="Grafik 16" descr="The image depicts a modern bathroom featuring a wall-mounted shower, an adjacent toilet, a vanity with a wooden cabinet, and a minimalist design with ambient lighting.&#10;&#10;KI-generierte Inhalte können fehlerhaft sein.">
            <a:extLst>
              <a:ext uri="{FF2B5EF4-FFF2-40B4-BE49-F238E27FC236}">
                <a16:creationId xmlns:a16="http://schemas.microsoft.com/office/drawing/2014/main" id="{1FCBA72E-35D2-9B28-468F-BAB0E83C1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655" y="2109971"/>
            <a:ext cx="3580409" cy="3580409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40DA5648-40A2-5511-D536-F55CBEDC6451}"/>
              </a:ext>
            </a:extLst>
          </p:cNvPr>
          <p:cNvSpPr txBox="1"/>
          <p:nvPr/>
        </p:nvSpPr>
        <p:spPr>
          <a:xfrm>
            <a:off x="291936" y="1535431"/>
            <a:ext cx="3579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600" b="1" dirty="0">
                <a:solidFill>
                  <a:srgbClr val="002C59"/>
                </a:solidFill>
                <a:latin typeface="Arial"/>
              </a:rPr>
              <a:t>Basis-Bad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77D4A71-0CE3-A10E-01D8-C0118F96708A}"/>
              </a:ext>
            </a:extLst>
          </p:cNvPr>
          <p:cNvSpPr txBox="1"/>
          <p:nvPr/>
        </p:nvSpPr>
        <p:spPr>
          <a:xfrm>
            <a:off x="4307180" y="1535431"/>
            <a:ext cx="3579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600" b="1" dirty="0">
                <a:solidFill>
                  <a:srgbClr val="002C59"/>
                </a:solidFill>
                <a:latin typeface="Arial"/>
              </a:rPr>
              <a:t>Komfort-Bad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1996104-6317-9842-4BC8-9750EB6366EB}"/>
              </a:ext>
            </a:extLst>
          </p:cNvPr>
          <p:cNvSpPr txBox="1"/>
          <p:nvPr/>
        </p:nvSpPr>
        <p:spPr>
          <a:xfrm>
            <a:off x="8321039" y="1535431"/>
            <a:ext cx="3579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600" b="1" dirty="0">
                <a:solidFill>
                  <a:srgbClr val="002C59"/>
                </a:solidFill>
                <a:latin typeface="Arial"/>
              </a:rPr>
              <a:t>Premium-Bad</a:t>
            </a:r>
          </a:p>
        </p:txBody>
      </p:sp>
      <p:pic>
        <p:nvPicPr>
          <p:cNvPr id="24" name="Grafik 23" descr="The image depicts a modern bathroom featuring a sleek, white vanity with a built-in sink, a glass-enclosed shower, and a contemporary lighting fixture above the vanity.&#10;&#10;KI-generierte Inhalte können fehlerhaft sein.">
            <a:extLst>
              <a:ext uri="{FF2B5EF4-FFF2-40B4-BE49-F238E27FC236}">
                <a16:creationId xmlns:a16="http://schemas.microsoft.com/office/drawing/2014/main" id="{D66A8659-D0AF-BF86-6143-272FEC799C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180" y="2109972"/>
            <a:ext cx="3580408" cy="35804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3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211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Methode: Zwei Online-Befragungen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1645920"/>
            <a:ext cx="6644640" cy="46939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6" name="Kopf GG"/>
          <p:cNvSpPr txBox="1"/>
          <p:nvPr/>
        </p:nvSpPr>
        <p:spPr>
          <a:xfrm>
            <a:off x="670560" y="1731265"/>
            <a:ext cx="6339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2000" b="1" dirty="0">
                <a:solidFill>
                  <a:srgbClr val="0A2F5C"/>
                </a:solidFill>
                <a:latin typeface="Arial"/>
              </a:rPr>
              <a:t>Gabor-Granger-</a:t>
            </a:r>
            <a:r>
              <a:rPr sz="2000" b="1" dirty="0" err="1">
                <a:solidFill>
                  <a:srgbClr val="0A2F5C"/>
                </a:solidFill>
                <a:latin typeface="Arial"/>
              </a:rPr>
              <a:t>Analyse</a:t>
            </a:r>
            <a:r>
              <a:rPr sz="1733" dirty="0">
                <a:solidFill>
                  <a:srgbClr val="0067AC"/>
                </a:solidFill>
                <a:latin typeface="Arial"/>
              </a:rPr>
              <a:t>  n = 2</a:t>
            </a:r>
            <a:r>
              <a:rPr lang="de-CH" sz="1733" dirty="0">
                <a:solidFill>
                  <a:srgbClr val="0067AC"/>
                </a:solidFill>
                <a:latin typeface="Arial"/>
              </a:rPr>
              <a:t>5</a:t>
            </a:r>
            <a:endParaRPr sz="1733" dirty="0">
              <a:solidFill>
                <a:srgbClr val="0067AC"/>
              </a:solidFill>
              <a:latin typeface="Arial"/>
            </a:endParaRPr>
          </a:p>
        </p:txBody>
      </p:sp>
      <p:pic>
        <p:nvPicPr>
          <p:cNvPr id="7" name="Bild Basis-Bad" descr="bad_bas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255520"/>
            <a:ext cx="2048256" cy="2048256"/>
          </a:xfrm>
          <a:prstGeom prst="rect">
            <a:avLst/>
          </a:prstGeom>
        </p:spPr>
      </p:pic>
      <p:sp>
        <p:nvSpPr>
          <p:cNvPr id="8" name="Label Basis-Bad"/>
          <p:cNvSpPr txBox="1"/>
          <p:nvPr/>
        </p:nvSpPr>
        <p:spPr>
          <a:xfrm>
            <a:off x="670560" y="4340353"/>
            <a:ext cx="2048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1038631"/>
            <a:r>
              <a:rPr sz="1600" b="1">
                <a:solidFill>
                  <a:srgbClr val="0A2F5C"/>
                </a:solidFill>
                <a:latin typeface="Arial"/>
              </a:rPr>
              <a:t>Basis-Bad</a:t>
            </a:r>
          </a:p>
        </p:txBody>
      </p:sp>
      <p:pic>
        <p:nvPicPr>
          <p:cNvPr id="9" name="Bild Komfort-Bad" descr="bad_komf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736" y="2255520"/>
            <a:ext cx="2048256" cy="2048256"/>
          </a:xfrm>
          <a:prstGeom prst="rect">
            <a:avLst/>
          </a:prstGeom>
        </p:spPr>
      </p:pic>
      <p:sp>
        <p:nvSpPr>
          <p:cNvPr id="10" name="Label Komfort-Bad"/>
          <p:cNvSpPr txBox="1"/>
          <p:nvPr/>
        </p:nvSpPr>
        <p:spPr>
          <a:xfrm>
            <a:off x="2840736" y="4340353"/>
            <a:ext cx="2048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1038631"/>
            <a:r>
              <a:rPr sz="1600" b="1">
                <a:solidFill>
                  <a:srgbClr val="0A2F5C"/>
                </a:solidFill>
                <a:latin typeface="Arial"/>
              </a:rPr>
              <a:t>Komfort-Bad</a:t>
            </a:r>
          </a:p>
        </p:txBody>
      </p:sp>
      <p:pic>
        <p:nvPicPr>
          <p:cNvPr id="11" name="Bild Premium-Bad" descr="bad_premi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255520"/>
            <a:ext cx="2048256" cy="2048256"/>
          </a:xfrm>
          <a:prstGeom prst="rect">
            <a:avLst/>
          </a:prstGeom>
        </p:spPr>
      </p:pic>
      <p:sp>
        <p:nvSpPr>
          <p:cNvPr id="12" name="Label Premium-Bad"/>
          <p:cNvSpPr txBox="1"/>
          <p:nvPr/>
        </p:nvSpPr>
        <p:spPr>
          <a:xfrm>
            <a:off x="5010912" y="4340353"/>
            <a:ext cx="204825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1038631"/>
            <a:r>
              <a:rPr sz="1600" b="1">
                <a:solidFill>
                  <a:srgbClr val="0A2F5C"/>
                </a:solidFill>
                <a:latin typeface="Arial"/>
              </a:rPr>
              <a:t>Premium-Bad</a:t>
            </a:r>
          </a:p>
        </p:txBody>
      </p:sp>
      <p:sp>
        <p:nvSpPr>
          <p:cNvPr id="13" name="Text GG"/>
          <p:cNvSpPr txBox="1"/>
          <p:nvPr/>
        </p:nvSpPr>
        <p:spPr>
          <a:xfrm>
            <a:off x="670560" y="4815840"/>
            <a:ext cx="6339840" cy="841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594" indent="-228594" defTabSz="1038631">
              <a:spcAft>
                <a:spcPts val="400"/>
              </a:spcAft>
              <a:buFont typeface="Arial"/>
              <a:buChar char="•"/>
            </a:pPr>
            <a:r>
              <a:rPr sz="1600" dirty="0">
                <a:solidFill>
                  <a:srgbClr val="0A2F5C"/>
                </a:solidFill>
                <a:latin typeface="Arial"/>
              </a:rPr>
              <a:t>Ja/Nein-Frage je Bild: «Würden Sie diesen Aufpreis bezahlen?»</a:t>
            </a:r>
          </a:p>
          <a:p>
            <a:pPr marL="228594" indent="-228594" defTabSz="1038631">
              <a:spcAft>
                <a:spcPts val="400"/>
              </a:spcAft>
              <a:buFont typeface="Arial"/>
              <a:buChar char="•"/>
            </a:pPr>
            <a:r>
              <a:rPr sz="1600" dirty="0" err="1">
                <a:solidFill>
                  <a:srgbClr val="0A2F5C"/>
                </a:solidFill>
                <a:latin typeface="Arial"/>
              </a:rPr>
              <a:t>Preisleiter CHF 0 bis 70 in 5er-Schritten, adaptiv</a:t>
            </a:r>
            <a:endParaRPr sz="1600" dirty="0">
              <a:solidFill>
                <a:srgbClr val="0A2F5C"/>
              </a:solidFill>
              <a:latin typeface="Arial"/>
            </a:endParaRPr>
          </a:p>
          <a:p>
            <a:pPr marL="228594" indent="-228594" defTabSz="1038631">
              <a:buFont typeface="Arial"/>
              <a:buChar char="•"/>
            </a:pPr>
            <a:r>
              <a:rPr sz="1600" dirty="0" err="1">
                <a:solidFill>
                  <a:srgbClr val="0A2F5C"/>
                </a:solidFill>
                <a:latin typeface="Arial"/>
              </a:rPr>
              <a:t>20 der 25 Personen haben alle drei Bilder beantwortet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160" y="1645920"/>
            <a:ext cx="4328160" cy="46939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5" name="Kopf CBC"/>
          <p:cNvSpPr txBox="1"/>
          <p:nvPr/>
        </p:nvSpPr>
        <p:spPr>
          <a:xfrm>
            <a:off x="7559040" y="1731264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2000" b="1">
                <a:solidFill>
                  <a:srgbClr val="0A2F5C"/>
                </a:solidFill>
                <a:latin typeface="Arial"/>
              </a:rPr>
              <a:t>Choice-based Conjoint</a:t>
            </a:r>
          </a:p>
        </p:txBody>
      </p:sp>
      <p:sp>
        <p:nvSpPr>
          <p:cNvPr id="16" name="n CBC"/>
          <p:cNvSpPr txBox="1"/>
          <p:nvPr/>
        </p:nvSpPr>
        <p:spPr>
          <a:xfrm>
            <a:off x="7559040" y="2170176"/>
            <a:ext cx="402336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733" dirty="0">
                <a:solidFill>
                  <a:srgbClr val="0067AC"/>
                </a:solidFill>
                <a:latin typeface="Arial"/>
              </a:rPr>
              <a:t>n = 29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59040" y="2657856"/>
            <a:ext cx="39624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80960" y="2778586"/>
            <a:ext cx="207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600" b="1">
                <a:solidFill>
                  <a:srgbClr val="0A2F5C"/>
                </a:solidFill>
                <a:latin typeface="Arial"/>
              </a:rPr>
              <a:t>Aufpreis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680" y="2778587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defTabSz="1038631"/>
            <a:r>
              <a:rPr sz="1600">
                <a:solidFill>
                  <a:srgbClr val="0A2F5C"/>
                </a:solidFill>
                <a:latin typeface="Arial"/>
              </a:rPr>
              <a:t>CHF 0 / 15 / 45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9040" y="3218688"/>
            <a:ext cx="39624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60" y="3339418"/>
            <a:ext cx="207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600" b="1">
                <a:solidFill>
                  <a:srgbClr val="0A2F5C"/>
                </a:solidFill>
                <a:latin typeface="Arial"/>
              </a:rPr>
              <a:t>Toilette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1680" y="3339418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defTabSz="1038631"/>
            <a:r>
              <a:rPr sz="1600">
                <a:solidFill>
                  <a:srgbClr val="0A2F5C"/>
                </a:solidFill>
                <a:latin typeface="Arial"/>
              </a:rPr>
              <a:t>3 Stufen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9040" y="3779520"/>
            <a:ext cx="39624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0960" y="3900250"/>
            <a:ext cx="207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600" b="1">
                <a:solidFill>
                  <a:srgbClr val="0A2F5C"/>
                </a:solidFill>
                <a:latin typeface="Arial"/>
              </a:rPr>
              <a:t>Dusche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1680" y="3900250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defTabSz="1038631"/>
            <a:r>
              <a:rPr sz="1600">
                <a:solidFill>
                  <a:srgbClr val="0A2F5C"/>
                </a:solidFill>
                <a:latin typeface="Arial"/>
              </a:rPr>
              <a:t>3 Stufen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9040" y="4340352"/>
            <a:ext cx="39624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4461082"/>
            <a:ext cx="207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600" b="1">
                <a:solidFill>
                  <a:srgbClr val="0A2F5C"/>
                </a:solidFill>
                <a:latin typeface="Arial"/>
              </a:rPr>
              <a:t>Waschtisch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1680" y="4461082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defTabSz="1038631"/>
            <a:r>
              <a:rPr sz="1600">
                <a:solidFill>
                  <a:srgbClr val="0A2F5C"/>
                </a:solidFill>
                <a:latin typeface="Arial"/>
              </a:rPr>
              <a:t>3 Stufen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9040" y="4901184"/>
            <a:ext cx="39624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80960" y="5021915"/>
            <a:ext cx="2072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600" b="1">
                <a:solidFill>
                  <a:srgbClr val="0A2F5C"/>
                </a:solidFill>
                <a:latin typeface="Arial"/>
              </a:rPr>
              <a:t>Spiegel und Ablage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1680" y="5021914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defTabSz="1038631"/>
            <a:r>
              <a:rPr sz="1600">
                <a:solidFill>
                  <a:srgbClr val="0A2F5C"/>
                </a:solidFill>
                <a:latin typeface="Arial"/>
              </a:rPr>
              <a:t>3 Stufen</a:t>
            </a:r>
          </a:p>
        </p:txBody>
      </p:sp>
      <p:sp>
        <p:nvSpPr>
          <p:cNvPr id="32" name="Text CBC"/>
          <p:cNvSpPr txBox="1"/>
          <p:nvPr/>
        </p:nvSpPr>
        <p:spPr>
          <a:xfrm>
            <a:off x="7559040" y="5510783"/>
            <a:ext cx="40233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600">
                <a:solidFill>
                  <a:srgbClr val="0A2F5C"/>
                </a:solidFill>
                <a:latin typeface="Arial"/>
              </a:rPr>
              <a:t>7 Wahlaufgaben: 3 Bäder oder «keines»; Referenz: Zimmer à CHF 150</a:t>
            </a: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4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Gabor-Granger: Beim Premium-Bad zahlen 65 % CHF 20 Aufpreis</a:t>
            </a:r>
          </a:p>
        </p:txBody>
      </p:sp>
      <p:sp>
        <p:nvSpPr>
          <p:cNvPr id="4" name="Shape 1"/>
          <p:cNvSpPr/>
          <p:nvPr/>
        </p:nvSpPr>
        <p:spPr>
          <a:xfrm>
            <a:off x="8595360" y="1524000"/>
            <a:ext cx="3048000" cy="4693920"/>
          </a:xfrm>
          <a:prstGeom prst="roundRect">
            <a:avLst>
              <a:gd name="adj" fmla="val 3200"/>
            </a:avLst>
          </a:prstGeom>
          <a:solidFill>
            <a:srgbClr val="FCEBDD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5" name="Bild Premium" descr="Premium-B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706880"/>
            <a:ext cx="2682240" cy="1767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839200" y="363321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E5832A"/>
                </a:solidFill>
                <a:latin typeface="Arial"/>
              </a:rPr>
              <a:t>CHF 20</a:t>
            </a:r>
            <a:endParaRPr lang="en-US" sz="42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8839200" y="4413504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dirty="0">
                <a:solidFill>
                  <a:srgbClr val="1F2A37"/>
                </a:solidFill>
                <a:latin typeface="Arial"/>
              </a:rPr>
              <a:t>umsatzstärkster Aufpreis für das Premium-Bad</a:t>
            </a:r>
          </a:p>
        </p:txBody>
      </p:sp>
      <p:sp>
        <p:nvSpPr>
          <p:cNvPr id="8" name="Text 4"/>
          <p:cNvSpPr txBox="1"/>
          <p:nvPr/>
        </p:nvSpPr>
        <p:spPr>
          <a:xfrm>
            <a:off x="8839200" y="5303520"/>
            <a:ext cx="2560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0A2F5C"/>
                </a:solidFill>
                <a:latin typeface="Arial"/>
              </a:rPr>
              <a:t>65 % würden das zahlen</a:t>
            </a:r>
            <a:endParaRPr lang="en-US" sz="18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5</a:t>
            </a:fld>
            <a:endParaRPr lang="en-US">
              <a:latin typeface="Arial"/>
            </a:endParaRPr>
          </a:p>
        </p:txBody>
      </p:sp>
      <p:graphicFrame>
        <p:nvGraphicFramePr>
          <p:cNvPr id="26" name="GG Nachfragekurve"/>
          <p:cNvGraphicFramePr>
            <a:graphicFrameLocks noGrp="1"/>
          </p:cNvGraphicFramePr>
          <p:nvPr/>
        </p:nvGraphicFramePr>
        <p:xfrm>
          <a:off x="487680" y="1365504"/>
          <a:ext cx="780288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Umsatzkurve: Beim Premium-Bad liegt das Maximum bei CHF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682497"/>
            <a:ext cx="3596640" cy="26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733" b="1">
                <a:solidFill>
                  <a:srgbClr val="0A2F5C"/>
                </a:solidFill>
                <a:latin typeface="Arial"/>
              </a:rPr>
              <a:t>Höchster Umsatzindex je Bad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70176"/>
            <a:ext cx="3596640" cy="1194816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8" name="Zahl Basis"/>
          <p:cNvSpPr txBox="1"/>
          <p:nvPr/>
        </p:nvSpPr>
        <p:spPr>
          <a:xfrm>
            <a:off x="8229600" y="2459808"/>
            <a:ext cx="170688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4000" b="1">
                <a:solidFill>
                  <a:srgbClr val="0A2F5C"/>
                </a:solidFill>
                <a:latin typeface="Arial"/>
              </a:rPr>
              <a:t>7.5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2511136"/>
            <a:ext cx="1828800" cy="512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733" b="1">
                <a:solidFill>
                  <a:srgbClr val="0A2F5C"/>
                </a:solidFill>
                <a:latin typeface="Arial"/>
              </a:rPr>
              <a:t>Basis-Bad</a:t>
            </a:r>
          </a:p>
          <a:p>
            <a:pPr defTabSz="1038631"/>
            <a:r>
              <a:rPr sz="1600">
                <a:solidFill>
                  <a:srgbClr val="5A6778"/>
                </a:solidFill>
                <a:latin typeface="Arial"/>
              </a:rPr>
              <a:t>bei CHF 50*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486912"/>
            <a:ext cx="3596640" cy="1194816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1" name="Zahl Komfort"/>
          <p:cNvSpPr txBox="1"/>
          <p:nvPr/>
        </p:nvSpPr>
        <p:spPr>
          <a:xfrm>
            <a:off x="8229600" y="3776544"/>
            <a:ext cx="170688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4000" b="1">
                <a:solidFill>
                  <a:srgbClr val="0A2F5C"/>
                </a:solidFill>
                <a:latin typeface="Arial"/>
              </a:rPr>
              <a:t>7.5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600" y="3827872"/>
            <a:ext cx="1828800" cy="512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733" b="1">
                <a:solidFill>
                  <a:srgbClr val="0A2F5C"/>
                </a:solidFill>
                <a:latin typeface="Arial"/>
              </a:rPr>
              <a:t>Komfort-Bad</a:t>
            </a:r>
          </a:p>
          <a:p>
            <a:pPr defTabSz="1038631"/>
            <a:r>
              <a:rPr sz="1600">
                <a:solidFill>
                  <a:srgbClr val="5A6778"/>
                </a:solidFill>
                <a:latin typeface="Arial"/>
              </a:rPr>
              <a:t>Plateau CHF 25–30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803648"/>
            <a:ext cx="3596640" cy="1194816"/>
          </a:xfrm>
          <a:prstGeom prst="roundRect">
            <a:avLst>
              <a:gd name="adj" fmla="val 6000"/>
            </a:avLst>
          </a:prstGeom>
          <a:solidFill>
            <a:srgbClr val="FCEBDD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4" name="Zahl Premium"/>
          <p:cNvSpPr txBox="1"/>
          <p:nvPr/>
        </p:nvSpPr>
        <p:spPr>
          <a:xfrm>
            <a:off x="8229600" y="5093280"/>
            <a:ext cx="170688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4000" b="1">
                <a:solidFill>
                  <a:srgbClr val="E5832A"/>
                </a:solidFill>
                <a:latin typeface="Arial"/>
              </a:rPr>
              <a:t>13.0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0" y="5144607"/>
            <a:ext cx="1828800" cy="5128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1733" b="1">
                <a:solidFill>
                  <a:srgbClr val="0A2F5C"/>
                </a:solidFill>
                <a:latin typeface="Arial"/>
              </a:rPr>
              <a:t>Premium-Bad</a:t>
            </a:r>
          </a:p>
          <a:p>
            <a:pPr defTabSz="1038631"/>
            <a:r>
              <a:rPr sz="1600">
                <a:solidFill>
                  <a:srgbClr val="5A6778"/>
                </a:solidFill>
                <a:latin typeface="Arial"/>
              </a:rPr>
              <a:t>bei CHF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096000"/>
            <a:ext cx="3596640" cy="225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467">
                <a:solidFill>
                  <a:srgbClr val="5A6778"/>
                </a:solidFill>
                <a:latin typeface="Arial"/>
              </a:rPr>
              <a:t>* nur 3 Hochpreis-Personen · GG, n = 20</a:t>
            </a:r>
          </a:p>
        </p:txBody>
      </p:sp>
      <p:sp>
        <p:nvSpPr>
          <p:cNvPr id="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6</a:t>
            </a:fld>
            <a:endParaRPr lang="en-US">
              <a:latin typeface="Arial"/>
            </a:endParaRPr>
          </a:p>
        </p:txBody>
      </p:sp>
      <p:graphicFrame>
        <p:nvGraphicFramePr>
          <p:cNvPr id="20" name="Chart Umsatzkurve"/>
          <p:cNvGraphicFramePr>
            <a:graphicFrameLocks noGrp="1"/>
          </p:cNvGraphicFramePr>
          <p:nvPr/>
        </p:nvGraphicFramePr>
        <p:xfrm>
          <a:off x="487680" y="1365504"/>
          <a:ext cx="740664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Conjoint: Der Preis dominiert die Wahl</a:t>
            </a:r>
          </a:p>
        </p:txBody>
      </p:sp>
      <p:sp>
        <p:nvSpPr>
          <p:cNvPr id="4" name="Shape 1"/>
          <p:cNvSpPr/>
          <p:nvPr/>
        </p:nvSpPr>
        <p:spPr>
          <a:xfrm>
            <a:off x="8595360" y="1950720"/>
            <a:ext cx="3048000" cy="316992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 txBox="1"/>
          <p:nvPr/>
        </p:nvSpPr>
        <p:spPr>
          <a:xfrm>
            <a:off x="8839200" y="2255520"/>
            <a:ext cx="25603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0A2F5C"/>
                </a:solidFill>
                <a:latin typeface="Arial"/>
              </a:rPr>
              <a:t>56 %</a:t>
            </a:r>
            <a:endParaRPr lang="en-US" sz="45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839200" y="3169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dirty="0">
                <a:solidFill>
                  <a:srgbClr val="1F2A37"/>
                </a:solidFill>
                <a:latin typeface="Arial"/>
              </a:rPr>
              <a:t>der Wahlentscheidung bestimmt der Aufpreis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839200" y="4023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b="1" dirty="0">
                <a:solidFill>
                  <a:srgbClr val="E5832A"/>
                </a:solidFill>
                <a:latin typeface="Arial"/>
              </a:rPr>
              <a:t>Bei der Ausstattung zählt die Dusche am meisten (20 %)</a:t>
            </a:r>
            <a:endParaRPr lang="en-US" sz="17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7</a:t>
            </a:fld>
            <a:endParaRPr lang="en-US">
              <a:latin typeface="Arial"/>
            </a:endParaRPr>
          </a:p>
        </p:txBody>
      </p:sp>
      <p:graphicFrame>
        <p:nvGraphicFramePr>
          <p:cNvPr id="26" name="CBC Wichtigkeit"/>
          <p:cNvGraphicFramePr>
            <a:graphicFrameLocks noGrp="1"/>
          </p:cNvGraphicFramePr>
          <p:nvPr/>
        </p:nvGraphicFramePr>
        <p:xfrm>
          <a:off x="487680" y="1365504"/>
          <a:ext cx="780288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Für die Dusche zahlen Gäste am meisten</a:t>
            </a:r>
          </a:p>
        </p:txBody>
      </p:sp>
      <p:sp>
        <p:nvSpPr>
          <p:cNvPr id="4" name="Shape 1"/>
          <p:cNvSpPr/>
          <p:nvPr/>
        </p:nvSpPr>
        <p:spPr>
          <a:xfrm>
            <a:off x="8595360" y="1645920"/>
            <a:ext cx="3048000" cy="1889760"/>
          </a:xfrm>
          <a:prstGeom prst="roundRect">
            <a:avLst>
              <a:gd name="adj" fmla="val 5161"/>
            </a:avLst>
          </a:prstGeom>
          <a:solidFill>
            <a:srgbClr val="FCEBD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2"/>
          <p:cNvSpPr txBox="1"/>
          <p:nvPr/>
        </p:nvSpPr>
        <p:spPr>
          <a:xfrm>
            <a:off x="883920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E5832A"/>
                </a:solidFill>
                <a:latin typeface="Arial"/>
              </a:rPr>
              <a:t>CHF 12</a:t>
            </a:r>
            <a:endParaRPr lang="en-US" sz="37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839200" y="2621280"/>
            <a:ext cx="25603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dirty="0">
                <a:solidFill>
                  <a:srgbClr val="1F2A37"/>
                </a:solidFill>
                <a:latin typeface="Arial"/>
              </a:rPr>
              <a:t>für die Regendusche</a:t>
            </a:r>
          </a:p>
        </p:txBody>
      </p:sp>
      <p:sp>
        <p:nvSpPr>
          <p:cNvPr id="7" name="Shape 4"/>
          <p:cNvSpPr/>
          <p:nvPr/>
        </p:nvSpPr>
        <p:spPr>
          <a:xfrm>
            <a:off x="8595360" y="3779520"/>
            <a:ext cx="3048000" cy="188976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 txBox="1"/>
          <p:nvPr/>
        </p:nvSpPr>
        <p:spPr>
          <a:xfrm>
            <a:off x="8839200" y="3962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733" b="1" dirty="0">
                <a:solidFill>
                  <a:srgbClr val="0A2F5C"/>
                </a:solidFill>
                <a:latin typeface="Arial"/>
              </a:rPr>
              <a:t>CHF 0</a:t>
            </a:r>
            <a:endParaRPr lang="en-US" sz="37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839200" y="4754880"/>
            <a:ext cx="25603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733" dirty="0">
                <a:solidFill>
                  <a:srgbClr val="1F2A37"/>
                </a:solidFill>
                <a:latin typeface="Arial"/>
              </a:rPr>
              <a:t>fürs Dusch-WC: kein messbarer Mehrwert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8</a:t>
            </a:fld>
            <a:endParaRPr lang="en-US">
              <a:latin typeface="Arial"/>
            </a:endParaRPr>
          </a:p>
        </p:txBody>
      </p:sp>
      <p:graphicFrame>
        <p:nvGraphicFramePr>
          <p:cNvPr id="26" name="CBC Zahlungsbereitschaft"/>
          <p:cNvGraphicFramePr>
            <a:graphicFrameLocks noGrp="1"/>
          </p:cNvGraphicFramePr>
          <p:nvPr/>
        </p:nvGraphicFramePr>
        <p:xfrm>
          <a:off x="487680" y="1365504"/>
          <a:ext cx="780288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Simulation: Bei gleichem Preis wählen fast alle das Premium-Bad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b="1" dirty="0">
                <a:solidFill>
                  <a:srgbClr val="0A2F5C"/>
                </a:solidFill>
                <a:latin typeface="Arial"/>
              </a:rPr>
              <a:t>Was wählen Gäste, wenn jedes Bad CHF 15 Aufpreis kostet?</a:t>
            </a:r>
            <a:endParaRPr lang="en-US" sz="18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4169664"/>
            <a:ext cx="109728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 txBox="1"/>
          <p:nvPr/>
        </p:nvSpPr>
        <p:spPr>
          <a:xfrm>
            <a:off x="853440" y="356006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n-US" sz="2933" b="1" dirty="0">
                <a:solidFill>
                  <a:srgbClr val="E5832A"/>
                </a:solidFill>
                <a:latin typeface="Arial"/>
              </a:rPr>
              <a:t>0 %</a:t>
            </a:r>
            <a:endParaRPr lang="en-US" sz="2933" dirty="0">
              <a:solidFill>
                <a:srgbClr val="1F2A37"/>
              </a:solidFill>
              <a:latin typeface="Arial"/>
            </a:endParaRPr>
          </a:p>
        </p:txBody>
      </p:sp>
      <p:pic>
        <p:nvPicPr>
          <p:cNvPr id="6" name="Bild Basis-Bad" descr="Basis-B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4291584"/>
            <a:ext cx="2133600" cy="1402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3440" y="575462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733" b="1" dirty="0">
                <a:solidFill>
                  <a:srgbClr val="0A2F5C"/>
                </a:solidFill>
                <a:latin typeface="Arial"/>
              </a:rPr>
              <a:t>Basis-Bad</a:t>
            </a:r>
            <a:endParaRPr lang="en-US" sz="17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3718560" y="356006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n-US" sz="2933" b="1" dirty="0">
                <a:solidFill>
                  <a:srgbClr val="E5832A"/>
                </a:solidFill>
                <a:latin typeface="Arial"/>
              </a:rPr>
              <a:t>0 %</a:t>
            </a:r>
            <a:endParaRPr lang="en-US" sz="2933" dirty="0">
              <a:solidFill>
                <a:srgbClr val="1F2A37"/>
              </a:solidFill>
              <a:latin typeface="Arial"/>
            </a:endParaRPr>
          </a:p>
        </p:txBody>
      </p:sp>
      <p:pic>
        <p:nvPicPr>
          <p:cNvPr id="10" name="Bild Komfort-Bad" descr="Komfort-B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560" y="4291584"/>
            <a:ext cx="2133600" cy="1402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18560" y="575462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733" b="1" dirty="0">
                <a:solidFill>
                  <a:srgbClr val="0A2F5C"/>
                </a:solidFill>
                <a:latin typeface="Arial"/>
              </a:rPr>
              <a:t>Komfort-Bad</a:t>
            </a:r>
            <a:endParaRPr lang="en-US" sz="17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2" name="Balken Premium-Bad"/>
          <p:cNvSpPr/>
          <p:nvPr/>
        </p:nvSpPr>
        <p:spPr>
          <a:xfrm>
            <a:off x="7095744" y="2393944"/>
            <a:ext cx="1097280" cy="1775720"/>
          </a:xfrm>
          <a:prstGeom prst="rect">
            <a:avLst/>
          </a:prstGeom>
          <a:solidFill>
            <a:srgbClr val="0A2F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3" name="Text 9"/>
          <p:cNvSpPr txBox="1"/>
          <p:nvPr/>
        </p:nvSpPr>
        <p:spPr>
          <a:xfrm>
            <a:off x="6583680" y="178434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n-US" sz="2933" b="1" dirty="0">
                <a:solidFill>
                  <a:srgbClr val="0A2F5C"/>
                </a:solidFill>
                <a:latin typeface="Arial"/>
              </a:rPr>
              <a:t>86 %</a:t>
            </a:r>
            <a:endParaRPr lang="en-US" sz="2933" dirty="0">
              <a:solidFill>
                <a:srgbClr val="1F2A37"/>
              </a:solidFill>
              <a:latin typeface="Arial"/>
            </a:endParaRPr>
          </a:p>
        </p:txBody>
      </p:sp>
      <p:pic>
        <p:nvPicPr>
          <p:cNvPr id="14" name="Bild Premium-Bad" descr="Premium-B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291584"/>
            <a:ext cx="2133600" cy="14020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83680" y="575462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733" b="1" dirty="0">
                <a:solidFill>
                  <a:srgbClr val="0A2F5C"/>
                </a:solidFill>
                <a:latin typeface="Arial"/>
              </a:rPr>
              <a:t>Premium-Bad</a:t>
            </a:r>
            <a:endParaRPr lang="en-US" sz="17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6" name="Balken Keines davon"/>
          <p:cNvSpPr/>
          <p:nvPr/>
        </p:nvSpPr>
        <p:spPr>
          <a:xfrm>
            <a:off x="9960864" y="3885384"/>
            <a:ext cx="1097280" cy="284280"/>
          </a:xfrm>
          <a:prstGeom prst="rect">
            <a:avLst/>
          </a:prstGeom>
          <a:solidFill>
            <a:srgbClr val="C9D2D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2"/>
          <p:cNvSpPr txBox="1"/>
          <p:nvPr/>
        </p:nvSpPr>
        <p:spPr>
          <a:xfrm>
            <a:off x="9448800" y="3275784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defTabSz="1219170"/>
            <a:r>
              <a:rPr lang="en-US" sz="2933" b="1" dirty="0">
                <a:solidFill>
                  <a:srgbClr val="0A2F5C"/>
                </a:solidFill>
                <a:latin typeface="Arial"/>
              </a:rPr>
              <a:t>14 %</a:t>
            </a:r>
            <a:endParaRPr lang="en-US" sz="29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9448800" y="4291584"/>
            <a:ext cx="2133600" cy="140208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9" name="Shape 14"/>
          <p:cNvSpPr/>
          <p:nvPr/>
        </p:nvSpPr>
        <p:spPr>
          <a:xfrm>
            <a:off x="10180320" y="4572000"/>
            <a:ext cx="670560" cy="6705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666" y="4746346"/>
            <a:ext cx="321869" cy="3218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448800" y="5754624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/>
            <a:r>
              <a:rPr lang="en-US" sz="1733" b="1" dirty="0">
                <a:solidFill>
                  <a:srgbClr val="0A2F5C"/>
                </a:solidFill>
                <a:latin typeface="Arial"/>
              </a:rPr>
              <a:t>Keines davon</a:t>
            </a:r>
            <a:endParaRPr lang="en-US" sz="17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9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Beide Methoden: Das Komfort-Bad ist rund CHF 18–19 wert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09600" y="140208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b="1" dirty="0">
                <a:solidFill>
                  <a:srgbClr val="0A2F5C"/>
                </a:solidFill>
                <a:latin typeface="Arial"/>
              </a:rPr>
              <a:t>Ø akzeptierter Aufpreis pro Nacht – je Bad und Methode</a:t>
            </a:r>
            <a:endParaRPr lang="en-US" sz="1867" dirty="0">
              <a:solidFill>
                <a:srgbClr val="1F2A37"/>
              </a:solidFill>
              <a:latin typeface="Arial"/>
            </a:endParaRPr>
          </a:p>
        </p:txBody>
      </p:sp>
      <p:pic>
        <p:nvPicPr>
          <p:cNvPr id="4" name="Bild Basis-Bad" descr="Basis-B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50720"/>
            <a:ext cx="3413760" cy="140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341376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b="1" dirty="0">
                <a:solidFill>
                  <a:srgbClr val="0A2F5C"/>
                </a:solidFill>
                <a:latin typeface="Arial"/>
              </a:rPr>
              <a:t>Basis-Bad</a:t>
            </a:r>
            <a:endParaRPr lang="en-US" sz="18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09600" y="3925824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A6778"/>
                </a:solidFill>
                <a:latin typeface="Arial"/>
              </a:rPr>
              <a:t>Gabor-Granger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7" name="Basis-Bad Gabor-Granger"/>
          <p:cNvSpPr/>
          <p:nvPr/>
        </p:nvSpPr>
        <p:spPr>
          <a:xfrm>
            <a:off x="1853185" y="3974592"/>
            <a:ext cx="624000" cy="292608"/>
          </a:xfrm>
          <a:prstGeom prst="rect">
            <a:avLst/>
          </a:prstGeom>
          <a:solidFill>
            <a:srgbClr val="0067A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 txBox="1"/>
          <p:nvPr/>
        </p:nvSpPr>
        <p:spPr>
          <a:xfrm>
            <a:off x="2550337" y="3925824"/>
            <a:ext cx="853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F2A37"/>
                </a:solidFill>
                <a:latin typeface="Arial"/>
              </a:rPr>
              <a:t>CHF 13</a:t>
            </a:r>
            <a:endParaRPr lang="en-US" sz="14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09600" y="4474464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A6778"/>
                </a:solidFill>
                <a:latin typeface="Arial"/>
              </a:rPr>
              <a:t>Conjoint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0" name="Basis-Bad Conjoint"/>
          <p:cNvSpPr/>
          <p:nvPr/>
        </p:nvSpPr>
        <p:spPr>
          <a:xfrm>
            <a:off x="1853184" y="4523232"/>
            <a:ext cx="336000" cy="292608"/>
          </a:xfrm>
          <a:prstGeom prst="rect">
            <a:avLst/>
          </a:prstGeom>
          <a:solidFill>
            <a:srgbClr val="E58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 txBox="1"/>
          <p:nvPr/>
        </p:nvSpPr>
        <p:spPr>
          <a:xfrm>
            <a:off x="2262336" y="4474464"/>
            <a:ext cx="853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F2A37"/>
                </a:solidFill>
                <a:latin typeface="Arial"/>
              </a:rPr>
              <a:t>CHF 7</a:t>
            </a:r>
            <a:endParaRPr lang="en-US" sz="1467" dirty="0">
              <a:solidFill>
                <a:srgbClr val="1F2A37"/>
              </a:solidFill>
              <a:latin typeface="Arial"/>
            </a:endParaRPr>
          </a:p>
        </p:txBody>
      </p:sp>
      <p:pic>
        <p:nvPicPr>
          <p:cNvPr id="12" name="Bild Komfort-Bad" descr="Komfort-B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950720"/>
            <a:ext cx="3413760" cy="1402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89120" y="341376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b="1" dirty="0">
                <a:solidFill>
                  <a:srgbClr val="0A2F5C"/>
                </a:solidFill>
                <a:latin typeface="Arial"/>
              </a:rPr>
              <a:t>Komfort-Bad</a:t>
            </a:r>
            <a:endParaRPr lang="en-US" sz="18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389120" y="3925824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A6778"/>
                </a:solidFill>
                <a:latin typeface="Arial"/>
              </a:rPr>
              <a:t>Gabor-Granger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5" name="Komfort-Bad Gabor-Granger"/>
          <p:cNvSpPr/>
          <p:nvPr/>
        </p:nvSpPr>
        <p:spPr>
          <a:xfrm>
            <a:off x="5632704" y="3974592"/>
            <a:ext cx="864000" cy="292608"/>
          </a:xfrm>
          <a:prstGeom prst="rect">
            <a:avLst/>
          </a:prstGeom>
          <a:solidFill>
            <a:srgbClr val="0067A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Text 12"/>
          <p:cNvSpPr txBox="1"/>
          <p:nvPr/>
        </p:nvSpPr>
        <p:spPr>
          <a:xfrm>
            <a:off x="6569856" y="3925824"/>
            <a:ext cx="853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F2A37"/>
                </a:solidFill>
                <a:latin typeface="Arial"/>
              </a:rPr>
              <a:t>CHF 18</a:t>
            </a:r>
            <a:endParaRPr lang="en-US" sz="14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4389120" y="4474464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A6778"/>
                </a:solidFill>
                <a:latin typeface="Arial"/>
              </a:rPr>
              <a:t>Conjoint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18" name="Komfort-Bad Conjoint"/>
          <p:cNvSpPr/>
          <p:nvPr/>
        </p:nvSpPr>
        <p:spPr>
          <a:xfrm>
            <a:off x="5632705" y="4523232"/>
            <a:ext cx="912000" cy="292608"/>
          </a:xfrm>
          <a:prstGeom prst="rect">
            <a:avLst/>
          </a:prstGeom>
          <a:solidFill>
            <a:srgbClr val="E58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9" name="Text 15"/>
          <p:cNvSpPr txBox="1"/>
          <p:nvPr/>
        </p:nvSpPr>
        <p:spPr>
          <a:xfrm>
            <a:off x="6617857" y="4474464"/>
            <a:ext cx="853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F2A37"/>
                </a:solidFill>
                <a:latin typeface="Arial"/>
              </a:rPr>
              <a:t>CHF 19</a:t>
            </a:r>
            <a:endParaRPr lang="en-US" sz="1467" dirty="0">
              <a:solidFill>
                <a:srgbClr val="1F2A37"/>
              </a:solidFill>
              <a:latin typeface="Arial"/>
            </a:endParaRPr>
          </a:p>
        </p:txBody>
      </p:sp>
      <p:pic>
        <p:nvPicPr>
          <p:cNvPr id="20" name="Bild Premium-Bad" descr="Premium-B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640" y="1950720"/>
            <a:ext cx="3413760" cy="14020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68640" y="3413760"/>
            <a:ext cx="34137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b="1" dirty="0">
                <a:solidFill>
                  <a:srgbClr val="0A2F5C"/>
                </a:solidFill>
                <a:latin typeface="Arial"/>
              </a:rPr>
              <a:t>Premium-Bad</a:t>
            </a:r>
            <a:endParaRPr lang="en-US" sz="18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8168640" y="3925824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A6778"/>
                </a:solidFill>
                <a:latin typeface="Arial"/>
              </a:rPr>
              <a:t>Gabor-Granger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3" name="Premium-Bad Gabor-Granger"/>
          <p:cNvSpPr/>
          <p:nvPr/>
        </p:nvSpPr>
        <p:spPr>
          <a:xfrm>
            <a:off x="9412224" y="3974592"/>
            <a:ext cx="1056000" cy="292608"/>
          </a:xfrm>
          <a:prstGeom prst="rect">
            <a:avLst/>
          </a:prstGeom>
          <a:solidFill>
            <a:srgbClr val="0067A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4" name="Text 19"/>
          <p:cNvSpPr txBox="1"/>
          <p:nvPr/>
        </p:nvSpPr>
        <p:spPr>
          <a:xfrm>
            <a:off x="10541376" y="3925824"/>
            <a:ext cx="853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F2A37"/>
                </a:solidFill>
                <a:latin typeface="Arial"/>
              </a:rPr>
              <a:t>CHF 22</a:t>
            </a:r>
            <a:endParaRPr lang="en-US" sz="14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8168640" y="4474464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5A6778"/>
                </a:solidFill>
                <a:latin typeface="Arial"/>
              </a:rPr>
              <a:t>Conjoint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6" name="Premium-Bad Conjoint"/>
          <p:cNvSpPr/>
          <p:nvPr/>
        </p:nvSpPr>
        <p:spPr>
          <a:xfrm>
            <a:off x="9412224" y="4523232"/>
            <a:ext cx="1440000" cy="292608"/>
          </a:xfrm>
          <a:prstGeom prst="rect">
            <a:avLst/>
          </a:prstGeom>
          <a:solidFill>
            <a:srgbClr val="E583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7" name="Text 22"/>
          <p:cNvSpPr txBox="1"/>
          <p:nvPr/>
        </p:nvSpPr>
        <p:spPr>
          <a:xfrm>
            <a:off x="10925376" y="4474464"/>
            <a:ext cx="853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F2A37"/>
                </a:solidFill>
                <a:latin typeface="Arial"/>
              </a:rPr>
              <a:t>CHF 30</a:t>
            </a:r>
            <a:endParaRPr lang="en-US" sz="14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8" name="Kernaussage Vergleich"/>
          <p:cNvSpPr/>
          <p:nvPr/>
        </p:nvSpPr>
        <p:spPr>
          <a:xfrm>
            <a:off x="609600" y="5242560"/>
            <a:ext cx="10972800" cy="877824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9" name="Text 24"/>
          <p:cNvSpPr txBox="1"/>
          <p:nvPr/>
        </p:nvSpPr>
        <p:spPr>
          <a:xfrm>
            <a:off x="914400" y="5242560"/>
            <a:ext cx="104851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FFFFFF"/>
                </a:solidFill>
                <a:latin typeface="Arial"/>
              </a:rPr>
              <a:t>Gleiche Rangfolge in beiden Methoden. Beim Komfort-Bad stimmen sie überein, beim Premium-Bad sieht der Conjoint mehr Spielraum.</a:t>
            </a:r>
            <a:endParaRPr lang="en-US" sz="18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10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 err="1"/>
              <a:t>Übersicht</a:t>
            </a:r>
            <a:r>
              <a:rPr lang="en-US" dirty="0"/>
              <a:t> </a:t>
            </a:r>
            <a:r>
              <a:rPr lang="en-US" dirty="0" err="1"/>
              <a:t>Teilnehmer</a:t>
            </a: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353903"/>
              </p:ext>
            </p:extLst>
          </p:nvPr>
        </p:nvGraphicFramePr>
        <p:xfrm>
          <a:off x="548640" y="1463040"/>
          <a:ext cx="11094720" cy="4023360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Merkmal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Conjoint (n = 29)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Gabor-Granger (n = 19¹)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 25–34 Jahre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42 %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 55–64 Jahre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32 %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Einkommen CHF 60'000–100'000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47 %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Einkommen CHF 100'000–150'000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37 %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Reiseart Aktivurlaub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37 %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Reiseart Wellness/Erholung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37 %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Reiseart Städtereise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11 %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i="1" dirty="0">
                <a:solidFill>
                  <a:srgbClr val="5A6778"/>
                </a:solidFill>
                <a:latin typeface="Arial"/>
              </a:rPr>
              <a:t>¹ Angaben zur Person liegen für 19 der 20 auswertbaren Gabor-Granger-Befragten vor. Die Befragten beider Studien sind nicht identisch.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11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Empfehlungen für Hoteliers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1706880"/>
            <a:ext cx="5547360" cy="2011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6" name="Oval 5"/>
          <p:cNvSpPr/>
          <p:nvPr/>
        </p:nvSpPr>
        <p:spPr>
          <a:xfrm>
            <a:off x="731520" y="1950719"/>
            <a:ext cx="670560" cy="67056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txBody>
          <a:bodyPr lIns="0" tIns="0" rIns="0" bIns="0" rtlCol="0" anchor="ctr"/>
          <a:lstStyle/>
          <a:p>
            <a:pPr algn="ctr" defTabSz="1038631"/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32112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2000" b="1">
                <a:solidFill>
                  <a:srgbClr val="0A2F5C"/>
                </a:solidFill>
                <a:latin typeface="Arial"/>
              </a:rPr>
              <a:t>Preisrahmen CHF 15 bis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04161"/>
            <a:ext cx="5120640" cy="533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733">
                <a:solidFill>
                  <a:srgbClr val="0A2F5C"/>
                </a:solidFill>
                <a:latin typeface="Arial"/>
              </a:rPr>
              <a:t>Das sind 10 bis 13 % des Zimmerpreises von CHF 150. Über CHF 25 bricht die Zustimmung ein.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960" y="1706880"/>
            <a:ext cx="5547360" cy="2011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00800" y="1950719"/>
            <a:ext cx="670560" cy="67056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txBody>
          <a:bodyPr lIns="0" tIns="0" rIns="0" bIns="0" rtlCol="0" anchor="ctr"/>
          <a:lstStyle/>
          <a:p>
            <a:pPr algn="ctr" defTabSz="1038631"/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32110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2000" b="1">
                <a:solidFill>
                  <a:srgbClr val="0A2F5C"/>
                </a:solidFill>
                <a:latin typeface="Arial"/>
              </a:rPr>
              <a:t>Die Dusche in den Mittelpunkt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04161"/>
            <a:ext cx="5120640" cy="533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733">
                <a:solidFill>
                  <a:srgbClr val="0A2F5C"/>
                </a:solidFill>
                <a:latin typeface="Arial"/>
              </a:rPr>
              <a:t>Bodenebene Dusche mit Regendusche: rund CHF 12 pro Nacht, der grösste Einzelwert.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" y="3855720"/>
            <a:ext cx="5547360" cy="2011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31520" y="4099560"/>
            <a:ext cx="670560" cy="670560"/>
          </a:xfrm>
          <a:prstGeom prst="ellipse">
            <a:avLst/>
          </a:prstGeom>
          <a:solidFill>
            <a:srgbClr val="0067AC"/>
          </a:solidFill>
          <a:ln>
            <a:noFill/>
          </a:ln>
        </p:spPr>
        <p:txBody>
          <a:bodyPr lIns="0" tIns="0" rIns="0" bIns="0" rtlCol="0" anchor="ctr"/>
          <a:lstStyle/>
          <a:p>
            <a:pPr algn="ctr" defTabSz="1038631"/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280950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2000" b="1">
                <a:solidFill>
                  <a:srgbClr val="0A2F5C"/>
                </a:solidFill>
                <a:latin typeface="Arial"/>
              </a:rPr>
              <a:t>Komfort-Bad als Kern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53001"/>
            <a:ext cx="5120640" cy="533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733">
                <a:solidFill>
                  <a:srgbClr val="0A2F5C"/>
                </a:solidFill>
                <a:latin typeface="Arial"/>
              </a:rPr>
              <a:t>Beide Methoden kommen auf CHF 18–19. Premium als Option, das Dusch-WC nur als Zusatz.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6960" y="3855720"/>
            <a:ext cx="5547360" cy="20116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0" y="4099560"/>
            <a:ext cx="670560" cy="670560"/>
          </a:xfrm>
          <a:prstGeom prst="ellipse">
            <a:avLst/>
          </a:prstGeom>
          <a:solidFill>
            <a:srgbClr val="E5832A"/>
          </a:solidFill>
          <a:ln>
            <a:noFill/>
          </a:ln>
        </p:spPr>
        <p:txBody>
          <a:bodyPr lIns="0" tIns="0" rIns="0" bIns="0" rtlCol="0" anchor="ctr"/>
          <a:lstStyle/>
          <a:p>
            <a:pPr algn="ctr" defTabSz="1038631"/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280952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/>
            <a:r>
              <a:rPr sz="2000" b="1">
                <a:solidFill>
                  <a:srgbClr val="0A2F5C"/>
                </a:solidFill>
                <a:latin typeface="Arial"/>
              </a:rPr>
              <a:t>Vor der Einführung absichern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53001"/>
            <a:ext cx="5120640" cy="533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lang="de-CH" sz="1733" dirty="0">
                <a:solidFill>
                  <a:srgbClr val="0A2F5C"/>
                </a:solidFill>
                <a:latin typeface="Arial"/>
              </a:rPr>
              <a:t>Folgestudie mit mehr Befragten, breiterer Demografie und mehr Nationalitäten.</a:t>
            </a:r>
            <a:endParaRPr sz="1733" dirty="0">
              <a:solidFill>
                <a:srgbClr val="0A2F5C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7680" y="5989320"/>
            <a:ext cx="11216640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333">
                <a:solidFill>
                  <a:srgbClr val="5A6778"/>
                </a:solidFill>
                <a:latin typeface="Arial"/>
              </a:rPr>
              <a:t>Das sind Hypothesen aus kleinen Stichproben, keine gesicherte Prognose.</a:t>
            </a:r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12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70560" y="670560"/>
            <a:ext cx="108508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Ein besseres Bad ist Gästen</a:t>
            </a:r>
          </a:p>
          <a:p>
            <a:r>
              <a:rPr lang="en-US" dirty="0"/>
              <a:t>rund CHF 15–20 pro Nacht wert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70560" y="2499360"/>
            <a:ext cx="10850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2667" dirty="0">
                <a:solidFill>
                  <a:srgbClr val="CFE3F5"/>
                </a:solidFill>
                <a:latin typeface="Arial"/>
              </a:rPr>
              <a:t>Den Wert schafft die Dusche, nicht das Dusch-WC.</a:t>
            </a:r>
            <a:endParaRPr lang="en-US" sz="26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70560" y="3657600"/>
            <a:ext cx="108508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" i="1" dirty="0">
                <a:solidFill>
                  <a:srgbClr val="9FC6EA"/>
                </a:solidFill>
                <a:latin typeface="Arial"/>
              </a:rPr>
              <a:t>Explorativ: kleine Stichproben, hypothetische Befragung</a:t>
            </a:r>
            <a:endParaRPr lang="en-US" sz="1600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0" y="5364480"/>
            <a:ext cx="609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3467" b="1" dirty="0">
                <a:solidFill>
                  <a:srgbClr val="FFFFFF"/>
                </a:solidFill>
                <a:latin typeface="Arial"/>
              </a:rPr>
              <a:t>Vielen Dank. Fragen?</a:t>
            </a:r>
            <a:endParaRPr lang="en-US" sz="3467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FFFFFF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13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670560" y="670560"/>
            <a:ext cx="108508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Anhang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70560" y="1915094"/>
            <a:ext cx="97536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spcAft>
                <a:spcPts val="800"/>
              </a:spcAft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A1  Gabor-Granger: Kennzahlen</a:t>
            </a:r>
            <a:endParaRPr lang="en-US" sz="2000" dirty="0">
              <a:solidFill>
                <a:srgbClr val="1F2A37"/>
              </a:solidFill>
            </a:endParaRPr>
          </a:p>
          <a:p>
            <a:pPr defTabSz="1219170">
              <a:spcAft>
                <a:spcPts val="800"/>
              </a:spcAft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A2  Conjoint-Design</a:t>
            </a:r>
          </a:p>
          <a:p>
            <a:pPr defTabSz="1219170">
              <a:spcAft>
                <a:spcPts val="800"/>
              </a:spcAft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A3  Conjoint-Teilnutzenwerte</a:t>
            </a:r>
          </a:p>
          <a:p>
            <a:pPr defTabSz="1219170">
              <a:spcAft>
                <a:spcPts val="800"/>
              </a:spcAft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A4  Conjoint-Segmente</a:t>
            </a:r>
            <a:endParaRPr lang="en-US" sz="2000" dirty="0">
              <a:solidFill>
                <a:srgbClr val="1F2A37"/>
              </a:solidFill>
            </a:endParaRPr>
          </a:p>
          <a:p>
            <a:pPr defTabSz="1219170">
              <a:spcAft>
                <a:spcPts val="800"/>
              </a:spcAft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A5  Forschungsfragen und Hypothesen</a:t>
            </a:r>
          </a:p>
          <a:p>
            <a:pPr defTabSz="1219170">
              <a:spcAft>
                <a:spcPts val="800"/>
              </a:spcAft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A6  Marktsimulation</a:t>
            </a:r>
          </a:p>
          <a:p>
            <a:pPr defTabSz="1219170">
              <a:spcAft>
                <a:spcPts val="800"/>
              </a:spcAft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A7  Wichtigste Quellen</a:t>
            </a:r>
            <a:endParaRPr lang="en-US" sz="2000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FFFFFF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14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A1 · Gabor-Granger: Kennzahlen (n = 20)</a:t>
            </a:r>
          </a:p>
        </p:txBody>
      </p:sp>
      <p:graphicFrame>
        <p:nvGraphicFramePr>
          <p:cNvPr id="5" name="Tabelle GG"/>
          <p:cNvGraphicFramePr>
            <a:graphicFrameLocks noGrp="1"/>
          </p:cNvGraphicFramePr>
          <p:nvPr/>
        </p:nvGraphicFramePr>
        <p:xfrm>
          <a:off x="548640" y="1463040"/>
          <a:ext cx="11094720" cy="4114800"/>
        </p:xfrm>
        <a:graphic>
          <a:graphicData uri="http://schemas.openxmlformats.org/drawingml/2006/table">
            <a:tbl>
              <a:tblPr/>
              <a:tblGrid>
                <a:gridCol w="47211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4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4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Basis-Bad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Komfort-Bad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Premium-Bad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Mittelwert Schwellenpreis, CHF (95-%-KI)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12.8 (5.5–21.0)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17.8 (9.5–26.8)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21.8 (13.8–30.3)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Median, CHF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10.0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Standardabweichung, CHF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18.0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20.0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19.6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Anteil mit höchstens CHF 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55 %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35 %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Anteil mit mindestens CHF 45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15 %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15 %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20 %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Zustimmung bei CHF 15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35 %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45 %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65 %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Optimaler Aufpreis, alle (Index)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CHF 50 (7.5)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CHF 55 (8.3)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CHF 20 (13.0)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A37"/>
                          </a:solidFill>
                          <a:latin typeface="Arial"/>
                        </a:rPr>
                        <a:t>Optimum ohne Hochpreis, n = 17 (Index)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CHF 10 bis 20 (6.0)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CHF 10 (5.9)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A37"/>
                          </a:solidFill>
                          <a:latin typeface="Arial"/>
                        </a:rPr>
                        <a:t>CHF 20 (11.8)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720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333">
                <a:solidFill>
                  <a:srgbClr val="5A6778"/>
                </a:solidFill>
                <a:latin typeface="Arial"/>
              </a:rPr>
              <a:t>Schwellenpreis = höchster akzeptierter Preis. KI = Bootstrap (5'000 Ziehungen). Umsatzindex = Preis × Zustimmungsanteil.</a:t>
            </a:r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15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A2 · Conjoint-Design: Merkmale und Stufen</a:t>
            </a:r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463040"/>
          <a:ext cx="11094720" cy="3703320"/>
        </p:xfrm>
        <a:graphic>
          <a:graphicData uri="http://schemas.openxmlformats.org/drawingml/2006/table">
            <a:tbl>
              <a:tblPr/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Merkmal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Stufe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Stufe 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Stufe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Aufpreis pro Nacht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15 (10 %)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CHF 45 (30 %)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Toilette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Klassisches WC, Standardspülung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 mit leiser Spülung und Geruchsabsaugung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Dusch-WC mit Warmwasser-Reinigung, leiser Spülung, Geruchsabsaugung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Standard-Duschwanne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Bodenebene Dusche mit Duschrinne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Bodenebene Dusche mit Regendusche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Waschtisch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Kleiner Waschtisch, Standardarmatur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Waschtisch, Standardarmatur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Waschtisch, berührungslose Armatur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Spiegel und Ablage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Kleiner Spiegel, wenig Ablagefläche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beleuchteter Spiegel, viel Ablagefläche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Grosser Spiegel, dimmbar und beschlagfrei, viel Ablagefläche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66360"/>
            <a:ext cx="1109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i="1" dirty="0">
                <a:solidFill>
                  <a:srgbClr val="5A6778"/>
                </a:solidFill>
                <a:latin typeface="Arial"/>
              </a:rPr>
              <a:t>7 Wahlaufgaben mit je 3 Profilen und «keines davon» · Referenzzimmer CHF 150 pro Nacht · Prozentangaben relativ zum Zimmerpreis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16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A3 · Conjoint: Teilnutzenwerte (n = 29)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8046720" y="4876800"/>
            <a:ext cx="35966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i="1" dirty="0">
                <a:solidFill>
                  <a:srgbClr val="5A6778"/>
                </a:solidFill>
                <a:latin typeface="Arial"/>
              </a:rPr>
              <a:t>Zero-Centered Diffs. Der Preisnutzen fällt von CHF 0 auf 15 um 123 Punkte, von CHF 15 auf 45 um 157 Punkte.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17</a:t>
            </a:fld>
            <a:endParaRPr lang="en-US">
              <a:latin typeface="Arial"/>
            </a:endParaRPr>
          </a:p>
        </p:txBody>
      </p:sp>
      <p:graphicFrame>
        <p:nvGraphicFramePr>
          <p:cNvPr id="26" name="CBC Teilnutzen"/>
          <p:cNvGraphicFramePr>
            <a:graphicFrameLocks noGrp="1"/>
          </p:cNvGraphicFramePr>
          <p:nvPr/>
        </p:nvGraphicFramePr>
        <p:xfrm>
          <a:off x="487680" y="1365504"/>
          <a:ext cx="73152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BC Preisnutzen"/>
          <p:cNvGraphicFramePr>
            <a:graphicFrameLocks noGrp="1"/>
          </p:cNvGraphicFramePr>
          <p:nvPr/>
        </p:nvGraphicFramePr>
        <p:xfrm>
          <a:off x="8046720" y="1365504"/>
          <a:ext cx="36576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A4 · Conjoint-Segmente (3 Segmente)</a:t>
            </a: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48640" y="1463040"/>
          <a:ext cx="11094720" cy="3840480"/>
        </p:xfrm>
        <a:graphic>
          <a:graphicData uri="http://schemas.openxmlformats.org/drawingml/2006/table">
            <a:tbl>
              <a:tblPr/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Kennzahl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Komfortorientiert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Preissensibel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Ablehnend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Befragte (Anteil)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(34 %)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(59 %)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(7 %)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Wichtigkeit des Aufpreises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 «keines davon»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Nutzenverlust CHF 0 → 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Preisschwelle Komfort / Premium, CHF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 / 35.0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 / 29.6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 / 2.9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Häufigste Reiseart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Aktivurlaub (6 von 10)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Wellness (6), Städtereise (5)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333" i="1" dirty="0">
                <a:solidFill>
                  <a:srgbClr val="5A6778"/>
                </a:solidFill>
                <a:latin typeface="Arial"/>
              </a:rPr>
              <a:t>Segmentzuordnung aus der Auswertungssoftware (n = 29). Das Segment «Ablehnend» besteht nur aus 2 Personen, die anderen Zahlen sind mit 10 und 17 Personen nur als Tendenz lesbar.</a:t>
            </a:r>
            <a:endParaRPr lang="en-US" sz="1333" dirty="0">
              <a:solidFill>
                <a:srgbClr val="1F2A37"/>
              </a:solidFill>
              <a:latin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18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A5 · Forschungsfragen und Hypothesen</a:t>
            </a:r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48640" y="1463040"/>
          <a:ext cx="11094720" cy="4617720"/>
        </p:xfrm>
        <a:graphic>
          <a:graphicData uri="http://schemas.openxmlformats.org/drawingml/2006/table">
            <a:tbl>
              <a:tblPr/>
              <a:tblGrid>
                <a:gridCol w="3901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Frage / Hypothese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Bewertung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A2F5C"/>
                      </a:solidFill>
                      <a:prstDash val="solid"/>
                    </a:lnB>
                    <a:solidFill>
                      <a:srgbClr val="0A2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Akzeptierter Aufpreis für Premium-Ausstattung?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Gabor-Granger Ø CHF 21.8 (Median 20), Conjoint Ø CHF 29.6 (Median 31.2)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A2F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Wichtigkeit des Preises vs. Ausstattung?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56 %, Dusche 20 %, Spiegel 9 %, Toilette 8 %, Waschtisch 6 %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Teilnutzen der Ausstattungsstufen?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Dusche und Waschtisch steigend, beim Spiegel ist die Mitte am besten, Toilette ohne klares Muster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Bestes Gesamtprofil?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Regendusche, berührungslose Armatur, beleuchteter Spiegel; bei der Toilette keine Aufwertung nötig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Beantwortet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H1: Gäste zahlen Aufpreis für besseres Bad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Ja, rund CHF 15–20; 30 % zahlen höchstens CHF 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Bestätigt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H2: Wirkung je Segment unterschiedlich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Starke Unterschiede (Preisgewicht 50 bis 60 %), aber nicht über Soziodemografie erklärbar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H3: Premium-Features wirken positiv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Berührungslose Armatur ja (CHF 2.2), Dusch-WC nein (CHF 0)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Teilweise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H4: Gesamtwirkung beeinflusst Präferenz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Premium-Bad mit höchster Zahlungsbereitschaft, obwohl das Dusch-WC einzeln keinen Wert hat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0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Bestätigt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19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A6 · Marktsimulation: Der Preisabstand entscheidet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06880"/>
            <a:ext cx="3779520" cy="1341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20" y="1972549"/>
            <a:ext cx="3474720" cy="797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>
              <a:spcAft>
                <a:spcPts val="267"/>
              </a:spcAft>
            </a:pPr>
            <a:r>
              <a:rPr sz="1733" b="1">
                <a:solidFill>
                  <a:srgbClr val="0A2F5C"/>
                </a:solidFill>
                <a:latin typeface="Arial"/>
              </a:rPr>
              <a:t>Gleicher Preis</a:t>
            </a:r>
          </a:p>
          <a:p>
            <a:pPr defTabSz="1038631"/>
            <a:r>
              <a:rPr sz="1600">
                <a:solidFill>
                  <a:srgbClr val="0A2F5C"/>
                </a:solidFill>
                <a:latin typeface="Arial"/>
              </a:rPr>
              <a:t>Bei CHF 0 und CHF 15 wählen 86 % das Premium-Bad.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169919"/>
            <a:ext cx="3779520" cy="1341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0" y="3435587"/>
            <a:ext cx="3474720" cy="797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>
              <a:spcAft>
                <a:spcPts val="267"/>
              </a:spcAft>
            </a:pPr>
            <a:r>
              <a:rPr sz="1733" b="1">
                <a:solidFill>
                  <a:srgbClr val="0A2F5C"/>
                </a:solidFill>
                <a:latin typeface="Arial"/>
              </a:rPr>
              <a:t>Grosser Abstand</a:t>
            </a:r>
          </a:p>
          <a:p>
            <a:pPr defTabSz="1038631"/>
            <a:r>
              <a:rPr sz="1600">
                <a:solidFill>
                  <a:srgbClr val="0A2F5C"/>
                </a:solidFill>
                <a:latin typeface="Arial"/>
              </a:rPr>
              <a:t>Kostet das Premium-Bad CHF 45, wählt es niemand. 59 % nehmen das Basis-Bad.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632960"/>
            <a:ext cx="3779520" cy="134112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</p:spPr>
        <p:txBody>
          <a:bodyPr rtlCol="0" anchor="ctr"/>
          <a:lstStyle/>
          <a:p>
            <a:pPr algn="ctr" defTabSz="1038631"/>
            <a:endParaRPr sz="2133">
              <a:solidFill>
                <a:srgbClr val="0A2F5C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0" y="4898627"/>
            <a:ext cx="3474720" cy="7975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defTabSz="1038631">
              <a:spcAft>
                <a:spcPts val="267"/>
              </a:spcAft>
            </a:pPr>
            <a:r>
              <a:rPr sz="1733" b="1">
                <a:solidFill>
                  <a:srgbClr val="0A2F5C"/>
                </a:solidFill>
                <a:latin typeface="Arial"/>
              </a:rPr>
              <a:t>Kleiner Mehrwert</a:t>
            </a:r>
          </a:p>
          <a:p>
            <a:pPr defTabSz="1038631"/>
            <a:r>
              <a:rPr sz="1600">
                <a:solidFill>
                  <a:srgbClr val="0A2F5C"/>
                </a:solidFill>
                <a:latin typeface="Arial"/>
              </a:rPr>
              <a:t>Kostet nur das Premium-Bad CHF 15, nehmen 72 % das Komfort-Bad.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6096001"/>
            <a:ext cx="3779520" cy="225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/>
            <a:r>
              <a:rPr sz="1467">
                <a:solidFill>
                  <a:srgbClr val="5A6778"/>
                </a:solidFill>
                <a:latin typeface="Arial"/>
              </a:rPr>
              <a:t>n = 29, Szenarien statt Prognose</a:t>
            </a:r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20</a:t>
            </a:fld>
            <a:endParaRPr lang="en-US">
              <a:latin typeface="Arial"/>
            </a:endParaRPr>
          </a:p>
        </p:txBody>
      </p:sp>
      <p:graphicFrame>
        <p:nvGraphicFramePr>
          <p:cNvPr id="16" name="Chart Marktsimulation"/>
          <p:cNvGraphicFramePr>
            <a:graphicFrameLocks noGrp="1"/>
          </p:cNvGraphicFramePr>
          <p:nvPr/>
        </p:nvGraphicFramePr>
        <p:xfrm>
          <a:off x="487680" y="1365504"/>
          <a:ext cx="740664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82880"/>
            <a:ext cx="11094720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A7 · Wichtigste Quellen</a:t>
            </a:r>
          </a:p>
        </p:txBody>
      </p:sp>
      <p:sp>
        <p:nvSpPr>
          <p:cNvPr id="5" name="Quellenliste"/>
          <p:cNvSpPr txBox="1"/>
          <p:nvPr/>
        </p:nvSpPr>
        <p:spPr>
          <a:xfrm>
            <a:off x="548640" y="1463040"/>
            <a:ext cx="11094720" cy="3968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Breidert, C., Hahsler, M., &amp; Reutterer, T. (2006). A review of methods for measuring willingness-to-pay. Innovative Marketing, 2(4), 8–32.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Gabor, A., &amp; Granger, C. W. J. (1966). Price as an indicator of quality. Economica, 33(129), 43–70.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Herriges, J. A., &amp; Shogren, J. F. (1996). Starting point bias in dichotomous choice valuation with follow-up questioning. JEEM, 30(1), 112–131.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Kuss, A., Wildner, R., &amp; Kreis, H. (2020). Marktforschung: Datenerhebung und Datenanalyse. Springer Gabler.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Lipovetsky, S., Magnan, S., &amp; Zanetti-Polzi, A. (2011). Pricing models in marketing research. Intelligent Information Management, 3(5), 167–174.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Masiero, L., Heo, C. Y., &amp; Pan, B. (2015). Determining guests’ willingness to pay for hotel room attributes with a discrete choice model. IJHM, 49, 117–124.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Miller, K. M., Hofstetter, R., Krohmer, H., &amp; Zhang, Z. J. (2011). How should consumers’ willingness to pay be measured? JMR, 48(1), 172–184.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Orme, B. K. (2019). Getting started with conjoint analysis (4. Aufl.). Research Publishers.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Schmidt, J., &amp; Bijmolt, T. H. A. (2020). Accurately measuring willingness to pay for consumer goods. JAMS, 48(3), 499–518.</a:t>
            </a:r>
          </a:p>
          <a:p>
            <a:pPr defTabSz="1038631">
              <a:spcAft>
                <a:spcPts val="667"/>
              </a:spcAft>
            </a:pPr>
            <a:r>
              <a:rPr sz="1467">
                <a:solidFill>
                  <a:srgbClr val="0A2F5C"/>
                </a:solidFill>
                <a:latin typeface="Arial"/>
              </a:rPr>
              <a:t>Verlegh, P. W. J., Schifferstein, H. N. J., &amp; Wittink, D. R. (2002). Range and number-of-levels effects. Marketing Letters, 13(1), 41–52.</a:t>
            </a:r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680960" y="6425184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rgbClr val="5A6778"/>
                </a:solidFill>
              </a:defRPr>
            </a:lvl1pPr>
          </a:lstStyle>
          <a:p>
            <a:pPr defTabSz="1219170"/>
            <a:fld id="{F7021451-1387-4CA6-816F-3879F97B5CBC}" type="slidenum">
              <a:rPr lang="en-US">
                <a:latin typeface="Arial"/>
              </a:rPr>
              <a:pPr defTabSz="1219170"/>
              <a:t>21</a:t>
            </a:fld>
            <a:endParaRPr lang="en-US">
              <a:latin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P SML_englisch_AACSB">
  <a:themeElements>
    <a:clrScheme name="ZHAW_PPT_neu">
      <a:dk1>
        <a:srgbClr val="002C59"/>
      </a:dk1>
      <a:lt1>
        <a:srgbClr val="FFFFFF"/>
      </a:lt1>
      <a:dk2>
        <a:srgbClr val="EA5B0C"/>
      </a:dk2>
      <a:lt2>
        <a:srgbClr val="F2E61A"/>
      </a:lt2>
      <a:accent1>
        <a:srgbClr val="0064A6"/>
      </a:accent1>
      <a:accent2>
        <a:srgbClr val="012C59"/>
      </a:accent2>
      <a:accent3>
        <a:srgbClr val="6799CA"/>
      </a:accent3>
      <a:accent4>
        <a:srgbClr val="9DB9DD"/>
      </a:accent4>
      <a:accent5>
        <a:srgbClr val="646464"/>
      </a:accent5>
      <a:accent6>
        <a:srgbClr val="969696"/>
      </a:accent6>
      <a:hlink>
        <a:srgbClr val="000000"/>
      </a:hlink>
      <a:folHlink>
        <a:srgbClr val="6FBAED"/>
      </a:folHlink>
    </a:clrScheme>
    <a:fontScheme name="zhaw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>
          <a:solidFill>
            <a:schemeClr val="bg1"/>
          </a:solidFill>
          <a:miter lim="800000"/>
          <a:headEnd/>
          <a:tailEnd/>
        </a:ln>
      </a:spPr>
      <a:bodyPr wrap="square" lIns="36000" tIns="36000" rIns="36000" bIns="36000" anchor="ctr" anchorCtr="1"/>
      <a:lstStyle>
        <a:defPPr algn="l">
          <a:defRPr b="1" dirty="0" smtClean="0">
            <a:solidFill>
              <a:schemeClr val="bg1"/>
            </a:solidFill>
            <a:ea typeface="ＭＳ Ｐゴシック" pitchFamily="50" charset="-128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PowerPoint_Template_SML_16_9_DE_2023.pptx" id="{EC15935D-8FE0-4274-818C-15BF66FDD2E1}" vid="{382D034A-F2CE-4C5F-9500-3682D1819D4A}"/>
    </a:ext>
  </a:extLst>
</a:theme>
</file>

<file path=ppt/theme/theme3.xml><?xml version="1.0" encoding="utf-8"?>
<a:theme xmlns:a="http://schemas.openxmlformats.org/drawingml/2006/main" name="ZHAW Pricing Gruppe 2">
  <a:themeElements>
    <a:clrScheme name="ZHAW Pricing Gruppe 2">
      <a:dk1>
        <a:srgbClr val="1F2A37"/>
      </a:dk1>
      <a:lt1>
        <a:srgbClr val="FFFFFF"/>
      </a:lt1>
      <a:dk2>
        <a:srgbClr val="0A2F5C"/>
      </a:dk2>
      <a:lt2>
        <a:srgbClr val="EEF3F8"/>
      </a:lt2>
      <a:accent1>
        <a:srgbClr val="0067AC"/>
      </a:accent1>
      <a:accent2>
        <a:srgbClr val="E5832A"/>
      </a:accent2>
      <a:accent3>
        <a:srgbClr val="4A93D1"/>
      </a:accent3>
      <a:accent4>
        <a:srgbClr val="8C99A8"/>
      </a:accent4>
      <a:accent5>
        <a:srgbClr val="0A2F5C"/>
      </a:accent5>
      <a:accent6>
        <a:srgbClr val="2E9C8F"/>
      </a:accent6>
      <a:hlink>
        <a:srgbClr val="0067AC"/>
      </a:hlink>
      <a:folHlink>
        <a:srgbClr val="5B4A9E"/>
      </a:folHlink>
    </a:clrScheme>
    <a:fontScheme name="ZHAW Pricing Gruppe 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4710</Words>
  <Application>Microsoft Office PowerPoint</Application>
  <PresentationFormat>Breitbild</PresentationFormat>
  <Paragraphs>501</Paragraphs>
  <Slides>21</Slides>
  <Notes>21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31" baseType="lpstr">
      <vt:lpstr>ＭＳ Ｐゴシック</vt:lpstr>
      <vt:lpstr>Aptos</vt:lpstr>
      <vt:lpstr>Aptos Display</vt:lpstr>
      <vt:lpstr>Arial</vt:lpstr>
      <vt:lpstr>Symbol</vt:lpstr>
      <vt:lpstr>ヒラギノ角ゴ Pro W3</vt:lpstr>
      <vt:lpstr>Office</vt:lpstr>
      <vt:lpstr>PP SML_englisch_AACSB</vt:lpstr>
      <vt:lpstr>ZHAW Pricing Gruppe 2</vt:lpstr>
      <vt:lpstr>think-cell Folie</vt:lpstr>
      <vt:lpstr>Zahlungsbereitschaft für hochwertige Sanitärausstattung im Hotelzimmer Marilena Marraffino und Dominic Hüppi  </vt:lpstr>
      <vt:lpstr>Ausgangslage: Lohnt sich ein besseres Bad für Hotels?</vt:lpstr>
      <vt:lpstr>Badezimmer-Ausstattungen</vt:lpstr>
      <vt:lpstr>Methode: Zwei Online-Befragungen</vt:lpstr>
      <vt:lpstr>Gabor-Granger: Beim Premium-Bad zahlen 65 % CHF 20 Aufpreis</vt:lpstr>
      <vt:lpstr>Umsatzkurve: Beim Premium-Bad liegt das Maximum bei CHF 20</vt:lpstr>
      <vt:lpstr>Conjoint: Der Preis dominiert die Wahl</vt:lpstr>
      <vt:lpstr>Für die Dusche zahlen Gäste am meisten</vt:lpstr>
      <vt:lpstr>Simulation: Bei gleichem Preis wählen fast alle das Premium-Bad</vt:lpstr>
      <vt:lpstr>Beide Methoden: Das Komfort-Bad ist rund CHF 18–19 wert</vt:lpstr>
      <vt:lpstr>Übersicht Teilnehmer</vt:lpstr>
      <vt:lpstr>Empfehlungen für Hoteliers</vt:lpstr>
      <vt:lpstr>Ein besseres Bad ist Gästen rund CHF 15–20 pro Nacht wert</vt:lpstr>
      <vt:lpstr>Anhang</vt:lpstr>
      <vt:lpstr>A1 · Gabor-Granger: Kennzahlen (n = 20)</vt:lpstr>
      <vt:lpstr>A2 · Conjoint-Design: Merkmale und Stufen</vt:lpstr>
      <vt:lpstr>A3 · Conjoint: Teilnutzenwerte (n = 29)</vt:lpstr>
      <vt:lpstr>A4 · Conjoint-Segmente (3 Segmente)</vt:lpstr>
      <vt:lpstr>A5 · Forschungsfragen und Hypothesen</vt:lpstr>
      <vt:lpstr>A6 · Marktsimulation: Der Preisabstand entscheidet</vt:lpstr>
      <vt:lpstr>A7 · Wichtigste 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Zahlungsbereitschaft für hochwertige Sanitärausstattung im Hotelzimmer</dc:title>
  <dc:subject>CAS Pricing, Leistungsnachweis 1</dc:subject>
  <dc:creator>Marilena Marraffino, Dominic Hüppi</dc:creator>
  <cp:keywords/>
  <dc:description/>
  <cp:lastModifiedBy>Marilena Marraffino</cp:lastModifiedBy>
  <cp:revision>2</cp:revision>
  <dcterms:created xsi:type="dcterms:W3CDTF">2026-10-13T14:07:34Z</dcterms:created>
  <dcterms:modified xsi:type="dcterms:W3CDTF">2026-10-14T07:58:22Z</dcterms:modified>
</cp:coreProperties>
</file>