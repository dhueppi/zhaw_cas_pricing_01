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leitung" id="{6c997814-cabb-3243-4eeb-e49fa19aaafb}">
          <p14:sldIdLst>
            <p14:sldId id="256"/>
            <p14:sldId id="257"/>
          </p14:sldIdLst>
        </p14:section>
        <p14:section name="Vorgehen" id="{f9468392-427b-9776-135a-309ff761d8c5}">
          <p14:sldIdLst>
            <p14:sldId id="258"/>
          </p14:sldIdLst>
        </p14:section>
        <p14:section name="Ergebnisse" id="{87e831b4-a677-043c-1222-ea929db97b4b}">
          <p14:sldIdLst>
            <p14:sldId id="259"/>
            <p14:sldId id="260"/>
            <p14:sldId id="261"/>
            <p14:sldId id="262"/>
            <p14:sldId id="263"/>
          </p14:sldIdLst>
        </p14:section>
        <p14:section name="Empfehlungen" id="{5340fec7-e560-3971-78ea-92f72fafc7da}">
          <p14:sldIdLst>
            <p14:sldId id="264"/>
            <p14:sldId id="265"/>
          </p14:sldIdLst>
        </p14:section>
        <p14:section name="Anhang" id="{484b37d5-e618-5b6c-d176-d1c4fe9a08be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+mn-lt"/>
              </a:rPr>
              <a:t>Anteil, der den Aufpreis akzeptiert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Basis-Bad</c:v>
                </c:pt>
              </c:strCache>
            </c:strRef>
          </c:tx>
          <c:spPr>
            <a:solidFill>
              <a:srgbClr val="8C99A8"/>
            </a:solidFill>
            <a:ln w="31750" cap="flat">
              <a:solidFill>
                <a:srgbClr val="8C99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C99A8"/>
              </a:solidFill>
              <a:ln w="9525" cap="flat">
                <a:solidFill>
                  <a:srgbClr val="8C99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45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95</c:v>
                </c:pt>
                <c:pt idx="1">
                  <c:v>50</c:v>
                </c:pt>
                <c:pt idx="2">
                  <c:v>45</c:v>
                </c:pt>
                <c:pt idx="3">
                  <c:v>35</c:v>
                </c:pt>
                <c:pt idx="4">
                  <c:v>30</c:v>
                </c:pt>
                <c:pt idx="5">
                  <c:v>20</c:v>
                </c:pt>
                <c:pt idx="6">
                  <c:v>15</c:v>
                </c:pt>
                <c:pt idx="7">
                  <c:v>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Komfort-Bad</c:v>
                </c:pt>
              </c:strCache>
            </c:strRef>
          </c:tx>
          <c:spPr>
            <a:solidFill>
              <a:srgbClr val="4A93D1"/>
            </a:solidFill>
            <a:ln w="31750" cap="flat">
              <a:solidFill>
                <a:srgbClr val="4A93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4A93D1"/>
              </a:solidFill>
              <a:ln w="9525" cap="flat">
                <a:solidFill>
                  <a:srgbClr val="4A93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45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95</c:v>
                </c:pt>
                <c:pt idx="1">
                  <c:v>70</c:v>
                </c:pt>
                <c:pt idx="2">
                  <c:v>65</c:v>
                </c:pt>
                <c:pt idx="3">
                  <c:v>45</c:v>
                </c:pt>
                <c:pt idx="4">
                  <c:v>35</c:v>
                </c:pt>
                <c:pt idx="5">
                  <c:v>30</c:v>
                </c:pt>
                <c:pt idx="6">
                  <c:v>25</c:v>
                </c:pt>
                <c:pt idx="7">
                  <c:v>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Premium-Bad</c:v>
                </c:pt>
              </c:strCache>
            </c:strRef>
          </c:tx>
          <c:spPr>
            <a:solidFill>
              <a:srgbClr val="0A2F5C"/>
            </a:solidFill>
            <a:ln w="31750" cap="flat">
              <a:solidFill>
                <a:srgbClr val="0A2F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A2F5C"/>
              </a:solidFill>
              <a:ln w="9525" cap="flat">
                <a:solidFill>
                  <a:srgbClr val="0A2F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45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95</c:v>
                </c:pt>
                <c:pt idx="1">
                  <c:v>75</c:v>
                </c:pt>
                <c:pt idx="2">
                  <c:v>70</c:v>
                </c:pt>
                <c:pt idx="3">
                  <c:v>65</c:v>
                </c:pt>
                <c:pt idx="4">
                  <c:v>65</c:v>
                </c:pt>
                <c:pt idx="5">
                  <c:v>30</c:v>
                </c:pt>
                <c:pt idx="6">
                  <c:v>30</c:v>
                </c:pt>
                <c:pt idx="7">
                  <c:v>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568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4A5568"/>
                    </a:solidFill>
                    <a:latin typeface="+mn-lt"/>
                  </a:rPr>
                  <a:t>Aufpreis pro Nacht in CHF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4A55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+mn-lt"/>
              </a:rPr>
              <a:t>Relative Wichtigkeit der Merkmale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Wichtigkeit</c:v>
                </c:pt>
              </c:strCache>
            </c:strRef>
          </c:tx>
          <c:spPr>
            <a:solidFill>
              <a:srgbClr val="0A2F5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2F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832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93D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93D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C99A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Aufpreis</c:v>
                  </c:pt>
                  <c:pt idx="1">
                    <c:v>Dusche</c:v>
                  </c:pt>
                  <c:pt idx="2">
                    <c:v>Waschtisch</c:v>
                  </c:pt>
                  <c:pt idx="3">
                    <c:v>Spiegel</c:v>
                  </c:pt>
                  <c:pt idx="4">
                    <c:v>Toilette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71.4</c:v>
                </c:pt>
                <c:pt idx="1">
                  <c:v>10.3</c:v>
                </c:pt>
                <c:pt idx="2">
                  <c:v>7.3</c:v>
                </c:pt>
                <c:pt idx="3">
                  <c:v>6.5</c:v>
                </c:pt>
                <c:pt idx="4">
                  <c:v>4.6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BD5E0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+mn-lt"/>
              </a:rPr>
              <a:t>Zahlungsbereitschaft pro Nacht gegenüber der Basisstufe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CHF pro Nacht</c:v>
                </c:pt>
              </c:strCache>
            </c:strRef>
          </c:tx>
          <c:spPr>
            <a:solidFill>
              <a:srgbClr val="E5832A"/>
            </a:solidFill>
            <a:effectLst/>
          </c:spPr>
          <c:invertIfNegative val="0"/>
          <c:dLbls>
            <c:numFmt formatCode="&quot;CHF &quot;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83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832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93D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93D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93D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93D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C99A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C99A8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Regendusche</c:v>
                  </c:pt>
                  <c:pt idx="1">
                    <c:v>Duschrinne</c:v>
                  </c:pt>
                  <c:pt idx="2">
                    <c:v>Beleuchteter Spiegel</c:v>
                  </c:pt>
                  <c:pt idx="3">
                    <c:v>Berührungslose Armatur</c:v>
                  </c:pt>
                  <c:pt idx="4">
                    <c:v>Grosser Waschtisch</c:v>
                  </c:pt>
                  <c:pt idx="5">
                    <c:v>Dimmbarer Spiegel</c:v>
                  </c:pt>
                  <c:pt idx="6">
                    <c:v>Dusch-WC</c:v>
                  </c:pt>
                  <c:pt idx="7">
                    <c:v>Leises WC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10.9</c:v>
                </c:pt>
                <c:pt idx="1">
                  <c:v>8.5</c:v>
                </c:pt>
                <c:pt idx="2">
                  <c:v>6.3</c:v>
                </c:pt>
                <c:pt idx="3">
                  <c:v>6</c:v>
                </c:pt>
                <c:pt idx="4">
                  <c:v>4.4</c:v>
                </c:pt>
                <c:pt idx="5">
                  <c:v>3.5</c:v>
                </c:pt>
                <c:pt idx="6">
                  <c:v>1.6</c:v>
                </c:pt>
                <c:pt idx="7">
                  <c:v>1</c:v>
                </c:pt>
              </c:numCache>
            </c:numRef>
          </c:val>
        </c:ser>
        <c:dLbls>
          <c:numFmt formatCode="&quot;CHF &quot;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BD5E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+mn-lt"/>
              </a:rPr>
              <a:t>Ø Teilnutzenwerte je Stufe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Stufe 1 (Basis)</c:v>
                </c:pt>
              </c:strCache>
            </c:strRef>
          </c:tx>
          <c:spPr>
            <a:solidFill>
              <a:srgbClr val="8C99A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Toilette</c:v>
                  </c:pt>
                  <c:pt idx="1">
                    <c:v>Dusche</c:v>
                  </c:pt>
                  <c:pt idx="2">
                    <c:v>Waschtisch</c:v>
                  </c:pt>
                  <c:pt idx="3">
                    <c:v>Spiegel/Ablage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-29.3</c:v>
                </c:pt>
                <c:pt idx="2">
                  <c:v>-16.7</c:v>
                </c:pt>
                <c:pt idx="3">
                  <c:v>-13.5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Stufe 2</c:v>
                </c:pt>
              </c:strCache>
            </c:strRef>
          </c:tx>
          <c:spPr>
            <a:solidFill>
              <a:srgbClr val="4A93D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Toilette</c:v>
                  </c:pt>
                  <c:pt idx="1">
                    <c:v>Dusche</c:v>
                  </c:pt>
                  <c:pt idx="2">
                    <c:v>Waschtisch</c:v>
                  </c:pt>
                  <c:pt idx="3">
                    <c:v>Spiegel/Ablage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-2.5</c:v>
                </c:pt>
                <c:pt idx="1">
                  <c:v>7.3</c:v>
                </c:pt>
                <c:pt idx="2">
                  <c:v>4.3</c:v>
                </c:pt>
                <c:pt idx="3">
                  <c:v>12.3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Stufe 3</c:v>
                </c:pt>
              </c:strCache>
            </c:strRef>
          </c:tx>
          <c:spPr>
            <a:solidFill>
              <a:srgbClr val="0A2F5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Toilette</c:v>
                  </c:pt>
                  <c:pt idx="1">
                    <c:v>Dusche</c:v>
                  </c:pt>
                  <c:pt idx="2">
                    <c:v>Waschtisch</c:v>
                  </c:pt>
                  <c:pt idx="3">
                    <c:v>Spiegel/Ablage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1.5</c:v>
                </c:pt>
                <c:pt idx="1">
                  <c:v>22</c:v>
                </c:pt>
                <c:pt idx="2">
                  <c:v>12.3</c:v>
                </c:pt>
                <c:pt idx="3">
                  <c:v>1.2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4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4A55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+mn-lt"/>
              </a:rPr>
              <a:t>Teilnutzen des Aufpreises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Preis</c:v>
                </c:pt>
              </c:strCache>
            </c:strRef>
          </c:tx>
          <c:spPr>
            <a:solidFill>
              <a:srgbClr val="E5832A"/>
            </a:solidFill>
            <a:ln w="38100" cap="flat">
              <a:solidFill>
                <a:srgbClr val="E5832A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5832A"/>
              </a:solidFill>
              <a:ln w="9525" cap="flat">
                <a:solidFill>
                  <a:srgbClr val="E583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CHF 0</c:v>
                  </c:pt>
                  <c:pt idx="1">
                    <c:v>CHF 15</c:v>
                  </c:pt>
                  <c:pt idx="2">
                    <c:v>CHF 45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145.7</c:v>
                </c:pt>
                <c:pt idx="1">
                  <c:v>65.8</c:v>
                </c:pt>
                <c:pt idx="2">
                  <c:v>-211.5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7"/>
                  </a:solidFill>
                  <a:latin typeface="+mn-lt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-3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SPRECHER/IN A · ca. 0:20
Begrüssung und Vorstellung. Thema: Was ist Hotelgästen ein hochwertigeres Badezimmer wert? Fiktiver Auftrag der Geberit 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SPRECHER/IN A · ca. 0:50
Hotels investieren in Zimmerausstattung, das Bad nutzen Gäste täglich. Unklar ist, ob Gäste für ein besseres Bad mehr bezahlen. Für Geberit ist das zentral: Hotels investieren nur, wenn sich das über den Zimmerpreis zurückverdienen lässt.
Leitfrage vorlesen. Links das Hotelzimmer, das wir den Befragten als Kontext gezeigt haben – ein Zimmer der 3- bis 4-Sterne-Klasse zu CHF 150 pro Nacht.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SPRECHER/IN A · ca. 1:10
Wir sind dem Marktforschungsprozess nach Kuss et al. gefolgt – vom Problem bis zum Bericht.
Kern sind zwei unabhängige Online-Befragungen mit verschiedenen Personen:
– Choice-based Conjoint: 7 Wahlaufgaben, je 3 Bäder plus «keines davon». Die Bäder unterscheiden sich in Aufpreis (CHF 0/15/45), WC, Dusche, Waschtisch und Spiegel. 28 Teilnehmende, Nutzenwerte im aktuellen Export für 12.
– Gabor-Granger: Die drei Badezimmer rechts wurden als Bilder gezeigt – Basis, Komfort, Premium. Pro Bad wird adaptiv gefragt, ob man einen Aufpreis zwischen CHF 0 und 70 zahlen würde. 20 auswertbare Antworten.
Zwei Verfahren an zwei Stichproben – zeigen beide in dieselbe Richtung, ist das Ergebnis glaubwürdiger. Gelegenheitsstichprobe, also explorativ.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SPRECHER/IN A · ca. 1:20
Die Kurven zeigen, wie viele einen Aufpreis noch akzeptieren. Beim Basis-Bad halbiert sich die Zustimmung schon bei CHF 5. Das Premium-Bad – rechts im Bild – hält am längsten: 65 % akzeptieren auch CHF 20, danach fällt die Kurve auf 30 %.
Preis mal Anteil ergibt den Umsatz: Beim Premium-Bad liegt das Maximum klar bei CHF 20 – stabil in 72 % der Bootstrap-Stichproben. Bei Basis- und Komfort-Bad gibt es kein stabiles Optimum, es hängt an drei Personen mit sehr hohen Werten.
Median der akzeptierten Aufpreise: Basis 2.50, Komfort 10, Premium 20 Franken. Übergabe an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SPRECHER/IN B · ca. 0:50
In der Conjoint erklärt der Aufpreis gut 71 % der Wahlentscheidungen. Das ist teilweise ein Designeffekt: CHF 45 sind 30 % des Zimmerpreises.
Aussagekräftiger ist die Rangfolge der Ausstattung: Dusche vor Waschtisch und Spiegel, die Toilette spielt die kleinste Rolle. Basis: Nutzenwerte von 12 Personen.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SPRECHER/IN B · ca. 1:00
Aus den Teilnutzen lässt sich ein Frankenwert pro Ausstattungsstufe berechnen (Teilnutzenwerte im Anhang).
Am meisten wert ist der Duschbereich: knapp 11 Franken pro Nacht für die bodenebene Dusche mit Regendusche, 8.50 mit Duschrinne – alle 12 Personen bewerten beide höher als die Duschwanne.
Dusch-WC und leises WC: im Mittel 1 bis 2 Franken, der Median ist sogar negativ – praktisch kein Mehrwert.
Keine einzelne Aufwertung erreicht CHF 15. Einen Aufpreis rechtfertigt erst das Paket.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SPRECHER/IN B · ca. 0:50
Mit den Conjoint-Nutzenwerten simulieren wir eine Wahl: Jede Person nimmt das Bad mit dem höchsten Gesamtnutzen – oder keines. Hier kosten alle drei Bäder gleich viel, nämlich CHF 15 Aufpreis.
Ergebnis: Niemand wählt das Basis-Bad. Gut ein Viertel nimmt das Komfort-Bad, die Mehrheit das Premium-Bad – vor allem wegen Regendusche und berührungsloser Armatur, nicht wegen des Dusch-WCs.
Zusatz: Kostet das Premium-Bad CHF 45, wählt es niemand mehr. Bei einem Einheitspreis liegt das Umsatzmaximum bei CHF 20 (zwischen 15 und 45 Franken wurde kein Preis getestet).
(Komfort = jeweils Stufe 2, Premium = Stufe 3 aller Merkmale; n = 12, eine Person = 8 Prozentpunkte.)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SPRECHER/IN B · ca. 0:50
Pro Bad zeigen wir den durchschnittlich akzeptierten Aufpreis – blau aus der Gabor-Granger, orange aus der Conjoint (dort der Aufpreis, bei dem das Bad gerade noch der Option «keines» vorgezogen wird).
Beide Methoden zeigen dieselbe Rangfolge, und bei Komfort- und Premium-Bad liegen sie nah beieinander: rund 17 bis 22 Franken – obwohl verschiedene Personen und verschiedene Darstellungen. Statistisch kein Unterschied.
Aber die Gäste sind unterschiedlich: In der Gabor-Granger zahlen 30 % für kein Bad mehr als CHF 5, 15 % nennen für jedes Bad sehr hohe Werte. Die Conjoint-Segmente zeigen dasselbe Muster (Anhang).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SPRECHER/IN A · ca. 1:30
1. Gegenüber Hotels einen Aufpreis von 15 bis 20 Franken pro Nacht argumentieren – rund 10 bis 13 % auf CHF 150. Vorsichtig gerechnet (hypothetischer Bias ca. 21 %) eher 16 bis 17 Franken. Über 25 Franken bricht die Nachfrage ein.
2. Den Duschbereich ins Zentrum stellen – grösster Werthebel.
3. Ein gezieltes Paket statt Voll-Premium empfehlen: Regendusche, grosser Waschtisch mit berührungsloser Armatur, beleuchteter Spiegel. Dusch-WC und dimmbarer Spiegel bringen kaum etwas dazu.
4. Das Dusch-WC nicht als Hauptargument nutzen, sondern separat testen.
Nächster Schritt: Studie mit mindestens 72 Befragten, feinere Preisstufen zwischen CHF 20 und 30, Pilot in einem Hotel.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SPRECHER/IN B · ca. 0:40
Zur Leitfrage: Ja, ein besseres Bad steigert die Zahlungsbereitschaft – um rund 15 bis 20 Franken pro Nacht. Den Wert schafft vor allem der Duschbereich, nicht das Dusch-WC.
Grenzen offen ansprechen: kleine Gelegenheitsstichproben (Conjoint 12 bzw. 28, Gabor-Granger 20), hypothetische Abfrage, Preise zwischen 15 und 45 Franken nicht getestet.
Danke – wir freuen uns auf Ihre Fragen.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3434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132588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2606040"/>
            <a:ext cx="548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37160"/>
            <a:ext cx="8778240" cy="74980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137160"/>
            <a:ext cx="83210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100" dirty="0"/>
          </a:p>
        </p:txBody>
      </p:sp>
      <p:sp>
        <p:nvSpPr>
          <p:cNvPr id="4" name="Text 0"/>
          <p:cNvSpPr/>
          <p:nvPr/>
        </p:nvSpPr>
        <p:spPr>
          <a:xfrm>
            <a:off x="411480" y="4818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78"/>
                </a:solidFill>
              </a:rPr>
              <a:t>17.10.2026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463040" y="48188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778"/>
                </a:solidFill>
              </a:rPr>
              <a:t>CAS Pricing | Leistungsnachweis 1 | Gruppe 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6309360" y="48188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ZHAW School of Management and Law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NKEL">
    <p:bg>
      <p:bgPr>
        <a:solidFill>
          <a:srgbClr val="0A2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02920"/>
            <a:ext cx="81381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411480" y="4818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17.10.2026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463040" y="48188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CAS Pricing | Leistungsnachweis 1 | Gruppe 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6309360" y="48188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ZHAW School of Management and Law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image" Target="../media/image-3-5.jpe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85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CAS PRICING  |  LEISTUNGSNACHWEIS MODUL 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13258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Was ist Gästen ein besseres Bad wert?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26060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Preisforschung im fiktiven Auftrag der Geberit AG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188720"/>
            <a:ext cx="868680" cy="868680"/>
          </a:xfrm>
          <a:prstGeom prst="ellipse">
            <a:avLst/>
          </a:prstGeom>
          <a:solidFill>
            <a:srgbClr val="FFFFFF">
              <a:alpha val="18000"/>
            </a:srgbClr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417320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2057400"/>
            <a:ext cx="868680" cy="868680"/>
          </a:xfrm>
          <a:prstGeom prst="ellipse">
            <a:avLst/>
          </a:prstGeom>
          <a:solidFill>
            <a:srgbClr val="FFFFFF">
              <a:alpha val="18000"/>
            </a:srgbClr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286000"/>
            <a:ext cx="411480" cy="411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720840" y="2926080"/>
            <a:ext cx="868680" cy="868680"/>
          </a:xfrm>
          <a:prstGeom prst="ellipse">
            <a:avLst/>
          </a:prstGeom>
          <a:solidFill>
            <a:srgbClr val="FFFFFF">
              <a:alpha val="18000"/>
            </a:srgbClr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15468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02920" y="4507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Marilena Marraffino · Dominic Hüppi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502920" y="47823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778"/>
                </a:solidFill>
              </a:rPr>
              <a:t>Gruppe 2 · Dozentin: Dr. Nina Heim · 17.10.2026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5852160" y="46177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ZHAW School of Management and Law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11480" y="13716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Ausgangslage: Lohnt sich ein besseres Bad für Hotels?</a:t>
            </a:r>
            <a:endParaRPr lang="en-US" sz="2100" dirty="0"/>
          </a:p>
        </p:txBody>
      </p:sp>
      <p:pic>
        <p:nvPicPr>
          <p:cNvPr id="3" name="Bild Hotelzimmer" descr="Hotelzimmer aus der Befragu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931920" cy="3474720"/>
          </a:xfrm>
          <a:prstGeom prst="rect">
            <a:avLst/>
          </a:prstGeom>
        </p:spPr>
      </p:pic>
      <p:sp>
        <p:nvSpPr>
          <p:cNvPr id="4" name="Leitfrage"/>
          <p:cNvSpPr/>
          <p:nvPr/>
        </p:nvSpPr>
        <p:spPr>
          <a:xfrm>
            <a:off x="4663440" y="1143000"/>
            <a:ext cx="406908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93776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C6EA"/>
                </a:solidFill>
              </a:rPr>
              <a:t>LEITFRAGE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16459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Welche Sanitärausstattung steigert die Zahlungsbereitschaft so stark, dass sich die Investition für Hotels lohnt?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663440" y="370332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5120640" y="37764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738" y="3871570"/>
            <a:ext cx="175565" cy="17556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09160" y="41788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Hotels investieren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035040" y="370332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6492240" y="37764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338" y="3871570"/>
            <a:ext cx="175565" cy="17556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080760" y="41788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Wert unklar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406640" y="370332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6" name="Shape 11"/>
          <p:cNvSpPr/>
          <p:nvPr/>
        </p:nvSpPr>
        <p:spPr>
          <a:xfrm>
            <a:off x="7863840" y="37764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938" y="3871570"/>
            <a:ext cx="175565" cy="17556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52360" y="41788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Geberit braucht Argumente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11480" y="13716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Vorgehen: zwei unabhängige Befragungen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1045029" y="1344168"/>
            <a:ext cx="7053943" cy="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3861" y="1143000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3861" y="1143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09344"/>
            <a:ext cx="117565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Problem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9518" y="1143000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19518" y="1143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32857" y="1609344"/>
            <a:ext cx="117565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Ziele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95175" y="1143000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95175" y="1143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08514" y="1609344"/>
            <a:ext cx="117565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Design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70832" y="1143000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70832" y="1143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84171" y="1609344"/>
            <a:ext cx="117565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Instrumente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46489" y="1143000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46489" y="1143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59829" y="1609344"/>
            <a:ext cx="117565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Daten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2146" y="1143000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2146" y="1143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35486" y="1609344"/>
            <a:ext cx="117565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Analyse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97803" y="1143000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97803" y="1143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511143" y="1609344"/>
            <a:ext cx="117565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Bericht</a:t>
            </a:r>
            <a:endParaRPr lang="en-US" sz="1100" dirty="0"/>
          </a:p>
        </p:txBody>
      </p:sp>
      <p:sp>
        <p:nvSpPr>
          <p:cNvPr id="25" name="Conjoint"/>
          <p:cNvSpPr/>
          <p:nvPr/>
        </p:nvSpPr>
        <p:spPr>
          <a:xfrm>
            <a:off x="457200" y="2103120"/>
            <a:ext cx="39776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22860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2416759"/>
            <a:ext cx="241402" cy="24140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32588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Choice-based Conjoint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3017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n = 28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2103120" y="3017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7 Wahlaufgaben: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Welches Bad wählen Sie?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85800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778"/>
                </a:solidFill>
              </a:rPr>
              <a:t>5 Merkmale à 3 Stufen, Aufpreis CHF 0 / 15 / 45</a:t>
            </a:r>
            <a:endParaRPr lang="en-US" sz="1200" dirty="0"/>
          </a:p>
        </p:txBody>
      </p:sp>
      <p:sp>
        <p:nvSpPr>
          <p:cNvPr id="32" name="Gabor-Granger"/>
          <p:cNvSpPr/>
          <p:nvPr/>
        </p:nvSpPr>
        <p:spPr>
          <a:xfrm>
            <a:off x="4709160" y="2103120"/>
            <a:ext cx="39776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33" name="Shape 30"/>
          <p:cNvSpPr/>
          <p:nvPr/>
        </p:nvSpPr>
        <p:spPr>
          <a:xfrm>
            <a:off x="4937760" y="22860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519" y="2416759"/>
            <a:ext cx="241402" cy="241402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557784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Gabor-Granger</a:t>
            </a:r>
            <a:endParaRPr lang="en-US" sz="1600" dirty="0"/>
          </a:p>
        </p:txBody>
      </p:sp>
      <p:sp>
        <p:nvSpPr>
          <p:cNvPr id="36" name="Text 32"/>
          <p:cNvSpPr txBox="1"/>
          <p:nvPr/>
        </p:nvSpPr>
        <p:spPr>
          <a:xfrm>
            <a:off x="4937760" y="3017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n = 20</a:t>
            </a:r>
            <a:endParaRPr lang="en-US" sz="2400" dirty="0"/>
          </a:p>
        </p:txBody>
      </p:sp>
      <p:pic>
        <p:nvPicPr>
          <p:cNvPr id="37" name="Thumb Basis" descr="Basis-Ba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852928"/>
            <a:ext cx="768096" cy="768096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6099048" y="3657600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Basis</a:t>
            </a:r>
            <a:endParaRPr lang="en-US" sz="1000" dirty="0"/>
          </a:p>
        </p:txBody>
      </p:sp>
      <p:pic>
        <p:nvPicPr>
          <p:cNvPr id="39" name="Thumb Komfort" descr="Komfort-B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16" y="2852928"/>
            <a:ext cx="768096" cy="768096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6940296" y="3657600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Komfort</a:t>
            </a:r>
            <a:endParaRPr lang="en-US" sz="1000" dirty="0"/>
          </a:p>
        </p:txBody>
      </p:sp>
      <p:pic>
        <p:nvPicPr>
          <p:cNvPr id="41" name="Thumb Premium" descr="Premium-Ba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4" y="2852928"/>
            <a:ext cx="768096" cy="768096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7781544" y="3657600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Premium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4937760" y="3950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778"/>
                </a:solidFill>
              </a:rPr>
              <a:t>Ja/Nein zu Aufpreisen von CHF 0 bis 70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778"/>
                </a:solidFill>
              </a:rPr>
              <a:t>Hotelgäste auf Privatreisen · verschiedene Personen je Befragung · Erhebung 24.9. bis 9.10.2026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11480" y="13716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Gabor-Granger: Das Premium-Bad trägt CHF 20 Aufpreis</a:t>
            </a:r>
            <a:endParaRPr lang="en-US" sz="2100" dirty="0"/>
          </a:p>
        </p:txBody>
      </p:sp>
      <p:graphicFrame>
        <p:nvGraphicFramePr>
          <p:cNvPr id="3" name="GG Nachfragekurve" descr=""/>
          <p:cNvGraphicFramePr/>
          <p:nvPr/>
        </p:nvGraphicFramePr>
        <p:xfrm>
          <a:off x="365760" y="1024128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46520" y="1143000"/>
            <a:ext cx="2286000" cy="3520440"/>
          </a:xfrm>
          <a:prstGeom prst="roundRect">
            <a:avLst>
              <a:gd name="adj" fmla="val 3200"/>
            </a:avLst>
          </a:prstGeom>
          <a:solidFill>
            <a:srgbClr val="FCEBDD"/>
          </a:solidFill>
          <a:ln/>
        </p:spPr>
      </p:sp>
      <p:pic>
        <p:nvPicPr>
          <p:cNvPr id="5" name="Bild Premium" descr="Premium-B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80160"/>
            <a:ext cx="2011680" cy="13258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629400" y="27249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CHF 20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6629400" y="33101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umsatzstärkster Aufpreis für das Premium-Bad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62940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65 % zahlen das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11480" y="13716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Conjoint: Der Preis dominiert die Wahl</a:t>
            </a:r>
            <a:endParaRPr lang="en-US" sz="2100" dirty="0"/>
          </a:p>
        </p:txBody>
      </p:sp>
      <p:graphicFrame>
        <p:nvGraphicFramePr>
          <p:cNvPr id="3" name="CBC Wichtigkeit" descr=""/>
          <p:cNvGraphicFramePr/>
          <p:nvPr/>
        </p:nvGraphicFramePr>
        <p:xfrm>
          <a:off x="365760" y="1024128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46520" y="1463040"/>
            <a:ext cx="2286000" cy="237744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62940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71 %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629400" y="2377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der Wahl erklärt der Aufpreis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629400" y="30175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Bei der Ausstattung zählt die Dusche am meisten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11480" y="13716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Die Dusche ist der grösste Werthebel</a:t>
            </a:r>
            <a:endParaRPr lang="en-US" sz="2100" dirty="0"/>
          </a:p>
        </p:txBody>
      </p:sp>
      <p:graphicFrame>
        <p:nvGraphicFramePr>
          <p:cNvPr id="3" name="CBC Zahlungsbereitschaft" descr=""/>
          <p:cNvGraphicFramePr/>
          <p:nvPr/>
        </p:nvGraphicFramePr>
        <p:xfrm>
          <a:off x="365760" y="1024128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46520" y="123444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CEBDD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629400" y="1371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CHF 10.90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62940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für die Regendusche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46520" y="2834640"/>
            <a:ext cx="228600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629400" y="2971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CHF 1.60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35661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für das Dusch-WC – kaum Mehrwert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11480" y="13716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Simulation: Bei gleichem Preis will niemand das Basis-Bad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Was wählen Gäste, wenn jedes Bad CHF 15 Aufpreis kostet?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127248"/>
            <a:ext cx="82296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6700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0 %</a:t>
            </a:r>
            <a:endParaRPr lang="en-US" sz="2200" dirty="0"/>
          </a:p>
        </p:txBody>
      </p:sp>
      <p:pic>
        <p:nvPicPr>
          <p:cNvPr id="6" name="Bild Basis-Bad" descr="Basis-B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18688"/>
            <a:ext cx="1600200" cy="10515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43159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Basis-Bad</a:t>
            </a:r>
            <a:endParaRPr lang="en-US" sz="1300" dirty="0"/>
          </a:p>
        </p:txBody>
      </p:sp>
      <p:sp>
        <p:nvSpPr>
          <p:cNvPr id="8" name="Balken Komfort-Bad"/>
          <p:cNvSpPr/>
          <p:nvPr/>
        </p:nvSpPr>
        <p:spPr>
          <a:xfrm>
            <a:off x="3172968" y="2574798"/>
            <a:ext cx="822960" cy="552450"/>
          </a:xfrm>
          <a:prstGeom prst="rect">
            <a:avLst/>
          </a:prstGeom>
          <a:solidFill>
            <a:srgbClr val="4A93D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788920" y="211759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25 %</a:t>
            </a:r>
            <a:endParaRPr lang="en-US" sz="2200" dirty="0"/>
          </a:p>
        </p:txBody>
      </p:sp>
      <p:pic>
        <p:nvPicPr>
          <p:cNvPr id="10" name="Bild Komfort-Bad" descr="Komfort-B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3218688"/>
            <a:ext cx="1600200" cy="10515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88920" y="43159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Komfort-Bad</a:t>
            </a:r>
            <a:endParaRPr lang="en-US" sz="1300" dirty="0"/>
          </a:p>
        </p:txBody>
      </p:sp>
      <p:sp>
        <p:nvSpPr>
          <p:cNvPr id="12" name="Balken Premium-Bad"/>
          <p:cNvSpPr/>
          <p:nvPr/>
        </p:nvSpPr>
        <p:spPr>
          <a:xfrm>
            <a:off x="5321808" y="1845564"/>
            <a:ext cx="822960" cy="1281684"/>
          </a:xfrm>
          <a:prstGeom prst="rect">
            <a:avLst/>
          </a:prstGeom>
          <a:solidFill>
            <a:srgbClr val="0A2F5C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937760" y="138836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58 %</a:t>
            </a:r>
            <a:endParaRPr lang="en-US" sz="2200" dirty="0"/>
          </a:p>
        </p:txBody>
      </p:sp>
      <p:pic>
        <p:nvPicPr>
          <p:cNvPr id="14" name="Bild Premium-Bad" descr="Premium-Ba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218688"/>
            <a:ext cx="1600200" cy="10515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937760" y="43159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Premium-Bad</a:t>
            </a:r>
            <a:endParaRPr lang="en-US" sz="1300" dirty="0"/>
          </a:p>
        </p:txBody>
      </p:sp>
      <p:sp>
        <p:nvSpPr>
          <p:cNvPr id="16" name="Balken Keines davon"/>
          <p:cNvSpPr/>
          <p:nvPr/>
        </p:nvSpPr>
        <p:spPr>
          <a:xfrm>
            <a:off x="7470648" y="2751582"/>
            <a:ext cx="822960" cy="375666"/>
          </a:xfrm>
          <a:prstGeom prst="rect">
            <a:avLst/>
          </a:prstGeom>
          <a:solidFill>
            <a:srgbClr val="C9D2DC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086600" y="229438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17 %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7086600" y="3218688"/>
            <a:ext cx="16002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7635240" y="342900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5999" y="355975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86600" y="43159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Keines davon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11480" y="13716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Beide Methoden: Ein besseres Bad ist rund CHF 15–20 wert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Ø akzeptierter Aufpreis pro Nacht – je Bad und Methode</a:t>
            </a:r>
            <a:endParaRPr lang="en-US" sz="1400" dirty="0"/>
          </a:p>
        </p:txBody>
      </p:sp>
      <p:pic>
        <p:nvPicPr>
          <p:cNvPr id="4" name="Bild Basis-Bad" descr="Basis-B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2560320" cy="1051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560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Basis-Bad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9443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78"/>
                </a:solidFill>
              </a:rPr>
              <a:t>Gabor-Granger</a:t>
            </a:r>
            <a:endParaRPr lang="en-US" sz="1000" dirty="0"/>
          </a:p>
        </p:txBody>
      </p:sp>
      <p:sp>
        <p:nvSpPr>
          <p:cNvPr id="7" name="Basis-Bad Gabor-Granger"/>
          <p:cNvSpPr/>
          <p:nvPr/>
        </p:nvSpPr>
        <p:spPr>
          <a:xfrm>
            <a:off x="1389888" y="2980944"/>
            <a:ext cx="611817" cy="219456"/>
          </a:xfrm>
          <a:prstGeom prst="rect">
            <a:avLst/>
          </a:prstGeom>
          <a:solidFill>
            <a:srgbClr val="0067A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056569" y="29443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CHF 13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355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78"/>
                </a:solidFill>
              </a:rPr>
              <a:t>Conjoint</a:t>
            </a:r>
            <a:endParaRPr lang="en-US" sz="1000" dirty="0"/>
          </a:p>
        </p:txBody>
      </p:sp>
      <p:sp>
        <p:nvSpPr>
          <p:cNvPr id="10" name="Basis-Bad Conjoint"/>
          <p:cNvSpPr/>
          <p:nvPr/>
        </p:nvSpPr>
        <p:spPr>
          <a:xfrm>
            <a:off x="1389888" y="3392424"/>
            <a:ext cx="368046" cy="219456"/>
          </a:xfrm>
          <a:prstGeom prst="rect">
            <a:avLst/>
          </a:prstGeom>
          <a:solidFill>
            <a:srgbClr val="E5832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812798" y="33558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CHF 8</a:t>
            </a:r>
            <a:endParaRPr lang="en-US" sz="1100" dirty="0"/>
          </a:p>
        </p:txBody>
      </p:sp>
      <p:pic>
        <p:nvPicPr>
          <p:cNvPr id="12" name="Bild Komfort-Bad" descr="Komfort-B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463040"/>
            <a:ext cx="2560320" cy="10515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291840" y="2560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Komfort-Bad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291840" y="29443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78"/>
                </a:solidFill>
              </a:rPr>
              <a:t>Gabor-Granger</a:t>
            </a:r>
            <a:endParaRPr lang="en-US" sz="1000" dirty="0"/>
          </a:p>
        </p:txBody>
      </p:sp>
      <p:sp>
        <p:nvSpPr>
          <p:cNvPr id="15" name="Komfort-Bad Gabor-Granger"/>
          <p:cNvSpPr/>
          <p:nvPr/>
        </p:nvSpPr>
        <p:spPr>
          <a:xfrm>
            <a:off x="4224528" y="2980944"/>
            <a:ext cx="850808" cy="219456"/>
          </a:xfrm>
          <a:prstGeom prst="rect">
            <a:avLst/>
          </a:prstGeom>
          <a:solidFill>
            <a:srgbClr val="0067A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130200" y="29443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CHF 18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3291840" y="3355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78"/>
                </a:solidFill>
              </a:rPr>
              <a:t>Conjoint</a:t>
            </a:r>
            <a:endParaRPr lang="en-US" sz="1000" dirty="0"/>
          </a:p>
        </p:txBody>
      </p:sp>
      <p:sp>
        <p:nvSpPr>
          <p:cNvPr id="18" name="Komfort-Bad Conjoint"/>
          <p:cNvSpPr/>
          <p:nvPr/>
        </p:nvSpPr>
        <p:spPr>
          <a:xfrm>
            <a:off x="4224528" y="3392424"/>
            <a:ext cx="812569" cy="219456"/>
          </a:xfrm>
          <a:prstGeom prst="rect">
            <a:avLst/>
          </a:prstGeom>
          <a:solidFill>
            <a:srgbClr val="E5832A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5091961" y="33558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CHF 17</a:t>
            </a:r>
            <a:endParaRPr lang="en-US" sz="1100" dirty="0"/>
          </a:p>
        </p:txBody>
      </p:sp>
      <p:pic>
        <p:nvPicPr>
          <p:cNvPr id="20" name="Bild Premium-Bad" descr="Premium-Ba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63040"/>
            <a:ext cx="2560320" cy="10515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126480" y="2560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Premium-Bad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126480" y="29443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78"/>
                </a:solidFill>
              </a:rPr>
              <a:t>Gabor-Granger</a:t>
            </a:r>
            <a:endParaRPr lang="en-US" sz="1000" dirty="0"/>
          </a:p>
        </p:txBody>
      </p:sp>
      <p:sp>
        <p:nvSpPr>
          <p:cNvPr id="23" name="Premium-Bad Gabor-Granger"/>
          <p:cNvSpPr/>
          <p:nvPr/>
        </p:nvSpPr>
        <p:spPr>
          <a:xfrm>
            <a:off x="7059168" y="2980944"/>
            <a:ext cx="1042000" cy="219456"/>
          </a:xfrm>
          <a:prstGeom prst="rect">
            <a:avLst/>
          </a:prstGeom>
          <a:solidFill>
            <a:srgbClr val="0067AC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156032" y="29443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CHF 22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6126480" y="3355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78"/>
                </a:solidFill>
              </a:rPr>
              <a:t>Conjoint</a:t>
            </a:r>
            <a:endParaRPr lang="en-US" sz="1000" dirty="0"/>
          </a:p>
        </p:txBody>
      </p:sp>
      <p:sp>
        <p:nvSpPr>
          <p:cNvPr id="26" name="Premium-Bad Conjoint"/>
          <p:cNvSpPr/>
          <p:nvPr/>
        </p:nvSpPr>
        <p:spPr>
          <a:xfrm>
            <a:off x="7059168" y="3392424"/>
            <a:ext cx="898606" cy="219456"/>
          </a:xfrm>
          <a:prstGeom prst="rect">
            <a:avLst/>
          </a:prstGeom>
          <a:solidFill>
            <a:srgbClr val="E5832A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12638" y="33558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CHF 19</a:t>
            </a:r>
            <a:endParaRPr lang="en-US" sz="1100" dirty="0"/>
          </a:p>
        </p:txBody>
      </p:sp>
      <p:sp>
        <p:nvSpPr>
          <p:cNvPr id="28" name="Kernaussage Vergleich"/>
          <p:cNvSpPr/>
          <p:nvPr/>
        </p:nvSpPr>
        <p:spPr>
          <a:xfrm>
            <a:off x="457200" y="3931920"/>
            <a:ext cx="8229600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85800" y="393192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Gleiche Rangfolge in beiden Methoden – Komfort und Premium: rund CHF 17–22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11480" y="13716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Empfehlungen für Geberit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5837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3441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CHF 15–20 pro Nacht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7647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als Aufpreis argumentieren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14300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892040" y="1417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61" y="15837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441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Dusche zuerst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7647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grösster Werthebel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51460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685800" y="2788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29553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27157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Paket statt Voll-Premium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1363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Regendusche, grosser Waschtisch, beleuchteter Spiegel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251460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4892040" y="27889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461" y="295534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27157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Dusch-WC separat testen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1363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kein messbarer Mehrwert</a:t>
            </a:r>
            <a:endParaRPr lang="en-US" sz="1200" dirty="0"/>
          </a:p>
        </p:txBody>
      </p:sp>
      <p:sp>
        <p:nvSpPr>
          <p:cNvPr id="23" name="Naechster Schritt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24" name="Shape 18"/>
          <p:cNvSpPr/>
          <p:nvPr/>
        </p:nvSpPr>
        <p:spPr>
          <a:xfrm>
            <a:off x="640080" y="4032504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97" y="4146621"/>
            <a:ext cx="210678" cy="21067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34440" y="39319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Nächster Schritt: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grössere Studie und Pilot in einem Hotel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50292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Ein besseres Bad ist Gästen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rund CHF 15–20 pro Nacht wert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74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F5"/>
                </a:solidFill>
              </a:rPr>
              <a:t>Den Wert schafft die Dusche – nicht das Dusch-WC.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7432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FC6EA"/>
                </a:solidFill>
              </a:rPr>
              <a:t>Explorativ: kleine Stichproben, hypothetische Befragung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4023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Vielen Dank – Fragen?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50292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Anhang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A1  Conjoint-Design: Merkmale und Stufen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A2  Conjoint: Teilnutzenwerte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A3  Stichproben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A4  Gabor-Granger: Kennzahlen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A5  Conjoint: Zahlungsbereitschaft mit Unsicherheit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A6  Conjoint-Segmente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A7  Forschungsfragen und Hypothesen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11480" y="13716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A1 · Conjoint-Design: Merkmale und Stufen</a:t>
            </a:r>
            <a:endParaRPr lang="en-US" sz="2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83210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224028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Merkmal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Stufe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Stufe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Stufe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Aufpreis pro Nacht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CHF 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CHF 15 (10 %)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CHF 45 (30 %)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Toilette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Klassisches WC, Standardspülung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WC mit leiser Spülung und Geruchsabsaugung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Dusch-WC mit Warmwasser-Reinigung, leiser Spülung, Geruchsabsaugung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Dusche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Standard-Duschwanne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Bodenebene Dusche mit Duschrinne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Bodenebene Dusche mit Regendusche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Waschtisch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Kleiner Waschtisch, Standardarmatur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Grosser Waschtisch, Standardarmatur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Grosser Waschtisch, berührungslose Armatur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Spiegel und Ablage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Kleiner Spiegel, wenig Ablagefläche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Grosser beleuchteter Spiegel, viel Ablagefläche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Grosser Spiegel, dimmbar und beschlagfrei, viel Ablagefläche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11480" y="4297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778"/>
                </a:solidFill>
              </a:rPr>
              <a:t>7 Wahlaufgaben mit je 3 Profilen und «keines davon» · Referenzzimmer CHF 150 pro Nacht · Prozentangaben relativ zum Zimmerpreis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11480" y="13716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A2 · Conjoint: Teilnutzenwerte (n = 12)</a:t>
            </a:r>
            <a:endParaRPr lang="en-US" sz="2100" dirty="0"/>
          </a:p>
        </p:txBody>
      </p:sp>
      <p:graphicFrame>
        <p:nvGraphicFramePr>
          <p:cNvPr id="3" name="CBC Teilnutzen" descr=""/>
          <p:cNvGraphicFramePr/>
          <p:nvPr/>
        </p:nvGraphicFramePr>
        <p:xfrm>
          <a:off x="365760" y="1024128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BC Preisnutzen" descr=""/>
          <p:cNvGraphicFramePr/>
          <p:nvPr/>
        </p:nvGraphicFramePr>
        <p:xfrm>
          <a:off x="6035040" y="1024128"/>
          <a:ext cx="27432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035040" y="36576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778"/>
                </a:solidFill>
              </a:rPr>
              <a:t>Zero-Centered Diffs. Preisverlust 0 → 15 CHF: −80 Punkte, 15 → 45 CHF: −277 Punkte.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11480" y="13716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A3 · Stichproben</a:t>
            </a:r>
            <a:endParaRPr lang="en-US" sz="2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6032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Merkmal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Conjoint (n = 28)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Gabor-Granger (n = 19¹)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Erhebungszeitraum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24.09.–09.10.2026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06.10.–09.10.2026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 25–34 Jahre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 55–64 Jahre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Einkommen CHF 60'000–100'000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Einkommen CHF 100'000–150'000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Reiseart Aktivurlaub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Reiseart Wellness/Erholung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Reiseart Städtereise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Mediane Bearbeitungsdauer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Minuten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11480" y="43434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778"/>
                </a:solidFill>
              </a:rPr>
              <a:t>¹ Angaben zur Person liegen für 19 der 20 auswertbaren Gabor-Granger-Befragten vor. Die Befragten beider Studien sind nicht identisch.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11480" y="13716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A4 · Gabor-Granger: Kennzahlen (n = 20)</a:t>
            </a:r>
            <a:endParaRPr lang="en-US" sz="2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737360"/>
                <a:gridCol w="173736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Kennzahl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Basis-Bad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Komfort-Bad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Premium-Bad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Ø Schwellenpreis, CHF (95 %-KI)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 (5.5–21.0)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17.8 (9.5–26.8)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21.8 (13.8–30.3)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Median, CHF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Zustimmung bei CHF 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Zustimmung bei CHF 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Umsatzmaximaler Aufpreis, alle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CHF 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CHF 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CHF 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Umsatzmaximum ohne Hochpreis-Gruppe (n = 17)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CHF 10–20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CHF 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CHF 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Stabilität des Optimums (Bootstrap)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60 % bei CHF 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36 % bei CHF 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72 % bei CHF 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11480" y="42062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778"/>
                </a:solidFill>
              </a:rPr>
              <a:t>Friedman-Test χ²(2) = 15.5, p &lt; .001; Basis → Komfort und Basis → Premium p = .006 (Holm), Komfort → Premium p = .059. Explorativ.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11480" y="13716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A5 · Conjoint: Zahlungsbereitschaft mit Unsicherheit (n = 12)</a:t>
            </a:r>
            <a:endParaRPr lang="en-US" sz="2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1554480"/>
                <a:gridCol w="146304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Aufwertung gegenüber Basisstufe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Ø CHF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95 %-Intervall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 bewertet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 (Vorzeichentest)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Dusche mit Regendusche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 bis 13.6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von 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.001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Dusche mit Duschrinne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 bis 11.3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von 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.001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Grosser beleuchteter Spiegel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 bis 10.0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von 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.001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Waschtisch gross, berührungslos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 bis 8.0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von 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.001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Grosser Waschtisch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 bis 8.0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von 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.039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Spiegel dimmbar, beschlagfrei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−0.2 bis 7.8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von 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.146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Dusch-WC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−1.9 bis 5.8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von 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.774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WC leise + Geruchsabsaugung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−2.2 bis 4.7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von 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.774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11480" y="4297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778"/>
                </a:solidFill>
              </a:rPr>
              <a:t>Perzentil-Bootstrap über Personen (5'000 Ziehungen). Preisnutzen zwischen CHF 0, 15 und 45 linear interpoliert.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11480" y="13716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A6 · Conjoint-Segmente (Latent-Class-Lösung mit 3 Segmenten)</a:t>
            </a:r>
            <a:endParaRPr lang="en-US" sz="2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828800"/>
                <a:gridCol w="20116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Kennzahl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Komfortorientiert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Preissensibel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Ablehnend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Befragte (Anteil)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(36 %)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(57 %)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(7 %)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davon mit Nutzenwerten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Anteil «keines davon»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Nutzenverlust CHF 0 → 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Preisschwelle Komfort / Premium, CHF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22.5 / 23.4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18.2 / 21.5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 / 2.3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Häufigste Reiseart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Aktivurlaub (6 von 10)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Wellness (6), Städtereise (5)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11480" y="42062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778"/>
                </a:solidFill>
              </a:rPr>
              <a:t>Segmentzuordnung aus der Auswertungssoftware. Nutzenwert-Kennzahlen beruhen auf nur 2–7 Personen je Segment – nur als Tendenz lesbar.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11480" y="13716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A7 · Forschungsfragen und Hypothesen im Überblick</a:t>
            </a:r>
            <a:endParaRPr lang="en-US" sz="2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Frage / Hypothese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Bewertung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Akzeptierter Aufpreis für Premium-Ausstattung?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Gabor-Granger Ø CHF 21.8 (Median 20), Conjoint Ø CHF 18.8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Beantwortet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Wichtigkeit des Preises vs. Ausstattung?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 71 %, Dusche 10 %, Waschtisch 7 %, Spiegel 7 %, Toilette 5 %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Beantwortet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Teilnutzen der Ausstattungsstufen?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Dusche und Waschtisch steigend, Spiegel Mitte am besten, Toilette neutral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Beantwortet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Bestes Gesamtprofil?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Regendusche, Waschtisch berührungslos, beleuchteter Spiegel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Beantwortet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H1: Gäste zahlen Aufpreis für besseres Bad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Ja, rund CHF 15–20; 30 % zahlen nichts extra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Bestätigt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H2: Wirkung je Segment unterschiedlich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Starke Unterschiede, aber nicht über Soziodemografie erklärbar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Teilweise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H3: Premium-Features wirken positiv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Berührungslose Armatur ja, Dusch-WC nein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Teilweise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H4: Gesamtwirkung beeinflusst Präferenz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Premium-Bild mit höchster Zahlungsbereitschaft, obwohl Dusch-WC einzeln wertlos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Bestätigt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HAW Pricing Gruppe 2">
  <a:themeElements>
    <a:clrScheme name="ZHAW Pricing Gruppe 2">
      <a:dk1>
        <a:srgbClr val="1F2A37"/>
      </a:dk1>
      <a:lt1>
        <a:srgbClr val="FFFFFF"/>
      </a:lt1>
      <a:dk2>
        <a:srgbClr val="0A2F5C"/>
      </a:dk2>
      <a:lt2>
        <a:srgbClr val="EEF3F8"/>
      </a:lt2>
      <a:accent1>
        <a:srgbClr val="0067AC"/>
      </a:accent1>
      <a:accent2>
        <a:srgbClr val="E5832A"/>
      </a:accent2>
      <a:accent3>
        <a:srgbClr val="4A93D1"/>
      </a:accent3>
      <a:accent4>
        <a:srgbClr val="8C99A8"/>
      </a:accent4>
      <a:accent5>
        <a:srgbClr val="0A2F5C"/>
      </a:accent5>
      <a:accent6>
        <a:srgbClr val="2E9C8F"/>
      </a:accent6>
      <a:hlink>
        <a:srgbClr val="0067AC"/>
      </a:hlink>
      <a:folHlink>
        <a:srgbClr val="5B4A9E"/>
      </a:folHlink>
    </a:clrScheme>
    <a:fontScheme name="ZHAW Pricing Gruppe 2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ZHAW School of Management and 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Zahlungsbereitschaft für hochwertige Sanitärausstattung im Hotelzimmer</dc:title>
  <dc:subject>PptxGenJS Presentation</dc:subject>
  <dc:creator>Marilena Marraffino, Dominic Hüppi</dc:creator>
  <cp:lastModifiedBy>Marilena Marraffino, Dominic Hüppi</cp:lastModifiedBy>
  <cp:revision>1</cp:revision>
  <dcterms:created xsi:type="dcterms:W3CDTF">2026-10-11T17:57:02Z</dcterms:created>
  <dcterms:modified xsi:type="dcterms:W3CDTF">2026-10-11T17:57:02Z</dcterms:modified>
</cp:coreProperties>
</file>