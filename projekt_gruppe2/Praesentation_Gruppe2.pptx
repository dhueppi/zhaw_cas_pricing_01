
<file path=[Content_Types].xml><?xml version="1.0" encoding="utf-8"?>
<Types xmlns="http://schemas.openxmlformats.org/package/2006/content-types">
  <Default Extension="bin" ContentType="application/vnd.openxmlformats-officedocument.oleObject"/>
  <Default Extension="emf" ContentType="image/x-emf"/>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6.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notesSlides/notesSlide7.xml" ContentType="application/vnd.openxmlformats-officedocument.presentationml.notesSlide+xml"/>
  <Override PartName="/ppt/charts/chart6.xml" ContentType="application/vnd.openxmlformats-officedocument.drawingml.chart+xml"/>
  <Override PartName="/ppt/notesSlides/notesSlide8.xml" ContentType="application/vnd.openxmlformats-officedocument.presentationml.notesSlide+xml"/>
  <Override PartName="/ppt/charts/chart7.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70" r:id="rId8"/>
  </p:sldMasterIdLst>
  <p:notesMasterIdLst>
    <p:notesMasterId r:id="rId28"/>
  </p:notesMasterIdLst>
  <p:handoutMasterIdLst>
    <p:handoutMasterId r:id="rId29"/>
  </p:handoutMasterIdLst>
  <p:sldIdLst>
    <p:sldId id="376" r:id="rId9"/>
    <p:sldId id="409" r:id="rId10"/>
    <p:sldId id="410" r:id="rId11"/>
    <p:sldId id="411" r:id="rId12"/>
    <p:sldId id="412" r:id="rId13"/>
    <p:sldId id="413" r:id="rId14"/>
    <p:sldId id="414" r:id="rId15"/>
    <p:sldId id="415" r:id="rId16"/>
    <p:sldId id="416" r:id="rId17"/>
    <p:sldId id="417" r:id="rId18"/>
    <p:sldId id="418" r:id="rId19"/>
    <p:sldId id="419" r:id="rId20"/>
    <p:sldId id="420" r:id="rId21"/>
    <p:sldId id="421" r:id="rId22"/>
    <p:sldId id="422" r:id="rId23"/>
    <p:sldId id="423" r:id="rId24"/>
    <p:sldId id="424" r:id="rId25"/>
    <p:sldId id="425" r:id="rId26"/>
    <p:sldId id="426" r:id="rId27"/>
  </p:sldIdLst>
  <p:sldSz cx="9144000" cy="5143500" type="screen16x9"/>
  <p:notesSz cx="6797675" cy="9926638"/>
  <p:custDataLst>
    <p:custData r:id="rId1"/>
    <p:custData r:id="rId3"/>
    <p:custData r:id="rId5"/>
    <p:custData r:id="rId6"/>
    <p:custData r:id="rId2"/>
    <p:custData r:id="rId7"/>
    <p:custData r:id="rId4"/>
  </p:custDataLst>
  <p:defaultTextStyle>
    <a:defPPr>
      <a:defRPr lang="fr-FR"/>
    </a:defPPr>
    <a:lvl1pPr marL="0" algn="l" defTabSz="778993" rtl="0" eaLnBrk="1" latinLnBrk="0" hangingPunct="1">
      <a:defRPr sz="1600" kern="1200">
        <a:solidFill>
          <a:schemeClr val="tx1"/>
        </a:solidFill>
        <a:latin typeface="+mn-lt"/>
        <a:ea typeface="+mn-ea"/>
        <a:cs typeface="+mn-cs"/>
      </a:defRPr>
    </a:lvl1pPr>
    <a:lvl2pPr marL="389496" algn="l" defTabSz="778993" rtl="0" eaLnBrk="1" latinLnBrk="0" hangingPunct="1">
      <a:defRPr sz="1600" kern="1200">
        <a:solidFill>
          <a:schemeClr val="tx1"/>
        </a:solidFill>
        <a:latin typeface="+mn-lt"/>
        <a:ea typeface="+mn-ea"/>
        <a:cs typeface="+mn-cs"/>
      </a:defRPr>
    </a:lvl2pPr>
    <a:lvl3pPr marL="778993" algn="l" defTabSz="778993" rtl="0" eaLnBrk="1" latinLnBrk="0" hangingPunct="1">
      <a:defRPr sz="1600" kern="1200">
        <a:solidFill>
          <a:schemeClr val="tx1"/>
        </a:solidFill>
        <a:latin typeface="+mn-lt"/>
        <a:ea typeface="+mn-ea"/>
        <a:cs typeface="+mn-cs"/>
      </a:defRPr>
    </a:lvl3pPr>
    <a:lvl4pPr marL="1168488" algn="l" defTabSz="778993" rtl="0" eaLnBrk="1" latinLnBrk="0" hangingPunct="1">
      <a:defRPr sz="1600" kern="1200">
        <a:solidFill>
          <a:schemeClr val="tx1"/>
        </a:solidFill>
        <a:latin typeface="+mn-lt"/>
        <a:ea typeface="+mn-ea"/>
        <a:cs typeface="+mn-cs"/>
      </a:defRPr>
    </a:lvl4pPr>
    <a:lvl5pPr marL="1557986" algn="l" defTabSz="778993" rtl="0" eaLnBrk="1" latinLnBrk="0" hangingPunct="1">
      <a:defRPr sz="1600" kern="1200">
        <a:solidFill>
          <a:schemeClr val="tx1"/>
        </a:solidFill>
        <a:latin typeface="+mn-lt"/>
        <a:ea typeface="+mn-ea"/>
        <a:cs typeface="+mn-cs"/>
      </a:defRPr>
    </a:lvl5pPr>
    <a:lvl6pPr marL="1947481" algn="l" defTabSz="778993" rtl="0" eaLnBrk="1" latinLnBrk="0" hangingPunct="1">
      <a:defRPr sz="1600" kern="1200">
        <a:solidFill>
          <a:schemeClr val="tx1"/>
        </a:solidFill>
        <a:latin typeface="+mn-lt"/>
        <a:ea typeface="+mn-ea"/>
        <a:cs typeface="+mn-cs"/>
      </a:defRPr>
    </a:lvl6pPr>
    <a:lvl7pPr marL="2336979" algn="l" defTabSz="778993" rtl="0" eaLnBrk="1" latinLnBrk="0" hangingPunct="1">
      <a:defRPr sz="1600" kern="1200">
        <a:solidFill>
          <a:schemeClr val="tx1"/>
        </a:solidFill>
        <a:latin typeface="+mn-lt"/>
        <a:ea typeface="+mn-ea"/>
        <a:cs typeface="+mn-cs"/>
      </a:defRPr>
    </a:lvl7pPr>
    <a:lvl8pPr marL="2726475" algn="l" defTabSz="778993" rtl="0" eaLnBrk="1" latinLnBrk="0" hangingPunct="1">
      <a:defRPr sz="1600" kern="1200">
        <a:solidFill>
          <a:schemeClr val="tx1"/>
        </a:solidFill>
        <a:latin typeface="+mn-lt"/>
        <a:ea typeface="+mn-ea"/>
        <a:cs typeface="+mn-cs"/>
      </a:defRPr>
    </a:lvl8pPr>
    <a:lvl9pPr marL="3115973" algn="l" defTabSz="778993" rtl="0" eaLnBrk="1" latinLnBrk="0" hangingPunct="1">
      <a:defRPr sz="1600" kern="1200">
        <a:solidFill>
          <a:schemeClr val="tx1"/>
        </a:solidFill>
        <a:latin typeface="+mn-lt"/>
        <a:ea typeface="+mn-ea"/>
        <a:cs typeface="+mn-cs"/>
      </a:defRPr>
    </a:lvl9pPr>
  </p:defaultTextStyle>
  <p:extLst>
    <p:ext uri="{EFAFB233-063F-42B5-8137-9DF3F51BA10A}">
      <p15:sldGuideLst xmlns:p15="http://schemas.microsoft.com/office/powerpoint/2012/main">
        <p15:guide id="4" orient="horz" pos="3117" userDrawn="1">
          <p15:clr>
            <a:srgbClr val="A4A3A4"/>
          </p15:clr>
        </p15:guide>
        <p15:guide id="11" pos="2880" userDrawn="1">
          <p15:clr>
            <a:srgbClr val="A4A3A4"/>
          </p15:clr>
        </p15:guide>
        <p15:guide id="14" pos="385" userDrawn="1">
          <p15:clr>
            <a:srgbClr val="A4A3A4"/>
          </p15:clr>
        </p15:guide>
        <p15:guide id="15" pos="113">
          <p15:clr>
            <a:srgbClr val="A4A3A4"/>
          </p15:clr>
        </p15:guide>
        <p15:guide id="16" pos="748" userDrawn="1">
          <p15:clr>
            <a:srgbClr val="A4A3A4"/>
          </p15:clr>
        </p15:guide>
        <p15:guide id="17" orient="horz" pos="1665" userDrawn="1">
          <p15:clr>
            <a:srgbClr val="A4A3A4"/>
          </p15:clr>
        </p15:guide>
        <p15:guide id="18" orient="horz" pos="2210" userDrawn="1">
          <p15:clr>
            <a:srgbClr val="A4A3A4"/>
          </p15:clr>
        </p15:guide>
      </p15:sldGuideLst>
    </p:ext>
    <p:ext uri="{2D200454-40CA-4A62-9FC3-DE9A4176ACB9}">
      <p15:notesGuideLst xmlns:p15="http://schemas.microsoft.com/office/powerpoint/2012/main">
        <p15:guide id="1" orient="horz" pos="3127" userDrawn="1">
          <p15:clr>
            <a:srgbClr val="A4A3A4"/>
          </p15:clr>
        </p15:guide>
        <p15:guide id="2" pos="214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64A6"/>
    <a:srgbClr val="F5C513"/>
    <a:srgbClr val="012C59"/>
    <a:srgbClr val="002B58"/>
    <a:srgbClr val="002C59"/>
    <a:srgbClr val="000000"/>
    <a:srgbClr val="6FBAED"/>
    <a:srgbClr val="A5A5A5"/>
    <a:srgbClr val="3ACA3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066" autoAdjust="0"/>
    <p:restoredTop sz="76755" autoAdjust="0"/>
  </p:normalViewPr>
  <p:slideViewPr>
    <p:cSldViewPr showGuides="1">
      <p:cViewPr varScale="1">
        <p:scale>
          <a:sx n="108" d="100"/>
          <a:sy n="108" d="100"/>
        </p:scale>
        <p:origin x="924" y="96"/>
      </p:cViewPr>
      <p:guideLst>
        <p:guide orient="horz" pos="3117"/>
        <p:guide pos="2880"/>
        <p:guide pos="385"/>
        <p:guide pos="113"/>
        <p:guide pos="748"/>
        <p:guide orient="horz" pos="1665"/>
        <p:guide orient="horz" pos="2210"/>
      </p:guideLst>
    </p:cSldViewPr>
  </p:slideViewPr>
  <p:outlineViewPr>
    <p:cViewPr>
      <p:scale>
        <a:sx n="33" d="100"/>
        <a:sy n="33" d="100"/>
      </p:scale>
      <p:origin x="0" y="-8280"/>
    </p:cViewPr>
  </p:outlineViewPr>
  <p:notesTextViewPr>
    <p:cViewPr>
      <p:scale>
        <a:sx n="1" d="1"/>
        <a:sy n="1" d="1"/>
      </p:scale>
      <p:origin x="0" y="0"/>
    </p:cViewPr>
  </p:notesTextViewPr>
  <p:sorterViewPr>
    <p:cViewPr>
      <p:scale>
        <a:sx n="72" d="100"/>
        <a:sy n="72" d="100"/>
      </p:scale>
      <p:origin x="0" y="0"/>
    </p:cViewPr>
  </p:sorterViewPr>
  <p:notesViewPr>
    <p:cSldViewPr showGuides="1">
      <p:cViewPr varScale="1">
        <p:scale>
          <a:sx n="111" d="100"/>
          <a:sy n="111" d="100"/>
        </p:scale>
        <p:origin x="5268" y="126"/>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 Type="http://schemas.openxmlformats.org/officeDocument/2006/relationships/customXml" Target="../customXml/item3.xml"/><Relationship Id="rId21" Type="http://schemas.openxmlformats.org/officeDocument/2006/relationships/slide" Target="slides/slide13.xml"/><Relationship Id="rId7" Type="http://schemas.openxmlformats.org/officeDocument/2006/relationships/customXml" Target="../customXml/item7.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customXml" Target="../customXml/item6.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theme" Target="theme/theme1.xml"/><Relationship Id="rId5" Type="http://schemas.openxmlformats.org/officeDocument/2006/relationships/customXml" Target="../customXml/item5.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notesMaster" Target="notesMasters/notesMaster1.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viewProps" Target="viewProps.xml"/><Relationship Id="rId4" Type="http://schemas.openxmlformats.org/officeDocument/2006/relationships/customXml" Target="../customXml/item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presProps" Target="presProps.xml"/><Relationship Id="rId8"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1"/>
  <c:style val="2"/>
  <c:chart>
    <c:autoTitleDeleted val="1"/>
    <c:plotArea>
      <c:layout/>
      <c:lineChart>
        <c:grouping val="standard"/>
        <c:varyColors val="0"/>
        <c:ser>
          <c:idx val="0"/>
          <c:order val="0"/>
          <c:tx>
            <c:strRef>
              <c:f>Sheet1!$B$1</c:f>
              <c:strCache>
                <c:ptCount val="1"/>
                <c:pt idx="0">
                  <c:v>Basis-Bad</c:v>
                </c:pt>
              </c:strCache>
            </c:strRef>
          </c:tx>
          <c:spPr>
            <a:ln w="28575">
              <a:solidFill>
                <a:srgbClr val="9DB9DD"/>
              </a:solidFill>
            </a:ln>
          </c:spPr>
          <c:marker>
            <c:symbol val="diamond"/>
            <c:size val="7"/>
            <c:spPr>
              <a:solidFill>
                <a:srgbClr val="9DB9DD"/>
              </a:solidFill>
              <a:ln>
                <a:solidFill>
                  <a:srgbClr val="FFFFFF"/>
                </a:solidFill>
              </a:ln>
            </c:spPr>
          </c:marker>
          <c:cat>
            <c:strRef>
              <c:f>Sheet1!$A$2:$A$12</c:f>
              <c:strCache>
                <c:ptCount val="11"/>
                <c:pt idx="0">
                  <c:v>0</c:v>
                </c:pt>
                <c:pt idx="1">
                  <c:v>5</c:v>
                </c:pt>
                <c:pt idx="2">
                  <c:v>10</c:v>
                </c:pt>
                <c:pt idx="3">
                  <c:v>15</c:v>
                </c:pt>
                <c:pt idx="4">
                  <c:v>20</c:v>
                </c:pt>
                <c:pt idx="5">
                  <c:v>25</c:v>
                </c:pt>
                <c:pt idx="6">
                  <c:v>30</c:v>
                </c:pt>
                <c:pt idx="7">
                  <c:v>35</c:v>
                </c:pt>
                <c:pt idx="8">
                  <c:v>40</c:v>
                </c:pt>
                <c:pt idx="9">
                  <c:v>45</c:v>
                </c:pt>
                <c:pt idx="10">
                  <c:v>50</c:v>
                </c:pt>
              </c:strCache>
            </c:strRef>
          </c:cat>
          <c:val>
            <c:numRef>
              <c:f>Sheet1!$B$2:$B$12</c:f>
              <c:numCache>
                <c:formatCode>General</c:formatCode>
                <c:ptCount val="11"/>
                <c:pt idx="0">
                  <c:v>95</c:v>
                </c:pt>
                <c:pt idx="1">
                  <c:v>50</c:v>
                </c:pt>
                <c:pt idx="2">
                  <c:v>45</c:v>
                </c:pt>
                <c:pt idx="3">
                  <c:v>35</c:v>
                </c:pt>
                <c:pt idx="4">
                  <c:v>30</c:v>
                </c:pt>
                <c:pt idx="5">
                  <c:v>20</c:v>
                </c:pt>
                <c:pt idx="6">
                  <c:v>15</c:v>
                </c:pt>
                <c:pt idx="7">
                  <c:v>15</c:v>
                </c:pt>
                <c:pt idx="8">
                  <c:v>15</c:v>
                </c:pt>
                <c:pt idx="9">
                  <c:v>15</c:v>
                </c:pt>
                <c:pt idx="10">
                  <c:v>15</c:v>
                </c:pt>
              </c:numCache>
            </c:numRef>
          </c:val>
          <c:smooth val="0"/>
          <c:extLst>
            <c:ext xmlns:c16="http://schemas.microsoft.com/office/drawing/2014/chart" uri="{C3380CC4-5D6E-409C-BE32-E72D297353CC}">
              <c16:uniqueId val="{00000000-BF23-4B25-9C32-729A7F8E1BD9}"/>
            </c:ext>
          </c:extLst>
        </c:ser>
        <c:ser>
          <c:idx val="1"/>
          <c:order val="1"/>
          <c:tx>
            <c:strRef>
              <c:f>Sheet1!$C$1</c:f>
              <c:strCache>
                <c:ptCount val="1"/>
                <c:pt idx="0">
                  <c:v>Komfort-Bad</c:v>
                </c:pt>
              </c:strCache>
            </c:strRef>
          </c:tx>
          <c:spPr>
            <a:ln w="28575">
              <a:solidFill>
                <a:srgbClr val="0064A6"/>
              </a:solidFill>
            </a:ln>
          </c:spPr>
          <c:marker>
            <c:symbol val="square"/>
            <c:size val="7"/>
            <c:spPr>
              <a:solidFill>
                <a:srgbClr val="0064A6"/>
              </a:solidFill>
              <a:ln>
                <a:solidFill>
                  <a:srgbClr val="FFFFFF"/>
                </a:solidFill>
              </a:ln>
            </c:spPr>
          </c:marker>
          <c:cat>
            <c:strRef>
              <c:f>Sheet1!$A$2:$A$12</c:f>
              <c:strCache>
                <c:ptCount val="11"/>
                <c:pt idx="0">
                  <c:v>0</c:v>
                </c:pt>
                <c:pt idx="1">
                  <c:v>5</c:v>
                </c:pt>
                <c:pt idx="2">
                  <c:v>10</c:v>
                </c:pt>
                <c:pt idx="3">
                  <c:v>15</c:v>
                </c:pt>
                <c:pt idx="4">
                  <c:v>20</c:v>
                </c:pt>
                <c:pt idx="5">
                  <c:v>25</c:v>
                </c:pt>
                <c:pt idx="6">
                  <c:v>30</c:v>
                </c:pt>
                <c:pt idx="7">
                  <c:v>35</c:v>
                </c:pt>
                <c:pt idx="8">
                  <c:v>40</c:v>
                </c:pt>
                <c:pt idx="9">
                  <c:v>45</c:v>
                </c:pt>
                <c:pt idx="10">
                  <c:v>50</c:v>
                </c:pt>
              </c:strCache>
            </c:strRef>
          </c:cat>
          <c:val>
            <c:numRef>
              <c:f>Sheet1!$C$2:$C$12</c:f>
              <c:numCache>
                <c:formatCode>General</c:formatCode>
                <c:ptCount val="11"/>
                <c:pt idx="0">
                  <c:v>95</c:v>
                </c:pt>
                <c:pt idx="1">
                  <c:v>70</c:v>
                </c:pt>
                <c:pt idx="2">
                  <c:v>65</c:v>
                </c:pt>
                <c:pt idx="3">
                  <c:v>45</c:v>
                </c:pt>
                <c:pt idx="4">
                  <c:v>35</c:v>
                </c:pt>
                <c:pt idx="5">
                  <c:v>30</c:v>
                </c:pt>
                <c:pt idx="6">
                  <c:v>25</c:v>
                </c:pt>
                <c:pt idx="7">
                  <c:v>15</c:v>
                </c:pt>
                <c:pt idx="8">
                  <c:v>15</c:v>
                </c:pt>
                <c:pt idx="9">
                  <c:v>15</c:v>
                </c:pt>
                <c:pt idx="10">
                  <c:v>15</c:v>
                </c:pt>
              </c:numCache>
            </c:numRef>
          </c:val>
          <c:smooth val="0"/>
          <c:extLst>
            <c:ext xmlns:c16="http://schemas.microsoft.com/office/drawing/2014/chart" uri="{C3380CC4-5D6E-409C-BE32-E72D297353CC}">
              <c16:uniqueId val="{00000001-BF23-4B25-9C32-729A7F8E1BD9}"/>
            </c:ext>
          </c:extLst>
        </c:ser>
        <c:ser>
          <c:idx val="2"/>
          <c:order val="2"/>
          <c:tx>
            <c:strRef>
              <c:f>Sheet1!$D$1</c:f>
              <c:strCache>
                <c:ptCount val="1"/>
                <c:pt idx="0">
                  <c:v>Premium-Bad</c:v>
                </c:pt>
              </c:strCache>
            </c:strRef>
          </c:tx>
          <c:spPr>
            <a:ln w="38100">
              <a:solidFill>
                <a:srgbClr val="EA5B0C"/>
              </a:solidFill>
            </a:ln>
          </c:spPr>
          <c:marker>
            <c:symbol val="triangle"/>
            <c:size val="7"/>
            <c:spPr>
              <a:solidFill>
                <a:srgbClr val="EA5B0C"/>
              </a:solidFill>
              <a:ln>
                <a:solidFill>
                  <a:srgbClr val="FFFFFF"/>
                </a:solidFill>
              </a:ln>
            </c:spPr>
          </c:marker>
          <c:cat>
            <c:strRef>
              <c:f>Sheet1!$A$2:$A$12</c:f>
              <c:strCache>
                <c:ptCount val="11"/>
                <c:pt idx="0">
                  <c:v>0</c:v>
                </c:pt>
                <c:pt idx="1">
                  <c:v>5</c:v>
                </c:pt>
                <c:pt idx="2">
                  <c:v>10</c:v>
                </c:pt>
                <c:pt idx="3">
                  <c:v>15</c:v>
                </c:pt>
                <c:pt idx="4">
                  <c:v>20</c:v>
                </c:pt>
                <c:pt idx="5">
                  <c:v>25</c:v>
                </c:pt>
                <c:pt idx="6">
                  <c:v>30</c:v>
                </c:pt>
                <c:pt idx="7">
                  <c:v>35</c:v>
                </c:pt>
                <c:pt idx="8">
                  <c:v>40</c:v>
                </c:pt>
                <c:pt idx="9">
                  <c:v>45</c:v>
                </c:pt>
                <c:pt idx="10">
                  <c:v>50</c:v>
                </c:pt>
              </c:strCache>
            </c:strRef>
          </c:cat>
          <c:val>
            <c:numRef>
              <c:f>Sheet1!$D$2:$D$12</c:f>
              <c:numCache>
                <c:formatCode>General</c:formatCode>
                <c:ptCount val="11"/>
                <c:pt idx="0">
                  <c:v>95</c:v>
                </c:pt>
                <c:pt idx="1">
                  <c:v>75</c:v>
                </c:pt>
                <c:pt idx="2">
                  <c:v>70</c:v>
                </c:pt>
                <c:pt idx="3">
                  <c:v>65</c:v>
                </c:pt>
                <c:pt idx="4">
                  <c:v>65</c:v>
                </c:pt>
                <c:pt idx="5">
                  <c:v>30</c:v>
                </c:pt>
                <c:pt idx="6">
                  <c:v>30</c:v>
                </c:pt>
                <c:pt idx="7">
                  <c:v>30</c:v>
                </c:pt>
                <c:pt idx="8">
                  <c:v>25</c:v>
                </c:pt>
                <c:pt idx="9">
                  <c:v>20</c:v>
                </c:pt>
                <c:pt idx="10">
                  <c:v>5</c:v>
                </c:pt>
              </c:numCache>
            </c:numRef>
          </c:val>
          <c:smooth val="0"/>
          <c:extLst>
            <c:ext xmlns:c16="http://schemas.microsoft.com/office/drawing/2014/chart" uri="{C3380CC4-5D6E-409C-BE32-E72D297353CC}">
              <c16:uniqueId val="{00000002-BF23-4B25-9C32-729A7F8E1BD9}"/>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title>
          <c:tx>
            <c:rich>
              <a:bodyPr/>
              <a:lstStyle/>
              <a:p>
                <a:r>
                  <a:rPr lang="de-CH" sz="1200" b="0">
                    <a:solidFill>
                      <a:srgbClr val="646464"/>
                    </a:solidFill>
                    <a:latin typeface="Arial"/>
                  </a:rPr>
                  <a:t>Aufpreis pro Nacht (CHF)</a:t>
                </a:r>
              </a:p>
            </c:rich>
          </c:tx>
          <c:overlay val="0"/>
        </c:title>
        <c:numFmt formatCode="General" sourceLinked="0"/>
        <c:majorTickMark val="out"/>
        <c:minorTickMark val="none"/>
        <c:tickLblPos val="nextTo"/>
        <c:spPr>
          <a:ln>
            <a:solidFill>
              <a:srgbClr val="B7B7B7"/>
            </a:solidFill>
          </a:ln>
        </c:spPr>
        <c:txPr>
          <a:bodyPr/>
          <a:lstStyle/>
          <a:p>
            <a:pPr>
              <a:defRPr sz="1200">
                <a:solidFill>
                  <a:srgbClr val="646464"/>
                </a:solidFill>
                <a:latin typeface="Arial"/>
              </a:defRPr>
            </a:pPr>
            <a:endParaRPr lang="de-DE"/>
          </a:p>
        </c:txPr>
        <c:crossAx val="2140495176"/>
        <c:crosses val="autoZero"/>
        <c:auto val="1"/>
        <c:lblAlgn val="ctr"/>
        <c:lblOffset val="100"/>
        <c:noMultiLvlLbl val="0"/>
      </c:catAx>
      <c:valAx>
        <c:axId val="2140495176"/>
        <c:scaling>
          <c:orientation val="minMax"/>
          <c:max val="100"/>
          <c:min val="0"/>
        </c:scaling>
        <c:delete val="0"/>
        <c:axPos val="l"/>
        <c:majorGridlines>
          <c:spPr>
            <a:ln w="9525">
              <a:solidFill>
                <a:srgbClr val="E3E3E3"/>
              </a:solidFill>
            </a:ln>
          </c:spPr>
        </c:majorGridlines>
        <c:title>
          <c:tx>
            <c:rich>
              <a:bodyPr/>
              <a:lstStyle/>
              <a:p>
                <a:r>
                  <a:rPr lang="de-CH" sz="1200" b="0">
                    <a:solidFill>
                      <a:srgbClr val="646464"/>
                    </a:solidFill>
                    <a:latin typeface="Arial"/>
                  </a:rPr>
                  <a:t>Zustimmung (%)</a:t>
                </a:r>
              </a:p>
            </c:rich>
          </c:tx>
          <c:overlay val="0"/>
        </c:title>
        <c:numFmt formatCode="General" sourceLinked="1"/>
        <c:majorTickMark val="out"/>
        <c:minorTickMark val="none"/>
        <c:tickLblPos val="nextTo"/>
        <c:spPr>
          <a:ln>
            <a:solidFill>
              <a:srgbClr val="B7B7B7"/>
            </a:solidFill>
          </a:ln>
        </c:spPr>
        <c:txPr>
          <a:bodyPr/>
          <a:lstStyle/>
          <a:p>
            <a:pPr>
              <a:defRPr sz="1200">
                <a:solidFill>
                  <a:srgbClr val="646464"/>
                </a:solidFill>
                <a:latin typeface="Arial"/>
              </a:defRPr>
            </a:pPr>
            <a:endParaRPr lang="de-DE"/>
          </a:p>
        </c:txPr>
        <c:crossAx val="2118791784"/>
        <c:crosses val="autoZero"/>
        <c:crossBetween val="between"/>
        <c:majorUnit val="20"/>
      </c:valAx>
    </c:plotArea>
    <c:legend>
      <c:legendPos val="t"/>
      <c:overlay val="0"/>
      <c:txPr>
        <a:bodyPr/>
        <a:lstStyle/>
        <a:p>
          <a:pPr>
            <a:defRPr sz="1200">
              <a:latin typeface="Arial"/>
            </a:defRPr>
          </a:pPr>
          <a:endParaRPr lang="de-DE"/>
        </a:p>
      </c:txPr>
    </c:legend>
    <c:plotVisOnly val="1"/>
    <c:dispBlanksAs val="gap"/>
    <c:showDLblsOverMax val="0"/>
  </c:chart>
  <c:txPr>
    <a:bodyPr/>
    <a:lstStyle/>
    <a:p>
      <a:pPr>
        <a:defRPr sz="1200">
          <a:solidFill>
            <a:srgbClr val="002C59"/>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1"/>
  <c:style val="2"/>
  <c:chart>
    <c:autoTitleDeleted val="1"/>
    <c:plotArea>
      <c:layout/>
      <c:barChart>
        <c:barDir val="col"/>
        <c:grouping val="clustered"/>
        <c:varyColors val="1"/>
        <c:ser>
          <c:idx val="0"/>
          <c:order val="0"/>
          <c:tx>
            <c:strRef>
              <c:f>Sheet1!$B$1</c:f>
              <c:strCache>
                <c:ptCount val="1"/>
                <c:pt idx="0">
                  <c:v>Umsatzindex</c:v>
                </c:pt>
              </c:strCache>
            </c:strRef>
          </c:tx>
          <c:spPr>
            <a:solidFill>
              <a:srgbClr val="9DB9DD"/>
            </a:solidFill>
          </c:spPr>
          <c:invertIfNegative val="1"/>
          <c:dPt>
            <c:idx val="3"/>
            <c:invertIfNegative val="1"/>
            <c:bubble3D val="0"/>
            <c:spPr>
              <a:solidFill>
                <a:srgbClr val="EA5B0C"/>
              </a:solidFill>
            </c:spPr>
            <c:extLst>
              <c:ext xmlns:c16="http://schemas.microsoft.com/office/drawing/2014/chart" uri="{C3380CC4-5D6E-409C-BE32-E72D297353CC}">
                <c16:uniqueId val="{00000001-1B37-40D9-8AC4-844FD1191645}"/>
              </c:ext>
            </c:extLst>
          </c:dPt>
          <c:dLbls>
            <c:numFmt formatCode="0.0" sourceLinked="0"/>
            <c:spPr>
              <a:noFill/>
              <a:ln>
                <a:noFill/>
              </a:ln>
              <a:effectLst/>
            </c:spPr>
            <c:txPr>
              <a:bodyPr/>
              <a:lstStyle/>
              <a:p>
                <a:pPr>
                  <a:defRPr sz="1100" b="0">
                    <a:solidFill>
                      <a:srgbClr val="002C59"/>
                    </a:solidFill>
                    <a:latin typeface="Arial"/>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5</c:v>
                </c:pt>
                <c:pt idx="1">
                  <c:v>10</c:v>
                </c:pt>
                <c:pt idx="2">
                  <c:v>15</c:v>
                </c:pt>
                <c:pt idx="3">
                  <c:v>20</c:v>
                </c:pt>
                <c:pt idx="4">
                  <c:v>25</c:v>
                </c:pt>
                <c:pt idx="5">
                  <c:v>30</c:v>
                </c:pt>
                <c:pt idx="6">
                  <c:v>35</c:v>
                </c:pt>
                <c:pt idx="7">
                  <c:v>40</c:v>
                </c:pt>
                <c:pt idx="8">
                  <c:v>45</c:v>
                </c:pt>
                <c:pt idx="9">
                  <c:v>50</c:v>
                </c:pt>
              </c:strCache>
            </c:strRef>
          </c:cat>
          <c:val>
            <c:numRef>
              <c:f>Sheet1!$B$2:$B$11</c:f>
              <c:numCache>
                <c:formatCode>General</c:formatCode>
                <c:ptCount val="10"/>
                <c:pt idx="0">
                  <c:v>3.8</c:v>
                </c:pt>
                <c:pt idx="1">
                  <c:v>7</c:v>
                </c:pt>
                <c:pt idx="2">
                  <c:v>9.8000000000000007</c:v>
                </c:pt>
                <c:pt idx="3">
                  <c:v>13</c:v>
                </c:pt>
                <c:pt idx="4">
                  <c:v>7.5</c:v>
                </c:pt>
                <c:pt idx="5">
                  <c:v>9</c:v>
                </c:pt>
                <c:pt idx="6">
                  <c:v>10.5</c:v>
                </c:pt>
                <c:pt idx="7">
                  <c:v>10</c:v>
                </c:pt>
                <c:pt idx="8">
                  <c:v>9</c:v>
                </c:pt>
                <c:pt idx="9">
                  <c:v>2.5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1B37-40D9-8AC4-844FD1191645}"/>
            </c:ext>
          </c:extLst>
        </c:ser>
        <c:dLbls>
          <c:showLegendKey val="0"/>
          <c:showVal val="0"/>
          <c:showCatName val="0"/>
          <c:showSerName val="0"/>
          <c:showPercent val="0"/>
          <c:showBubbleSize val="0"/>
        </c:dLbls>
        <c:gapWidth val="45"/>
        <c:axId val="-2068027336"/>
        <c:axId val="-2113994440"/>
      </c:barChart>
      <c:catAx>
        <c:axId val="-2068027336"/>
        <c:scaling>
          <c:orientation val="minMax"/>
        </c:scaling>
        <c:delete val="0"/>
        <c:axPos val="b"/>
        <c:title>
          <c:tx>
            <c:rich>
              <a:bodyPr/>
              <a:lstStyle/>
              <a:p>
                <a:r>
                  <a:rPr lang="de-CH" sz="1200" b="0">
                    <a:solidFill>
                      <a:srgbClr val="646464"/>
                    </a:solidFill>
                    <a:latin typeface="Arial"/>
                  </a:rPr>
                  <a:t>Aufpreis pro Nacht (CHF)</a:t>
                </a:r>
              </a:p>
            </c:rich>
          </c:tx>
          <c:overlay val="0"/>
        </c:title>
        <c:numFmt formatCode="General" sourceLinked="0"/>
        <c:majorTickMark val="out"/>
        <c:minorTickMark val="none"/>
        <c:tickLblPos val="nextTo"/>
        <c:spPr>
          <a:ln>
            <a:solidFill>
              <a:srgbClr val="B7B7B7"/>
            </a:solidFill>
          </a:ln>
        </c:spPr>
        <c:txPr>
          <a:bodyPr/>
          <a:lstStyle/>
          <a:p>
            <a:pPr>
              <a:defRPr sz="1200">
                <a:solidFill>
                  <a:srgbClr val="646464"/>
                </a:solidFill>
                <a:latin typeface="Arial"/>
              </a:defRPr>
            </a:pPr>
            <a:endParaRPr lang="de-DE"/>
          </a:p>
        </c:txPr>
        <c:crossAx val="-2113994440"/>
        <c:crosses val="autoZero"/>
        <c:auto val="1"/>
        <c:lblAlgn val="ctr"/>
        <c:lblOffset val="100"/>
        <c:noMultiLvlLbl val="0"/>
      </c:catAx>
      <c:valAx>
        <c:axId val="-2113994440"/>
        <c:scaling>
          <c:orientation val="minMax"/>
          <c:max val="15"/>
          <c:min val="0"/>
        </c:scaling>
        <c:delete val="0"/>
        <c:axPos val="l"/>
        <c:majorGridlines>
          <c:spPr>
            <a:ln w="9525">
              <a:solidFill>
                <a:srgbClr val="E3E3E3"/>
              </a:solidFill>
            </a:ln>
          </c:spPr>
        </c:majorGridlines>
        <c:numFmt formatCode="General" sourceLinked="1"/>
        <c:majorTickMark val="out"/>
        <c:minorTickMark val="none"/>
        <c:tickLblPos val="nextTo"/>
        <c:spPr>
          <a:ln>
            <a:solidFill>
              <a:srgbClr val="B7B7B7"/>
            </a:solidFill>
          </a:ln>
        </c:spPr>
        <c:txPr>
          <a:bodyPr/>
          <a:lstStyle/>
          <a:p>
            <a:pPr>
              <a:defRPr sz="1200">
                <a:solidFill>
                  <a:srgbClr val="646464"/>
                </a:solidFill>
                <a:latin typeface="Arial"/>
              </a:defRPr>
            </a:pPr>
            <a:endParaRPr lang="de-DE"/>
          </a:p>
        </c:txPr>
        <c:crossAx val="-2068027336"/>
        <c:crosses val="autoZero"/>
        <c:crossBetween val="between"/>
        <c:majorUnit val="5"/>
      </c:valAx>
    </c:plotArea>
    <c:plotVisOnly val="1"/>
    <c:dispBlanksAs val="gap"/>
    <c:showDLblsOverMax val="1"/>
  </c:chart>
  <c:txPr>
    <a:bodyPr/>
    <a:lstStyle/>
    <a:p>
      <a:pPr>
        <a:defRPr sz="1200">
          <a:solidFill>
            <a:srgbClr val="002C59"/>
          </a:solidFill>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c:style val="2"/>
  <c:chart>
    <c:autoTitleDeleted val="1"/>
    <c:plotArea>
      <c:layout/>
      <c:doughnutChart>
        <c:varyColors val="1"/>
        <c:ser>
          <c:idx val="0"/>
          <c:order val="0"/>
          <c:tx>
            <c:strRef>
              <c:f>Sheet1!$B$1</c:f>
              <c:strCache>
                <c:ptCount val="1"/>
                <c:pt idx="0">
                  <c:v>Anteil</c:v>
                </c:pt>
              </c:strCache>
            </c:strRef>
          </c:tx>
          <c:dPt>
            <c:idx val="0"/>
            <c:bubble3D val="0"/>
            <c:spPr>
              <a:solidFill>
                <a:srgbClr val="9DB9DD"/>
              </a:solidFill>
              <a:ln>
                <a:solidFill>
                  <a:srgbClr val="EAF1F8"/>
                </a:solidFill>
              </a:ln>
            </c:spPr>
            <c:extLst>
              <c:ext xmlns:c16="http://schemas.microsoft.com/office/drawing/2014/chart" uri="{C3380CC4-5D6E-409C-BE32-E72D297353CC}">
                <c16:uniqueId val="{00000001-FB82-4B8C-BE48-CEB64CE9F3FF}"/>
              </c:ext>
            </c:extLst>
          </c:dPt>
          <c:dPt>
            <c:idx val="1"/>
            <c:bubble3D val="0"/>
            <c:spPr>
              <a:solidFill>
                <a:srgbClr val="0064A6"/>
              </a:solidFill>
              <a:ln>
                <a:solidFill>
                  <a:srgbClr val="EAF1F8"/>
                </a:solidFill>
              </a:ln>
            </c:spPr>
            <c:extLst>
              <c:ext xmlns:c16="http://schemas.microsoft.com/office/drawing/2014/chart" uri="{C3380CC4-5D6E-409C-BE32-E72D297353CC}">
                <c16:uniqueId val="{00000003-FB82-4B8C-BE48-CEB64CE9F3FF}"/>
              </c:ext>
            </c:extLst>
          </c:dPt>
          <c:dPt>
            <c:idx val="2"/>
            <c:bubble3D val="0"/>
            <c:spPr>
              <a:solidFill>
                <a:srgbClr val="002C59"/>
              </a:solidFill>
              <a:ln>
                <a:solidFill>
                  <a:srgbClr val="EAF1F8"/>
                </a:solidFill>
              </a:ln>
            </c:spPr>
            <c:extLst>
              <c:ext xmlns:c16="http://schemas.microsoft.com/office/drawing/2014/chart" uri="{C3380CC4-5D6E-409C-BE32-E72D297353CC}">
                <c16:uniqueId val="{00000005-FB82-4B8C-BE48-CEB64CE9F3FF}"/>
              </c:ext>
            </c:extLst>
          </c:dPt>
          <c:cat>
            <c:strRef>
              <c:f>Sheet1!$A$2:$A$4</c:f>
              <c:strCache>
                <c:ptCount val="3"/>
                <c:pt idx="0">
                  <c:v>Nullzahler (bis CHF 5)</c:v>
                </c:pt>
                <c:pt idx="1">
                  <c:v>Mittelfeld</c:v>
                </c:pt>
                <c:pt idx="2">
                  <c:v>Hochpreis (ab CHF 45)</c:v>
                </c:pt>
              </c:strCache>
            </c:strRef>
          </c:cat>
          <c:val>
            <c:numRef>
              <c:f>Sheet1!$B$2:$B$4</c:f>
              <c:numCache>
                <c:formatCode>General</c:formatCode>
                <c:ptCount val="3"/>
                <c:pt idx="0">
                  <c:v>6</c:v>
                </c:pt>
                <c:pt idx="1">
                  <c:v>11</c:v>
                </c:pt>
                <c:pt idx="2">
                  <c:v>3</c:v>
                </c:pt>
              </c:numCache>
            </c:numRef>
          </c:val>
          <c:extLst>
            <c:ext xmlns:c16="http://schemas.microsoft.com/office/drawing/2014/chart" uri="{C3380CC4-5D6E-409C-BE32-E72D297353CC}">
              <c16:uniqueId val="{00000006-FB82-4B8C-BE48-CEB64CE9F3FF}"/>
            </c:ext>
          </c:extLst>
        </c:ser>
        <c:dLbls>
          <c:showLegendKey val="0"/>
          <c:showVal val="0"/>
          <c:showCatName val="0"/>
          <c:showSerName val="0"/>
          <c:showPercent val="0"/>
          <c:showBubbleSize val="0"/>
          <c:showLeaderLines val="1"/>
        </c:dLbls>
        <c:firstSliceAng val="0"/>
        <c:holeSize val="55"/>
      </c:doughnutChart>
    </c:plotArea>
    <c:plotVisOnly val="1"/>
    <c:dispBlanksAs val="gap"/>
    <c:showDLblsOverMax val="0"/>
  </c:chart>
  <c:txPr>
    <a:bodyPr/>
    <a:lstStyle/>
    <a:p>
      <a:pPr>
        <a:defRPr sz="1100">
          <a:solidFill>
            <a:srgbClr val="002C59"/>
          </a:solidFill>
          <a:latin typeface="Arial"/>
        </a:defRPr>
      </a:pPr>
      <a:endParaRPr lang="de-DE"/>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1"/>
  <c:style val="2"/>
  <c:chart>
    <c:autoTitleDeleted val="1"/>
    <c:plotArea>
      <c:layout/>
      <c:barChart>
        <c:barDir val="bar"/>
        <c:grouping val="clustered"/>
        <c:varyColors val="1"/>
        <c:ser>
          <c:idx val="0"/>
          <c:order val="0"/>
          <c:tx>
            <c:strRef>
              <c:f>Sheet1!$B$1</c:f>
              <c:strCache>
                <c:ptCount val="1"/>
                <c:pt idx="0">
                  <c:v>Wichtigkeit</c:v>
                </c:pt>
              </c:strCache>
            </c:strRef>
          </c:tx>
          <c:spPr>
            <a:solidFill>
              <a:srgbClr val="0064A6"/>
            </a:solidFill>
          </c:spPr>
          <c:invertIfNegative val="1"/>
          <c:dPt>
            <c:idx val="0"/>
            <c:invertIfNegative val="1"/>
            <c:bubble3D val="0"/>
            <c:spPr>
              <a:solidFill>
                <a:srgbClr val="002C59"/>
              </a:solidFill>
            </c:spPr>
            <c:extLst>
              <c:ext xmlns:c16="http://schemas.microsoft.com/office/drawing/2014/chart" uri="{C3380CC4-5D6E-409C-BE32-E72D297353CC}">
                <c16:uniqueId val="{00000003-DEDE-4A63-94F8-1DB5A92B549E}"/>
              </c:ext>
            </c:extLst>
          </c:dPt>
          <c:dPt>
            <c:idx val="2"/>
            <c:invertIfNegative val="1"/>
            <c:bubble3D val="0"/>
            <c:spPr>
              <a:solidFill>
                <a:srgbClr val="EA5B0C"/>
              </a:solidFill>
            </c:spPr>
            <c:extLst>
              <c:ext xmlns:c16="http://schemas.microsoft.com/office/drawing/2014/chart" uri="{C3380CC4-5D6E-409C-BE32-E72D297353CC}">
                <c16:uniqueId val="{00000001-DEDE-4A63-94F8-1DB5A92B549E}"/>
              </c:ext>
            </c:extLst>
          </c:dPt>
          <c:dLbls>
            <c:numFmt formatCode="0.0" sourceLinked="0"/>
            <c:spPr>
              <a:noFill/>
              <a:ln>
                <a:noFill/>
              </a:ln>
              <a:effectLst/>
            </c:spPr>
            <c:txPr>
              <a:bodyPr/>
              <a:lstStyle/>
              <a:p>
                <a:pPr>
                  <a:defRPr sz="1200" b="1">
                    <a:solidFill>
                      <a:srgbClr val="002C59"/>
                    </a:solidFill>
                    <a:latin typeface="Arial"/>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Aufpreis</c:v>
                </c:pt>
                <c:pt idx="1">
                  <c:v>Toilette</c:v>
                </c:pt>
                <c:pt idx="2">
                  <c:v>Dusche</c:v>
                </c:pt>
                <c:pt idx="3">
                  <c:v>Waschtisch</c:v>
                </c:pt>
                <c:pt idx="4">
                  <c:v>Spiegel und Ablage</c:v>
                </c:pt>
              </c:strCache>
            </c:strRef>
          </c:cat>
          <c:val>
            <c:numRef>
              <c:f>Sheet1!$B$2:$B$6</c:f>
              <c:numCache>
                <c:formatCode>General</c:formatCode>
                <c:ptCount val="5"/>
                <c:pt idx="0">
                  <c:v>71.400000000000006</c:v>
                </c:pt>
                <c:pt idx="1">
                  <c:v>4.5999999999999996</c:v>
                </c:pt>
                <c:pt idx="2">
                  <c:v>10.3</c:v>
                </c:pt>
                <c:pt idx="3">
                  <c:v>7.3</c:v>
                </c:pt>
                <c:pt idx="4">
                  <c:v>6.5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DEDE-4A63-94F8-1DB5A92B549E}"/>
            </c:ext>
          </c:extLst>
        </c:ser>
        <c:dLbls>
          <c:showLegendKey val="0"/>
          <c:showVal val="0"/>
          <c:showCatName val="0"/>
          <c:showSerName val="0"/>
          <c:showPercent val="0"/>
          <c:showBubbleSize val="0"/>
        </c:dLbls>
        <c:gapWidth val="40"/>
        <c:axId val="-2068027336"/>
        <c:axId val="-2113994440"/>
      </c:barChart>
      <c:catAx>
        <c:axId val="-2068027336"/>
        <c:scaling>
          <c:orientation val="maxMin"/>
        </c:scaling>
        <c:delete val="0"/>
        <c:axPos val="l"/>
        <c:numFmt formatCode="General" sourceLinked="0"/>
        <c:majorTickMark val="out"/>
        <c:minorTickMark val="none"/>
        <c:tickLblPos val="nextTo"/>
        <c:spPr>
          <a:ln>
            <a:solidFill>
              <a:srgbClr val="B7B7B7"/>
            </a:solidFill>
          </a:ln>
        </c:spPr>
        <c:txPr>
          <a:bodyPr/>
          <a:lstStyle/>
          <a:p>
            <a:pPr>
              <a:defRPr sz="1200">
                <a:solidFill>
                  <a:srgbClr val="646464"/>
                </a:solidFill>
                <a:latin typeface="Arial"/>
              </a:defRPr>
            </a:pPr>
            <a:endParaRPr lang="de-DE"/>
          </a:p>
        </c:txPr>
        <c:crossAx val="-2113994440"/>
        <c:crosses val="autoZero"/>
        <c:auto val="1"/>
        <c:lblAlgn val="ctr"/>
        <c:lblOffset val="100"/>
        <c:noMultiLvlLbl val="0"/>
      </c:catAx>
      <c:valAx>
        <c:axId val="-2113994440"/>
        <c:scaling>
          <c:orientation val="minMax"/>
          <c:max val="85"/>
          <c:min val="0"/>
        </c:scaling>
        <c:delete val="1"/>
        <c:axPos val="t"/>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200">
          <a:solidFill>
            <a:srgbClr val="002C59"/>
          </a:solidFill>
          <a:latin typeface="Aria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1"/>
  <c:style val="2"/>
  <c:chart>
    <c:autoTitleDeleted val="1"/>
    <c:plotArea>
      <c:layout/>
      <c:barChart>
        <c:barDir val="bar"/>
        <c:grouping val="clustered"/>
        <c:varyColors val="1"/>
        <c:ser>
          <c:idx val="0"/>
          <c:order val="0"/>
          <c:tx>
            <c:strRef>
              <c:f>Sheet1!$B$1</c:f>
              <c:strCache>
                <c:ptCount val="1"/>
                <c:pt idx="0">
                  <c:v>WTP</c:v>
                </c:pt>
              </c:strCache>
            </c:strRef>
          </c:tx>
          <c:spPr>
            <a:solidFill>
              <a:srgbClr val="0064A6"/>
            </a:solidFill>
          </c:spPr>
          <c:invertIfNegative val="1"/>
          <c:dPt>
            <c:idx val="0"/>
            <c:invertIfNegative val="1"/>
            <c:bubble3D val="0"/>
            <c:spPr>
              <a:solidFill>
                <a:srgbClr val="EA5B0C"/>
              </a:solidFill>
            </c:spPr>
            <c:extLst>
              <c:ext xmlns:c16="http://schemas.microsoft.com/office/drawing/2014/chart" uri="{C3380CC4-5D6E-409C-BE32-E72D297353CC}">
                <c16:uniqueId val="{00000001-805F-47BA-8078-5646213B83AF}"/>
              </c:ext>
            </c:extLst>
          </c:dPt>
          <c:dPt>
            <c:idx val="1"/>
            <c:invertIfNegative val="1"/>
            <c:bubble3D val="0"/>
            <c:spPr>
              <a:solidFill>
                <a:srgbClr val="EA5B0C"/>
              </a:solidFill>
            </c:spPr>
            <c:extLst>
              <c:ext xmlns:c16="http://schemas.microsoft.com/office/drawing/2014/chart" uri="{C3380CC4-5D6E-409C-BE32-E72D297353CC}">
                <c16:uniqueId val="{00000003-805F-47BA-8078-5646213B83AF}"/>
              </c:ext>
            </c:extLst>
          </c:dPt>
          <c:dPt>
            <c:idx val="6"/>
            <c:invertIfNegative val="1"/>
            <c:bubble3D val="0"/>
            <c:spPr>
              <a:solidFill>
                <a:srgbClr val="9DB9DD"/>
              </a:solidFill>
            </c:spPr>
            <c:extLst>
              <c:ext xmlns:c16="http://schemas.microsoft.com/office/drawing/2014/chart" uri="{C3380CC4-5D6E-409C-BE32-E72D297353CC}">
                <c16:uniqueId val="{00000005-805F-47BA-8078-5646213B83AF}"/>
              </c:ext>
            </c:extLst>
          </c:dPt>
          <c:dPt>
            <c:idx val="7"/>
            <c:invertIfNegative val="1"/>
            <c:bubble3D val="0"/>
            <c:spPr>
              <a:solidFill>
                <a:srgbClr val="9DB9DD"/>
              </a:solidFill>
            </c:spPr>
            <c:extLst>
              <c:ext xmlns:c16="http://schemas.microsoft.com/office/drawing/2014/chart" uri="{C3380CC4-5D6E-409C-BE32-E72D297353CC}">
                <c16:uniqueId val="{00000007-805F-47BA-8078-5646213B83AF}"/>
              </c:ext>
            </c:extLst>
          </c:dPt>
          <c:dLbls>
            <c:numFmt formatCode="0.0" sourceLinked="0"/>
            <c:spPr>
              <a:noFill/>
              <a:ln>
                <a:noFill/>
              </a:ln>
              <a:effectLst/>
            </c:spPr>
            <c:txPr>
              <a:bodyPr/>
              <a:lstStyle/>
              <a:p>
                <a:pPr>
                  <a:defRPr sz="1200" b="1">
                    <a:solidFill>
                      <a:srgbClr val="002C59"/>
                    </a:solidFill>
                    <a:latin typeface="Arial"/>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Regendusche (bodenebene Dusche)</c:v>
                </c:pt>
                <c:pt idx="1">
                  <c:v>Bodenebene Dusche (Rinne)</c:v>
                </c:pt>
                <c:pt idx="2">
                  <c:v>Beleuchteter Spiegel</c:v>
                </c:pt>
                <c:pt idx="3">
                  <c:v>Berührungslose Armatur</c:v>
                </c:pt>
                <c:pt idx="4">
                  <c:v>Grosser Waschtisch</c:v>
                </c:pt>
                <c:pt idx="5">
                  <c:v>Spiegel dimmbar</c:v>
                </c:pt>
                <c:pt idx="6">
                  <c:v>Dusch-WC</c:v>
                </c:pt>
                <c:pt idx="7">
                  <c:v>WC leise mit Absaugung</c:v>
                </c:pt>
              </c:strCache>
            </c:strRef>
          </c:cat>
          <c:val>
            <c:numRef>
              <c:f>Sheet1!$B$2:$B$9</c:f>
              <c:numCache>
                <c:formatCode>General</c:formatCode>
                <c:ptCount val="8"/>
                <c:pt idx="0">
                  <c:v>10.9</c:v>
                </c:pt>
                <c:pt idx="1">
                  <c:v>8.5</c:v>
                </c:pt>
                <c:pt idx="2">
                  <c:v>6.3</c:v>
                </c:pt>
                <c:pt idx="3">
                  <c:v>6</c:v>
                </c:pt>
                <c:pt idx="4">
                  <c:v>4.4000000000000004</c:v>
                </c:pt>
                <c:pt idx="5">
                  <c:v>3.5</c:v>
                </c:pt>
                <c:pt idx="6">
                  <c:v>1.6</c:v>
                </c:pt>
                <c:pt idx="7">
                  <c:v>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8-805F-47BA-8078-5646213B83AF}"/>
            </c:ext>
          </c:extLst>
        </c:ser>
        <c:dLbls>
          <c:showLegendKey val="0"/>
          <c:showVal val="0"/>
          <c:showCatName val="0"/>
          <c:showSerName val="0"/>
          <c:showPercent val="0"/>
          <c:showBubbleSize val="0"/>
        </c:dLbls>
        <c:gapWidth val="40"/>
        <c:axId val="-2068027336"/>
        <c:axId val="-2113994440"/>
      </c:barChart>
      <c:catAx>
        <c:axId val="-2068027336"/>
        <c:scaling>
          <c:orientation val="maxMin"/>
        </c:scaling>
        <c:delete val="0"/>
        <c:axPos val="l"/>
        <c:numFmt formatCode="General" sourceLinked="0"/>
        <c:majorTickMark val="out"/>
        <c:minorTickMark val="none"/>
        <c:tickLblPos val="nextTo"/>
        <c:spPr>
          <a:ln>
            <a:solidFill>
              <a:srgbClr val="B7B7B7"/>
            </a:solidFill>
          </a:ln>
        </c:spPr>
        <c:txPr>
          <a:bodyPr/>
          <a:lstStyle/>
          <a:p>
            <a:pPr>
              <a:defRPr sz="1100">
                <a:solidFill>
                  <a:srgbClr val="646464"/>
                </a:solidFill>
                <a:latin typeface="Arial"/>
              </a:defRPr>
            </a:pPr>
            <a:endParaRPr lang="de-DE"/>
          </a:p>
        </c:txPr>
        <c:crossAx val="-2113994440"/>
        <c:crosses val="autoZero"/>
        <c:auto val="1"/>
        <c:lblAlgn val="ctr"/>
        <c:lblOffset val="100"/>
        <c:noMultiLvlLbl val="0"/>
      </c:catAx>
      <c:valAx>
        <c:axId val="-2113994440"/>
        <c:scaling>
          <c:orientation val="minMax"/>
          <c:max val="14"/>
          <c:min val="0"/>
        </c:scaling>
        <c:delete val="1"/>
        <c:axPos val="t"/>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200">
          <a:solidFill>
            <a:srgbClr val="002C59"/>
          </a:solidFill>
          <a:latin typeface="Arial"/>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1"/>
  <c:style val="2"/>
  <c:chart>
    <c:autoTitleDeleted val="1"/>
    <c:plotArea>
      <c:layout/>
      <c:barChart>
        <c:barDir val="bar"/>
        <c:grouping val="stacked"/>
        <c:varyColors val="1"/>
        <c:ser>
          <c:idx val="0"/>
          <c:order val="0"/>
          <c:tx>
            <c:strRef>
              <c:f>Sheet1!$B$1</c:f>
              <c:strCache>
                <c:ptCount val="1"/>
                <c:pt idx="0">
                  <c:v>Basis-Bad</c:v>
                </c:pt>
              </c:strCache>
            </c:strRef>
          </c:tx>
          <c:spPr>
            <a:solidFill>
              <a:srgbClr val="9DB9DD"/>
            </a:solidFill>
          </c:spPr>
          <c:invertIfNegative val="1"/>
          <c:dLbls>
            <c:numFmt formatCode="0;;;" sourceLinked="0"/>
            <c:spPr>
              <a:noFill/>
              <a:ln>
                <a:noFill/>
              </a:ln>
              <a:effectLst/>
            </c:spPr>
            <c:txPr>
              <a:bodyPr/>
              <a:lstStyle/>
              <a:p>
                <a:pPr>
                  <a:defRPr sz="1100" b="1">
                    <a:solidFill>
                      <a:srgbClr val="002C59"/>
                    </a:solidFill>
                    <a:latin typeface="Arial"/>
                  </a:defRPr>
                </a:pPr>
                <a:endParaRPr lang="de-DE"/>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Alle CHF 0</c:v>
                </c:pt>
                <c:pt idx="1">
                  <c:v>Alle CHF 15</c:v>
                </c:pt>
                <c:pt idx="2">
                  <c:v>0 / 15 / 15</c:v>
                </c:pt>
                <c:pt idx="3">
                  <c:v>0 / 15 / 45</c:v>
                </c:pt>
                <c:pt idx="4">
                  <c:v>0 / 0 / 15</c:v>
                </c:pt>
              </c:strCache>
            </c:strRef>
          </c:cat>
          <c:val>
            <c:numRef>
              <c:f>Sheet1!$B$2:$B$6</c:f>
              <c:numCache>
                <c:formatCode>General</c:formatCode>
                <c:ptCount val="5"/>
                <c:pt idx="0">
                  <c:v>0</c:v>
                </c:pt>
                <c:pt idx="1">
                  <c:v>0</c:v>
                </c:pt>
                <c:pt idx="2">
                  <c:v>33</c:v>
                </c:pt>
                <c:pt idx="3">
                  <c:v>50</c:v>
                </c:pt>
                <c:pt idx="4">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0E00-43DD-91EC-19BBAEF46EE3}"/>
            </c:ext>
          </c:extLst>
        </c:ser>
        <c:ser>
          <c:idx val="1"/>
          <c:order val="1"/>
          <c:tx>
            <c:strRef>
              <c:f>Sheet1!$C$1</c:f>
              <c:strCache>
                <c:ptCount val="1"/>
                <c:pt idx="0">
                  <c:v>Komfort-Bad</c:v>
                </c:pt>
              </c:strCache>
            </c:strRef>
          </c:tx>
          <c:spPr>
            <a:solidFill>
              <a:srgbClr val="0064A6"/>
            </a:solidFill>
          </c:spPr>
          <c:invertIfNegative val="1"/>
          <c:dLbls>
            <c:numFmt formatCode="0;;;" sourceLinked="0"/>
            <c:spPr>
              <a:noFill/>
              <a:ln>
                <a:noFill/>
              </a:ln>
              <a:effectLst/>
            </c:spPr>
            <c:txPr>
              <a:bodyPr/>
              <a:lstStyle/>
              <a:p>
                <a:pPr>
                  <a:defRPr sz="1100" b="1">
                    <a:solidFill>
                      <a:srgbClr val="FFFFFF"/>
                    </a:solidFill>
                    <a:latin typeface="Arial"/>
                  </a:defRPr>
                </a:pPr>
                <a:endParaRPr lang="de-DE"/>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Alle CHF 0</c:v>
                </c:pt>
                <c:pt idx="1">
                  <c:v>Alle CHF 15</c:v>
                </c:pt>
                <c:pt idx="2">
                  <c:v>0 / 15 / 15</c:v>
                </c:pt>
                <c:pt idx="3">
                  <c:v>0 / 15 / 45</c:v>
                </c:pt>
                <c:pt idx="4">
                  <c:v>0 / 0 / 15</c:v>
                </c:pt>
              </c:strCache>
            </c:strRef>
          </c:cat>
          <c:val>
            <c:numRef>
              <c:f>Sheet1!$C$2:$C$6</c:f>
              <c:numCache>
                <c:formatCode>General</c:formatCode>
                <c:ptCount val="5"/>
                <c:pt idx="0">
                  <c:v>33</c:v>
                </c:pt>
                <c:pt idx="1">
                  <c:v>25</c:v>
                </c:pt>
                <c:pt idx="2">
                  <c:v>25</c:v>
                </c:pt>
                <c:pt idx="3">
                  <c:v>33</c:v>
                </c:pt>
                <c:pt idx="4">
                  <c:v>83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0E00-43DD-91EC-19BBAEF46EE3}"/>
            </c:ext>
          </c:extLst>
        </c:ser>
        <c:ser>
          <c:idx val="2"/>
          <c:order val="2"/>
          <c:tx>
            <c:strRef>
              <c:f>Sheet1!$D$1</c:f>
              <c:strCache>
                <c:ptCount val="1"/>
                <c:pt idx="0">
                  <c:v>Premium-Bad</c:v>
                </c:pt>
              </c:strCache>
            </c:strRef>
          </c:tx>
          <c:spPr>
            <a:solidFill>
              <a:srgbClr val="EA5B0C"/>
            </a:solidFill>
          </c:spPr>
          <c:invertIfNegative val="1"/>
          <c:dLbls>
            <c:numFmt formatCode="0;;;" sourceLinked="0"/>
            <c:spPr>
              <a:noFill/>
              <a:ln>
                <a:noFill/>
              </a:ln>
              <a:effectLst/>
            </c:spPr>
            <c:txPr>
              <a:bodyPr/>
              <a:lstStyle/>
              <a:p>
                <a:pPr>
                  <a:defRPr sz="1100" b="1">
                    <a:solidFill>
                      <a:srgbClr val="FFFFFF"/>
                    </a:solidFill>
                    <a:latin typeface="Arial"/>
                  </a:defRPr>
                </a:pPr>
                <a:endParaRPr lang="de-DE"/>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Alle CHF 0</c:v>
                </c:pt>
                <c:pt idx="1">
                  <c:v>Alle CHF 15</c:v>
                </c:pt>
                <c:pt idx="2">
                  <c:v>0 / 15 / 15</c:v>
                </c:pt>
                <c:pt idx="3">
                  <c:v>0 / 15 / 45</c:v>
                </c:pt>
                <c:pt idx="4">
                  <c:v>0 / 0 / 15</c:v>
                </c:pt>
              </c:strCache>
            </c:strRef>
          </c:cat>
          <c:val>
            <c:numRef>
              <c:f>Sheet1!$D$2:$D$6</c:f>
              <c:numCache>
                <c:formatCode>General</c:formatCode>
                <c:ptCount val="5"/>
                <c:pt idx="0">
                  <c:v>58</c:v>
                </c:pt>
                <c:pt idx="1">
                  <c:v>58</c:v>
                </c:pt>
                <c:pt idx="2">
                  <c:v>25</c:v>
                </c:pt>
                <c:pt idx="3">
                  <c:v>0</c:v>
                </c:pt>
                <c:pt idx="4">
                  <c:v>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0E00-43DD-91EC-19BBAEF46EE3}"/>
            </c:ext>
          </c:extLst>
        </c:ser>
        <c:ser>
          <c:idx val="3"/>
          <c:order val="3"/>
          <c:tx>
            <c:strRef>
              <c:f>Sheet1!$E$1</c:f>
              <c:strCache>
                <c:ptCount val="1"/>
                <c:pt idx="0">
                  <c:v>Keine Wahl</c:v>
                </c:pt>
              </c:strCache>
            </c:strRef>
          </c:tx>
          <c:spPr>
            <a:solidFill>
              <a:srgbClr val="D9D9D9"/>
            </a:solidFill>
          </c:spPr>
          <c:invertIfNegative val="1"/>
          <c:dLbls>
            <c:numFmt formatCode="0;;;" sourceLinked="0"/>
            <c:spPr>
              <a:noFill/>
              <a:ln>
                <a:noFill/>
              </a:ln>
              <a:effectLst/>
            </c:spPr>
            <c:txPr>
              <a:bodyPr/>
              <a:lstStyle/>
              <a:p>
                <a:pPr>
                  <a:defRPr sz="1100" b="1">
                    <a:solidFill>
                      <a:srgbClr val="002C59"/>
                    </a:solidFill>
                    <a:latin typeface="Arial"/>
                  </a:defRPr>
                </a:pPr>
                <a:endParaRPr lang="de-DE"/>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Alle CHF 0</c:v>
                </c:pt>
                <c:pt idx="1">
                  <c:v>Alle CHF 15</c:v>
                </c:pt>
                <c:pt idx="2">
                  <c:v>0 / 15 / 15</c:v>
                </c:pt>
                <c:pt idx="3">
                  <c:v>0 / 15 / 45</c:v>
                </c:pt>
                <c:pt idx="4">
                  <c:v>0 / 0 / 15</c:v>
                </c:pt>
              </c:strCache>
            </c:strRef>
          </c:cat>
          <c:val>
            <c:numRef>
              <c:f>Sheet1!$E$2:$E$6</c:f>
              <c:numCache>
                <c:formatCode>General</c:formatCode>
                <c:ptCount val="5"/>
                <c:pt idx="0">
                  <c:v>8</c:v>
                </c:pt>
                <c:pt idx="1">
                  <c:v>17</c:v>
                </c:pt>
                <c:pt idx="2">
                  <c:v>17</c:v>
                </c:pt>
                <c:pt idx="3">
                  <c:v>17</c:v>
                </c:pt>
                <c:pt idx="4">
                  <c:v>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3-0E00-43DD-91EC-19BBAEF46EE3}"/>
            </c:ext>
          </c:extLst>
        </c:ser>
        <c:dLbls>
          <c:showLegendKey val="0"/>
          <c:showVal val="0"/>
          <c:showCatName val="0"/>
          <c:showSerName val="0"/>
          <c:showPercent val="0"/>
          <c:showBubbleSize val="0"/>
        </c:dLbls>
        <c:gapWidth val="40"/>
        <c:overlap val="100"/>
        <c:axId val="-2068027336"/>
        <c:axId val="-2113994440"/>
      </c:barChart>
      <c:catAx>
        <c:axId val="-2068027336"/>
        <c:scaling>
          <c:orientation val="maxMin"/>
        </c:scaling>
        <c:delete val="0"/>
        <c:axPos val="l"/>
        <c:numFmt formatCode="General" sourceLinked="0"/>
        <c:majorTickMark val="out"/>
        <c:minorTickMark val="none"/>
        <c:tickLblPos val="nextTo"/>
        <c:spPr>
          <a:ln>
            <a:solidFill>
              <a:srgbClr val="B7B7B7"/>
            </a:solidFill>
          </a:ln>
        </c:spPr>
        <c:txPr>
          <a:bodyPr/>
          <a:lstStyle/>
          <a:p>
            <a:pPr>
              <a:defRPr sz="1200">
                <a:solidFill>
                  <a:srgbClr val="646464"/>
                </a:solidFill>
                <a:latin typeface="Arial"/>
              </a:defRPr>
            </a:pPr>
            <a:endParaRPr lang="de-DE"/>
          </a:p>
        </c:txPr>
        <c:crossAx val="-2113994440"/>
        <c:crosses val="autoZero"/>
        <c:auto val="1"/>
        <c:lblAlgn val="ctr"/>
        <c:lblOffset val="100"/>
        <c:noMultiLvlLbl val="0"/>
      </c:catAx>
      <c:valAx>
        <c:axId val="-2113994440"/>
        <c:scaling>
          <c:orientation val="minMax"/>
          <c:max val="100"/>
          <c:min val="0"/>
        </c:scaling>
        <c:delete val="1"/>
        <c:axPos val="t"/>
        <c:numFmt formatCode="General" sourceLinked="1"/>
        <c:majorTickMark val="out"/>
        <c:minorTickMark val="none"/>
        <c:tickLblPos val="nextTo"/>
        <c:crossAx val="-2068027336"/>
        <c:crosses val="autoZero"/>
        <c:crossBetween val="between"/>
      </c:valAx>
    </c:plotArea>
    <c:legend>
      <c:legendPos val="b"/>
      <c:overlay val="0"/>
      <c:txPr>
        <a:bodyPr/>
        <a:lstStyle/>
        <a:p>
          <a:pPr>
            <a:defRPr sz="1100">
              <a:latin typeface="Arial"/>
            </a:defRPr>
          </a:pPr>
          <a:endParaRPr lang="de-DE"/>
        </a:p>
      </c:txPr>
    </c:legend>
    <c:plotVisOnly val="1"/>
    <c:dispBlanksAs val="gap"/>
    <c:showDLblsOverMax val="1"/>
  </c:chart>
  <c:txPr>
    <a:bodyPr/>
    <a:lstStyle/>
    <a:p>
      <a:pPr>
        <a:defRPr sz="1200">
          <a:solidFill>
            <a:srgbClr val="002C59"/>
          </a:solidFill>
          <a:latin typeface="Arial"/>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1"/>
  <c:style val="2"/>
  <c:chart>
    <c:autoTitleDeleted val="1"/>
    <c:plotArea>
      <c:layout/>
      <c:barChart>
        <c:barDir val="col"/>
        <c:grouping val="clustered"/>
        <c:varyColors val="1"/>
        <c:ser>
          <c:idx val="0"/>
          <c:order val="0"/>
          <c:tx>
            <c:strRef>
              <c:f>Sheet1!$B$1</c:f>
              <c:strCache>
                <c:ptCount val="1"/>
                <c:pt idx="0">
                  <c:v>Gabor-Granger (n = 20)</c:v>
                </c:pt>
              </c:strCache>
            </c:strRef>
          </c:tx>
          <c:spPr>
            <a:solidFill>
              <a:srgbClr val="002C59"/>
            </a:solidFill>
          </c:spPr>
          <c:invertIfNegative val="1"/>
          <c:dLbls>
            <c:numFmt formatCode="0.0" sourceLinked="0"/>
            <c:spPr>
              <a:noFill/>
              <a:ln>
                <a:noFill/>
              </a:ln>
              <a:effectLst/>
            </c:spPr>
            <c:txPr>
              <a:bodyPr/>
              <a:lstStyle/>
              <a:p>
                <a:pPr>
                  <a:defRPr sz="1200" b="1">
                    <a:solidFill>
                      <a:srgbClr val="002C59"/>
                    </a:solidFill>
                    <a:latin typeface="Arial"/>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Basis-Bad</c:v>
                </c:pt>
                <c:pt idx="1">
                  <c:v>Komfort-Bad</c:v>
                </c:pt>
                <c:pt idx="2">
                  <c:v>Premium-Bad</c:v>
                </c:pt>
              </c:strCache>
            </c:strRef>
          </c:cat>
          <c:val>
            <c:numRef>
              <c:f>Sheet1!$B$2:$B$4</c:f>
              <c:numCache>
                <c:formatCode>General</c:formatCode>
                <c:ptCount val="3"/>
                <c:pt idx="0">
                  <c:v>12.8</c:v>
                </c:pt>
                <c:pt idx="1">
                  <c:v>17.8</c:v>
                </c:pt>
                <c:pt idx="2">
                  <c:v>21.8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9EA9-4FC8-8119-DE6A64002F1E}"/>
            </c:ext>
          </c:extLst>
        </c:ser>
        <c:ser>
          <c:idx val="1"/>
          <c:order val="1"/>
          <c:tx>
            <c:strRef>
              <c:f>Sheet1!$C$1</c:f>
              <c:strCache>
                <c:ptCount val="1"/>
                <c:pt idx="0">
                  <c:v>CBC (n = 12)</c:v>
                </c:pt>
              </c:strCache>
            </c:strRef>
          </c:tx>
          <c:spPr>
            <a:solidFill>
              <a:srgbClr val="6FBAED"/>
            </a:solidFill>
          </c:spPr>
          <c:invertIfNegative val="1"/>
          <c:dLbls>
            <c:numFmt formatCode="0.0" sourceLinked="0"/>
            <c:spPr>
              <a:noFill/>
              <a:ln>
                <a:noFill/>
              </a:ln>
              <a:effectLst/>
            </c:spPr>
            <c:txPr>
              <a:bodyPr/>
              <a:lstStyle/>
              <a:p>
                <a:pPr>
                  <a:defRPr sz="1200" b="1">
                    <a:solidFill>
                      <a:srgbClr val="002C59"/>
                    </a:solidFill>
                    <a:latin typeface="Arial"/>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Basis-Bad</c:v>
                </c:pt>
                <c:pt idx="1">
                  <c:v>Komfort-Bad</c:v>
                </c:pt>
                <c:pt idx="2">
                  <c:v>Premium-Bad</c:v>
                </c:pt>
              </c:strCache>
            </c:strRef>
          </c:cat>
          <c:val>
            <c:numRef>
              <c:f>Sheet1!$C$2:$C$4</c:f>
              <c:numCache>
                <c:formatCode>General</c:formatCode>
                <c:ptCount val="3"/>
                <c:pt idx="0">
                  <c:v>7.7</c:v>
                </c:pt>
                <c:pt idx="1">
                  <c:v>17</c:v>
                </c:pt>
                <c:pt idx="2">
                  <c:v>18.8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9EA9-4FC8-8119-DE6A64002F1E}"/>
            </c:ext>
          </c:extLst>
        </c:ser>
        <c:dLbls>
          <c:showLegendKey val="0"/>
          <c:showVal val="0"/>
          <c:showCatName val="0"/>
          <c:showSerName val="0"/>
          <c:showPercent val="0"/>
          <c:showBubbleSize val="0"/>
        </c:dLbls>
        <c:gapWidth val="70"/>
        <c:overlap val="-5"/>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B7B7B7"/>
            </a:solidFill>
          </a:ln>
        </c:spPr>
        <c:txPr>
          <a:bodyPr/>
          <a:lstStyle/>
          <a:p>
            <a:pPr>
              <a:defRPr sz="1200">
                <a:solidFill>
                  <a:srgbClr val="646464"/>
                </a:solidFill>
                <a:latin typeface="Arial"/>
              </a:defRPr>
            </a:pPr>
            <a:endParaRPr lang="de-DE"/>
          </a:p>
        </c:txPr>
        <c:crossAx val="-2113994440"/>
        <c:crosses val="autoZero"/>
        <c:auto val="1"/>
        <c:lblAlgn val="ctr"/>
        <c:lblOffset val="100"/>
        <c:noMultiLvlLbl val="0"/>
      </c:catAx>
      <c:valAx>
        <c:axId val="-2113994440"/>
        <c:scaling>
          <c:orientation val="minMax"/>
          <c:max val="30"/>
          <c:min val="0"/>
        </c:scaling>
        <c:delete val="0"/>
        <c:axPos val="l"/>
        <c:majorGridlines>
          <c:spPr>
            <a:ln w="9525">
              <a:solidFill>
                <a:srgbClr val="E3E3E3"/>
              </a:solidFill>
            </a:ln>
          </c:spPr>
        </c:majorGridlines>
        <c:numFmt formatCode="General" sourceLinked="1"/>
        <c:majorTickMark val="out"/>
        <c:minorTickMark val="none"/>
        <c:tickLblPos val="nextTo"/>
        <c:spPr>
          <a:ln>
            <a:solidFill>
              <a:srgbClr val="B7B7B7"/>
            </a:solidFill>
          </a:ln>
        </c:spPr>
        <c:txPr>
          <a:bodyPr/>
          <a:lstStyle/>
          <a:p>
            <a:pPr>
              <a:defRPr sz="1100">
                <a:solidFill>
                  <a:srgbClr val="646464"/>
                </a:solidFill>
                <a:latin typeface="Arial"/>
              </a:defRPr>
            </a:pPr>
            <a:endParaRPr lang="de-DE"/>
          </a:p>
        </c:txPr>
        <c:crossAx val="-2068027336"/>
        <c:crosses val="autoZero"/>
        <c:crossBetween val="between"/>
        <c:majorUnit val="10"/>
      </c:valAx>
    </c:plotArea>
    <c:legend>
      <c:legendPos val="t"/>
      <c:overlay val="0"/>
      <c:txPr>
        <a:bodyPr/>
        <a:lstStyle/>
        <a:p>
          <a:pPr>
            <a:defRPr sz="1200">
              <a:latin typeface="Arial"/>
            </a:defRPr>
          </a:pPr>
          <a:endParaRPr lang="de-DE"/>
        </a:p>
      </c:txPr>
    </c:legend>
    <c:plotVisOnly val="1"/>
    <c:dispBlanksAs val="gap"/>
    <c:showDLblsOverMax val="1"/>
  </c:chart>
  <c:txPr>
    <a:bodyPr/>
    <a:lstStyle/>
    <a:p>
      <a:pPr>
        <a:defRPr sz="1200">
          <a:solidFill>
            <a:srgbClr val="002C59"/>
          </a:solidFill>
          <a:latin typeface="Arial"/>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45659" cy="496332"/>
          </a:xfrm>
          <a:prstGeom prst="rect">
            <a:avLst/>
          </a:prstGeom>
        </p:spPr>
        <p:txBody>
          <a:bodyPr vert="horz" lIns="91568" tIns="45784" rIns="91568" bIns="45784" rtlCol="0"/>
          <a:lstStyle>
            <a:lvl1pPr algn="l">
              <a:defRPr sz="1200"/>
            </a:lvl1pPr>
          </a:lstStyle>
          <a:p>
            <a:endParaRPr lang="fr-FR" dirty="0"/>
          </a:p>
        </p:txBody>
      </p:sp>
      <p:sp>
        <p:nvSpPr>
          <p:cNvPr id="3" name="Datumsplatzhalter 2"/>
          <p:cNvSpPr>
            <a:spLocks noGrp="1"/>
          </p:cNvSpPr>
          <p:nvPr>
            <p:ph type="dt" sz="quarter" idx="1"/>
          </p:nvPr>
        </p:nvSpPr>
        <p:spPr>
          <a:xfrm>
            <a:off x="3852017" y="0"/>
            <a:ext cx="2945659" cy="496332"/>
          </a:xfrm>
          <a:prstGeom prst="rect">
            <a:avLst/>
          </a:prstGeom>
        </p:spPr>
        <p:txBody>
          <a:bodyPr vert="horz" lIns="91568" tIns="45784" rIns="91568" bIns="45784" rtlCol="0"/>
          <a:lstStyle>
            <a:lvl1pPr algn="r">
              <a:defRPr sz="1200"/>
            </a:lvl1pPr>
          </a:lstStyle>
          <a:p>
            <a:fld id="{AA48851D-549D-4785-8040-D1740898315D}" type="datetime1">
              <a:rPr lang="de-CH" smtClean="0"/>
              <a:pPr/>
              <a:t>11.10.2026</a:t>
            </a:fld>
            <a:endParaRPr lang="fr-FR" dirty="0"/>
          </a:p>
        </p:txBody>
      </p:sp>
      <p:sp>
        <p:nvSpPr>
          <p:cNvPr id="4" name="Fußzeilenplatzhalter 3"/>
          <p:cNvSpPr>
            <a:spLocks noGrp="1"/>
          </p:cNvSpPr>
          <p:nvPr>
            <p:ph type="ftr" sz="quarter" idx="2"/>
          </p:nvPr>
        </p:nvSpPr>
        <p:spPr>
          <a:xfrm>
            <a:off x="0" y="9428583"/>
            <a:ext cx="2945659" cy="496332"/>
          </a:xfrm>
          <a:prstGeom prst="rect">
            <a:avLst/>
          </a:prstGeom>
        </p:spPr>
        <p:txBody>
          <a:bodyPr vert="horz" lIns="91568" tIns="45784" rIns="91568" bIns="45784" rtlCol="0" anchor="b"/>
          <a:lstStyle>
            <a:lvl1pPr algn="l">
              <a:defRPr sz="1200"/>
            </a:lvl1pPr>
          </a:lstStyle>
          <a:p>
            <a:endParaRPr lang="fr-FR" dirty="0"/>
          </a:p>
        </p:txBody>
      </p:sp>
      <p:sp>
        <p:nvSpPr>
          <p:cNvPr id="5" name="Foliennummernplatzhalter 4"/>
          <p:cNvSpPr>
            <a:spLocks noGrp="1"/>
          </p:cNvSpPr>
          <p:nvPr>
            <p:ph type="sldNum" sz="quarter" idx="3"/>
          </p:nvPr>
        </p:nvSpPr>
        <p:spPr>
          <a:xfrm>
            <a:off x="3850444" y="9428583"/>
            <a:ext cx="2945659" cy="496332"/>
          </a:xfrm>
          <a:prstGeom prst="rect">
            <a:avLst/>
          </a:prstGeom>
        </p:spPr>
        <p:txBody>
          <a:bodyPr vert="horz" lIns="91568" tIns="45784" rIns="91568" bIns="45784" rtlCol="0" anchor="b"/>
          <a:lstStyle>
            <a:lvl1pPr algn="r">
              <a:defRPr sz="1200"/>
            </a:lvl1pPr>
          </a:lstStyle>
          <a:p>
            <a:fld id="{13A0D4A6-8139-42B7-BC6D-3591E8363667}" type="slidenum">
              <a:rPr lang="fr-FR" smtClean="0"/>
              <a:pPr/>
              <a:t>‹Nr.›</a:t>
            </a:fld>
            <a:endParaRPr lang="fr-FR" dirty="0"/>
          </a:p>
        </p:txBody>
      </p:sp>
    </p:spTree>
    <p:extLst>
      <p:ext uri="{BB962C8B-B14F-4D97-AF65-F5344CB8AC3E}">
        <p14:creationId xmlns:p14="http://schemas.microsoft.com/office/powerpoint/2010/main" val="39059516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45659" cy="496332"/>
          </a:xfrm>
          <a:prstGeom prst="rect">
            <a:avLst/>
          </a:prstGeom>
        </p:spPr>
        <p:txBody>
          <a:bodyPr vert="horz" lIns="91568" tIns="45784" rIns="91568" bIns="45784" rtlCol="0"/>
          <a:lstStyle>
            <a:lvl1pPr algn="l">
              <a:defRPr sz="1200"/>
            </a:lvl1pPr>
          </a:lstStyle>
          <a:p>
            <a:endParaRPr lang="fr-FR" dirty="0"/>
          </a:p>
        </p:txBody>
      </p:sp>
      <p:sp>
        <p:nvSpPr>
          <p:cNvPr id="3" name="Datumsplatzhalter 2"/>
          <p:cNvSpPr>
            <a:spLocks noGrp="1"/>
          </p:cNvSpPr>
          <p:nvPr>
            <p:ph type="dt" idx="1"/>
          </p:nvPr>
        </p:nvSpPr>
        <p:spPr>
          <a:xfrm>
            <a:off x="3850444" y="0"/>
            <a:ext cx="2945659" cy="496332"/>
          </a:xfrm>
          <a:prstGeom prst="rect">
            <a:avLst/>
          </a:prstGeom>
        </p:spPr>
        <p:txBody>
          <a:bodyPr vert="horz" lIns="91568" tIns="45784" rIns="91568" bIns="45784" rtlCol="0"/>
          <a:lstStyle>
            <a:lvl1pPr algn="r">
              <a:defRPr sz="1200"/>
            </a:lvl1pPr>
          </a:lstStyle>
          <a:p>
            <a:fld id="{1C03A998-303B-4F86-9947-A49AF14B2D3A}" type="datetimeFigureOut">
              <a:rPr lang="fr-FR" smtClean="0"/>
              <a:pPr/>
              <a:t>11/10/2026</a:t>
            </a:fld>
            <a:endParaRPr lang="fr-FR" dirty="0"/>
          </a:p>
        </p:txBody>
      </p:sp>
      <p:sp>
        <p:nvSpPr>
          <p:cNvPr id="4" name="Folienbildplatzhalter 3"/>
          <p:cNvSpPr>
            <a:spLocks noGrp="1" noRot="1" noChangeAspect="1"/>
          </p:cNvSpPr>
          <p:nvPr>
            <p:ph type="sldImg" idx="2"/>
          </p:nvPr>
        </p:nvSpPr>
        <p:spPr>
          <a:xfrm>
            <a:off x="90488" y="744538"/>
            <a:ext cx="6616700" cy="3722687"/>
          </a:xfrm>
          <a:prstGeom prst="rect">
            <a:avLst/>
          </a:prstGeom>
          <a:noFill/>
          <a:ln w="12700">
            <a:solidFill>
              <a:prstClr val="black"/>
            </a:solidFill>
          </a:ln>
        </p:spPr>
        <p:txBody>
          <a:bodyPr vert="horz" lIns="91568" tIns="45784" rIns="91568" bIns="45784" rtlCol="0" anchor="ctr"/>
          <a:lstStyle/>
          <a:p>
            <a:endParaRPr lang="fr-FR" dirty="0"/>
          </a:p>
        </p:txBody>
      </p:sp>
      <p:sp>
        <p:nvSpPr>
          <p:cNvPr id="5" name="Notizenplatzhalter 4"/>
          <p:cNvSpPr>
            <a:spLocks noGrp="1"/>
          </p:cNvSpPr>
          <p:nvPr>
            <p:ph type="body" sz="quarter" idx="3"/>
          </p:nvPr>
        </p:nvSpPr>
        <p:spPr>
          <a:xfrm>
            <a:off x="679768" y="4715153"/>
            <a:ext cx="5438140" cy="4466987"/>
          </a:xfrm>
          <a:prstGeom prst="rect">
            <a:avLst/>
          </a:prstGeom>
        </p:spPr>
        <p:txBody>
          <a:bodyPr vert="horz" lIns="91568" tIns="45784" rIns="91568" bIns="45784" rtlCol="0"/>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fr-FR"/>
          </a:p>
        </p:txBody>
      </p:sp>
      <p:sp>
        <p:nvSpPr>
          <p:cNvPr id="6" name="Fußzeilenplatzhalter 5"/>
          <p:cNvSpPr>
            <a:spLocks noGrp="1"/>
          </p:cNvSpPr>
          <p:nvPr>
            <p:ph type="ftr" sz="quarter" idx="4"/>
          </p:nvPr>
        </p:nvSpPr>
        <p:spPr>
          <a:xfrm>
            <a:off x="0" y="9428583"/>
            <a:ext cx="2945659" cy="496332"/>
          </a:xfrm>
          <a:prstGeom prst="rect">
            <a:avLst/>
          </a:prstGeom>
        </p:spPr>
        <p:txBody>
          <a:bodyPr vert="horz" lIns="91568" tIns="45784" rIns="91568" bIns="45784" rtlCol="0" anchor="b"/>
          <a:lstStyle>
            <a:lvl1pPr algn="l">
              <a:defRPr sz="1200"/>
            </a:lvl1pPr>
          </a:lstStyle>
          <a:p>
            <a:endParaRPr lang="fr-FR" dirty="0"/>
          </a:p>
        </p:txBody>
      </p:sp>
      <p:sp>
        <p:nvSpPr>
          <p:cNvPr id="7" name="Foliennummernplatzhalter 6"/>
          <p:cNvSpPr>
            <a:spLocks noGrp="1"/>
          </p:cNvSpPr>
          <p:nvPr>
            <p:ph type="sldNum" sz="quarter" idx="5"/>
          </p:nvPr>
        </p:nvSpPr>
        <p:spPr>
          <a:xfrm>
            <a:off x="3850444" y="9428583"/>
            <a:ext cx="2945659" cy="496332"/>
          </a:xfrm>
          <a:prstGeom prst="rect">
            <a:avLst/>
          </a:prstGeom>
        </p:spPr>
        <p:txBody>
          <a:bodyPr vert="horz" lIns="91568" tIns="45784" rIns="91568" bIns="45784" rtlCol="0" anchor="b"/>
          <a:lstStyle>
            <a:lvl1pPr algn="r">
              <a:defRPr sz="1200"/>
            </a:lvl1pPr>
          </a:lstStyle>
          <a:p>
            <a:fld id="{4E9274FF-26F8-4AE0-B748-E0D66FCDF779}" type="slidenum">
              <a:rPr lang="fr-FR" smtClean="0"/>
              <a:pPr/>
              <a:t>‹Nr.›</a:t>
            </a:fld>
            <a:endParaRPr lang="fr-FR" dirty="0"/>
          </a:p>
        </p:txBody>
      </p:sp>
    </p:spTree>
    <p:extLst>
      <p:ext uri="{BB962C8B-B14F-4D97-AF65-F5344CB8AC3E}">
        <p14:creationId xmlns:p14="http://schemas.microsoft.com/office/powerpoint/2010/main" val="3903543952"/>
      </p:ext>
    </p:extLst>
  </p:cSld>
  <p:clrMap bg1="lt1" tx1="dk1" bg2="lt2" tx2="dk2" accent1="accent1" accent2="accent2" accent3="accent3" accent4="accent4" accent5="accent5" accent6="accent6" hlink="hlink" folHlink="folHlink"/>
  <p:notesStyle>
    <a:lvl1pPr marL="0" algn="l" defTabSz="778993" rtl="0" eaLnBrk="1" latinLnBrk="0" hangingPunct="1">
      <a:defRPr sz="1000" kern="1200">
        <a:solidFill>
          <a:schemeClr val="tx1"/>
        </a:solidFill>
        <a:latin typeface="+mn-lt"/>
        <a:ea typeface="+mn-ea"/>
        <a:cs typeface="+mn-cs"/>
      </a:defRPr>
    </a:lvl1pPr>
    <a:lvl2pPr marL="389496" algn="l" defTabSz="778993" rtl="0" eaLnBrk="1" latinLnBrk="0" hangingPunct="1">
      <a:defRPr sz="1000" kern="1200">
        <a:solidFill>
          <a:schemeClr val="tx1"/>
        </a:solidFill>
        <a:latin typeface="+mn-lt"/>
        <a:ea typeface="+mn-ea"/>
        <a:cs typeface="+mn-cs"/>
      </a:defRPr>
    </a:lvl2pPr>
    <a:lvl3pPr marL="778993" algn="l" defTabSz="778993" rtl="0" eaLnBrk="1" latinLnBrk="0" hangingPunct="1">
      <a:defRPr sz="1000" kern="1200">
        <a:solidFill>
          <a:schemeClr val="tx1"/>
        </a:solidFill>
        <a:latin typeface="+mn-lt"/>
        <a:ea typeface="+mn-ea"/>
        <a:cs typeface="+mn-cs"/>
      </a:defRPr>
    </a:lvl3pPr>
    <a:lvl4pPr marL="1168488" algn="l" defTabSz="778993" rtl="0" eaLnBrk="1" latinLnBrk="0" hangingPunct="1">
      <a:defRPr sz="1000" kern="1200">
        <a:solidFill>
          <a:schemeClr val="tx1"/>
        </a:solidFill>
        <a:latin typeface="+mn-lt"/>
        <a:ea typeface="+mn-ea"/>
        <a:cs typeface="+mn-cs"/>
      </a:defRPr>
    </a:lvl4pPr>
    <a:lvl5pPr marL="1557986" algn="l" defTabSz="778993" rtl="0" eaLnBrk="1" latinLnBrk="0" hangingPunct="1">
      <a:defRPr sz="1000" kern="1200">
        <a:solidFill>
          <a:schemeClr val="tx1"/>
        </a:solidFill>
        <a:latin typeface="+mn-lt"/>
        <a:ea typeface="+mn-ea"/>
        <a:cs typeface="+mn-cs"/>
      </a:defRPr>
    </a:lvl5pPr>
    <a:lvl6pPr marL="1947481" algn="l" defTabSz="778993" rtl="0" eaLnBrk="1" latinLnBrk="0" hangingPunct="1">
      <a:defRPr sz="1000" kern="1200">
        <a:solidFill>
          <a:schemeClr val="tx1"/>
        </a:solidFill>
        <a:latin typeface="+mn-lt"/>
        <a:ea typeface="+mn-ea"/>
        <a:cs typeface="+mn-cs"/>
      </a:defRPr>
    </a:lvl6pPr>
    <a:lvl7pPr marL="2336979" algn="l" defTabSz="778993" rtl="0" eaLnBrk="1" latinLnBrk="0" hangingPunct="1">
      <a:defRPr sz="1000" kern="1200">
        <a:solidFill>
          <a:schemeClr val="tx1"/>
        </a:solidFill>
        <a:latin typeface="+mn-lt"/>
        <a:ea typeface="+mn-ea"/>
        <a:cs typeface="+mn-cs"/>
      </a:defRPr>
    </a:lvl7pPr>
    <a:lvl8pPr marL="2726475" algn="l" defTabSz="778993" rtl="0" eaLnBrk="1" latinLnBrk="0" hangingPunct="1">
      <a:defRPr sz="1000" kern="1200">
        <a:solidFill>
          <a:schemeClr val="tx1"/>
        </a:solidFill>
        <a:latin typeface="+mn-lt"/>
        <a:ea typeface="+mn-ea"/>
        <a:cs typeface="+mn-cs"/>
      </a:defRPr>
    </a:lvl8pPr>
    <a:lvl9pPr marL="3115973" algn="l" defTabSz="778993" rtl="0" eaLnBrk="1" latinLnBrk="0" hangingPunct="1">
      <a:defRPr sz="10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3126" userDrawn="1">
          <p15:clr>
            <a:srgbClr val="F26B43"/>
          </p15:clr>
        </p15:guide>
        <p15:guide id="2" pos="2141"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t>[Marilena] (ca. 0:30)</a:t>
            </a:r>
          </a:p>
          <a:p>
            <a:r>
              <a:t>Guten Tag zusammen. Wir sind Marilena Marraffino und Dominic Hüppi von der Gruppe 2. In den nächsten zehn Minuten zeigen wir Ihnen, wie viel Aufpreis Hotelgäste für ein hochwertiges Badezimmer akzeptieren. Wir arbeiten im fiktiven Auftrag der Geberit AG, einer Herstellerin von Sanitärtechnik. Ich erkläre die Ausgangslage, das Vorgehen und die Ergebnisse der Gabor-Granger-Analyse. Dominic übernimmt bei der Conjoint-Analyse und führt Sie zu den Empfehlungen.</a:t>
            </a:r>
          </a:p>
          <a:p>
            <a:endParaRPr/>
          </a:p>
          <a:p>
            <a:r>
              <a:t>ZUSATZINFO (nicht sprechen)</a:t>
            </a:r>
          </a:p>
          <a:p>
            <a:r>
              <a:t>- Gesamtdauer 10 Minuten plus 10 Minuten Q&amp;A. Sprecherwechsel nach Folie 5 (Marilena) zu Folie 6 (Dominic); bei Bedarf anpassen.</a:t>
            </a:r>
          </a:p>
          <a:p>
            <a:r>
              <a:t>- Richtwert: rund 130 Wörter pro Minute. Der gesprochene Text aller Folien umfasst ca. 1'250 Wörter.</a:t>
            </a:r>
          </a:p>
          <a:p>
            <a:r>
              <a:t>- Abgabe auf Moodle bis 15.10.2026, 23:00 Uhr.</a:t>
            </a:r>
          </a:p>
        </p:txBody>
      </p:sp>
      <p:sp>
        <p:nvSpPr>
          <p:cNvPr id="4" name="Foliennummernplatzhalter 3"/>
          <p:cNvSpPr>
            <a:spLocks noGrp="1"/>
          </p:cNvSpPr>
          <p:nvPr>
            <p:ph type="sldNum" sz="quarter" idx="5"/>
          </p:nvPr>
        </p:nvSpPr>
        <p:spPr/>
        <p:txBody>
          <a:bodyPr/>
          <a:lstStyle/>
          <a:p>
            <a:fld id="{4E9274FF-26F8-4AE0-B748-E0D66FCDF779}" type="slidenum">
              <a:rPr lang="fr-FR" smtClean="0"/>
              <a:pPr/>
              <a:t>1</a:t>
            </a:fld>
            <a:endParaRPr lang="fr-FR" dirty="0"/>
          </a:p>
        </p:txBody>
      </p:sp>
    </p:spTree>
    <p:extLst>
      <p:ext uri="{BB962C8B-B14F-4D97-AF65-F5344CB8AC3E}">
        <p14:creationId xmlns:p14="http://schemas.microsoft.com/office/powerpoint/2010/main" val="4741114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[Marilena] (ca. 1:00)</a:t>
            </a:r>
          </a:p>
          <a:p>
            <a:r>
              <a:t>Die Geberit AG liefert Sanitärtechnik an Hotels. Ein Hotelier investiert aber nur in ein hochwertiges Bad, wenn er erwarten kann, dass Gäste dafür mehr bezahlen. Genau das war bisher offen: Wie viel Aufpreis akzeptieren Gäste für ein besseres Bad, und welche Ausstattung zählt dabei am meisten?</a:t>
            </a:r>
          </a:p>
          <a:p>
            <a:endParaRPr/>
          </a:p>
          <a:p>
            <a:r>
              <a:t>Daraus haben wir drei Kernfragen abgeleitet. Erstens: Wie hoch ist der akzeptierte Aufpreis pro Nacht für ein Premium-Bad? Zweitens: Wie wichtig sind der Preis und die einzelnen Ausstattungsmerkmale, und welche Stufen sind am wertvollsten? Drittens: Bei welchem Aufpreis ist der erwartete Umsatz am grössten? Die Ergebnisse verstehen wir als Orientierung für Geberit, nicht als Marktprognose.</a:t>
            </a:r>
          </a:p>
          <a:p>
            <a:endParaRPr/>
          </a:p>
          <a:p>
            <a:r>
              <a:t>ZUSATZINFO (nicht sprechen)</a:t>
            </a:r>
          </a:p>
          <a:p>
            <a:r>
              <a:t>- Im Bericht sind es sechs Fragestellungen (FF1 bis FF6): FF1 Aufpreis Premium-Bad, FF2 Wichtigkeit Preis, FF3 Teilnutzenwerte, FF4 optimales Gesamtprofil, FF5 umsatzmaximaler Aufpreis, FF6 Relevanz des Bads bei der Hotelwahl.</a:t>
            </a:r>
          </a:p>
          <a:p>
            <a:r>
              <a:t>- FF6 ist mit den vorliegenden Daten nicht beantwortbar (keine Wahrnehmungsfragen im Export); nur sagen, wenn nachgefragt wird.</a:t>
            </a:r>
          </a:p>
          <a:p>
            <a:r>
              <a:t>- Zahlungsbereitschaft = maximaler Preis, den jemand noch zu zahlen bereit ist (Breidert et al., 2006).</a:t>
            </a:r>
          </a:p>
          <a:p>
            <a:r>
              <a:t>- Vorgehen nach dem Marktforschungsprozess von Kuss et al. (2020, S. 13).</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[Marilena] (ca. 1:20)</a:t>
            </a:r>
          </a:p>
          <a:p>
            <a:r>
              <a:t>Wir haben zwei Verfahren in zwei getrennten Online-Befragungen kombiniert.</a:t>
            </a:r>
          </a:p>
          <a:p>
            <a:endParaRPr/>
          </a:p>
          <a:p>
            <a:r>
              <a:t>Links die Gabor-Granger-Analyse. 20 Personen sahen drei Bilder eines Hotelbads: ein Basis-, ein Komfort- und ein Premium-Bad. Für jedes Bild wurde gefragt, ob sie einen bestimmten Aufpreis zahlen würden, ja oder nein. Die Preise reichten von null bis 70 Franken in Fünferschritten. Die Abfrage war adaptiv: Nach einem Ja kam ein höherer, nach einem Nein ein tieferer Preis. Daraus entsteht pro Bad eine Nachfragekurve.</a:t>
            </a:r>
          </a:p>
          <a:p>
            <a:endParaRPr/>
          </a:p>
          <a:p>
            <a:r>
              <a:t>Rechts die Choice-based Conjoint-Analyse. 28 Personen wählten in sieben Aufgaben zwischen drei Badezimmern oder keinem. Die Bäder unterschieden sich in vier Ausstattungsmerkmalen mit je drei Stufen und im Aufpreis von null, 15 oder 45 Franken, bei einem Zimmerpreis von 150 Franken. So sehen wir, was Gäste gegeneinander abwägen.</a:t>
            </a:r>
          </a:p>
          <a:p>
            <a:endParaRPr/>
          </a:p>
          <a:p>
            <a:r>
              <a:t>Die Teilnehmenden stammen aus unserem Netzwerk. Es ist also eine Gelegenheitsstichprobe, keine repräsentative Befragung.</a:t>
            </a:r>
          </a:p>
          <a:p>
            <a:endParaRPr/>
          </a:p>
          <a:p>
            <a:r>
              <a:t>ZUSATZINFO (nicht sprechen)</a:t>
            </a:r>
          </a:p>
          <a:p>
            <a:r>
              <a:t>- GG: 25 Personen begonnen, 20 haben alle drei Bilder beantwortet (nur diese ausgewertet). Befragung 06.10. bis 09.10.2026.</a:t>
            </a:r>
          </a:p>
          <a:p>
            <a:r>
              <a:t>- CBC: 28 vollständige Antworten, 24.09. bis 09.10.2026. Der Export der Nutzenwerte enthält nur 12 der 28 Personen (die ersten 12 chronologisch); Wahlen, Keine-Wahl-Quote und Segmentzuordnung decken alle 28 ab. Mittlerer RLH 0.81 (Zufall 0.25), mediane Bearbeitungsdauer ca. 6 Minuten.</a:t>
            </a:r>
          </a:p>
          <a:p>
            <a:r>
              <a:t>- Merkmale CBC: Toilette (klassisch, leise mit Geruchsabsaugung, Dusch-WC), Dusche (Standardwanne, bodenebene Dusche mit Rinne, mit Regendusche), Waschtisch (klein, gross, gross mit berührungsloser Armatur), Spiegel und Ablage (klein, gross beleuchtet, gross dimmbar und beschlagfrei).</a:t>
            </a:r>
          </a:p>
          <a:p>
            <a:r>
              <a:t>- Verschiedene Personen in den beiden Befragungen: Vergleich nur auf Gruppenebene.</a:t>
            </a:r>
          </a:p>
          <a:p>
            <a:r>
              <a:t>- Orme-Faustregel n·t·a/c ≥ 500: erst ab 72 Befragten erfüllt, erreicht sind 196 (n = 28) beziehungsweise 84 (n = 12). Für explorative Zwecke nennt Orme (2019) 30 bis 60 Befragte.</a:t>
            </a:r>
          </a:p>
          <a:p>
            <a:r>
              <a:t>- Teamklärung offen: Tool der GG-Befragung, Ausgangspreis der GG-Abfrage, Bildreihenfolge.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[Marilena] (ca. 1:15)</a:t>
            </a:r>
          </a:p>
          <a:p>
            <a:r>
              <a:t>Das ist die Nachfragekurve der Gabor-Granger-Analyse. Sie zeigt, wie viel Prozent der Befragten einen Aufpreis pro Nacht noch akzeptieren. Beim Basis-Bad bricht die Zustimmung schon bei fünf Franken auf 50 Prozent ein. Das Komfort-Bad hält sich etwas länger. Das Premium-Bad bleibt am stabilsten: Bei 15 und bei 20 Franken sagen noch 65 Prozent Ja, erst bei 25 Franken fällt der Wert auf 30 Prozent.</a:t>
            </a:r>
          </a:p>
          <a:p>
            <a:endParaRPr/>
          </a:p>
          <a:p>
            <a:r>
              <a:t>Rechts sehen Sie die mittleren Schwellenpreise, also den höchsten Aufpreis, den eine Person noch akzeptiert: 12.80 Franken beim Basis-Bad, 17.80 beim Komfort-Bad und 21.80 beim Premium-Bad. Der Anstieg über die drei Bäder ist statistisch abgesichert, der Friedman-Test ergibt p kleiner .001.</a:t>
            </a:r>
          </a:p>
          <a:p>
            <a:endParaRPr/>
          </a:p>
          <a:p>
            <a:r>
              <a:t>Wichtig: Der Mittelwert täuscht etwas, denn die Verteilung ist zweigipflig. 30 Prozent zahlen höchstens fünf Franken, 15 Prozent nennen 45 bis 70 Franken. Deshalb liegt der Median beim Basis-Bad nur bei 2.50 Franken.</a:t>
            </a:r>
          </a:p>
          <a:p>
            <a:endParaRPr/>
          </a:p>
          <a:p>
            <a:r>
              <a:t>ZUSATZINFO (nicht sprechen)</a:t>
            </a:r>
          </a:p>
          <a:p>
            <a:r>
              <a:t>- Mittelwerte mit 95-%-Bootstrap-Intervall: Basis 12.8 (5.5 bis 21.0), Komfort 17.8 (9.5 bis 26.8), Premium 21.8 (13.8 bis 30.3). Mediane 2.5 / 10 / 20. Standardabweichungen rund CHF 18 bis 20.</a:t>
            </a:r>
          </a:p>
          <a:p>
            <a:r>
              <a:t>- Zustimmung bei CHF 5 (Basis/Komfort/Premium): 50 / 70 / 75 %; bei CHF 15: 35 / 45 / 65 %; bei CHF 20: 30 / 35 / 65 %.</a:t>
            </a:r>
          </a:p>
          <a:p>
            <a:r>
              <a:t>- Schwellenpreis = höchster akzeptierter Preis, CHF 0 wenn nie akzeptiert. Weil zwischen höchstem Ja und tiefstem Nein höchstens CHF 5 liegen, ist er eine Untergrenze; mit der Intervallmitte steigen die Mittelwerte um rund CHF 2.4.</a:t>
            </a:r>
          </a:p>
          <a:p>
            <a:r>
              <a:t>- Paarvergleiche (Wilcoxon, Holm-korrigiert): Basis-Komfort p = .006, Basis-Premium p = .006, Komfort-Premium p = .059 (nicht signifikant, d_z = 0.52 liegt unter der mit n = 20 entdeckbaren Schwelle von 0.66). 18 von 20 Personen nennen Basis ≤ Komfort ≤ Premium.</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[Marilena] (ca. 1:10)</a:t>
            </a:r>
          </a:p>
          <a:p>
            <a:r>
              <a:t>Aus der Nachfrage berechnen wir die Umsatzkurve, also Preis mal Anteil der Zustimmenden. Beim Premium-Bad liegt das Maximum bei 20 Franken: 65 Prozent stimmen zu, der Umsatzindex beträgt 13. Und dieses Ergebnis ist robust. Wir haben die Berechnung in 5'000 Bootstrap-Stichproben wiederholt. In 72 Prozent davon war 20 Franken wieder optimal, ohne die drei Hochpreis-Personen sogar in 96 Prozent.</a:t>
            </a:r>
          </a:p>
          <a:p>
            <a:endParaRPr/>
          </a:p>
          <a:p>
            <a:r>
              <a:t>Beim Basis- und beim Komfort-Bad ist das anders. Dort hängt das Optimum von genau diesen drei Personen ab, die für alle Bäder 45 bis 70 Franken nennen. Ohne sie liegt es bei 10 bis 20 Franken. Darum sagen wir klar: Einen verlässlichen Optimalpreis können wir nur für das Premium-Bad nennen.</a:t>
            </a:r>
          </a:p>
          <a:p>
            <a:endParaRPr/>
          </a:p>
          <a:p>
            <a:r>
              <a:t>Der Donut zeigt die Gruppen: 30 Prozent Nullzahler, 55 Prozent Mittelfeld und 15 Prozent Hochpreis. Damit übergebe ich an Dominic.</a:t>
            </a:r>
          </a:p>
          <a:p>
            <a:endParaRPr/>
          </a:p>
          <a:p>
            <a:r>
              <a:t>ZUSATZINFO (nicht sprechen)</a:t>
            </a:r>
          </a:p>
          <a:p>
            <a:r>
              <a:t>- Umsatzindex Premium bei CHF 20: 20 × 0.65 = 13.0. Wilson-Intervall der Zustimmung bei CHF 20: 43 bis 82 %.</a:t>
            </a:r>
          </a:p>
          <a:p>
            <a:r>
              <a:t>- Globale Optima mit allen 20: Basis CHF 50 (Index 7.5), Komfort CHF 55 (Index 8.3); ohne Hochpreis-Segment (n = 17): Basis CHF 10 bis 20, Komfort CHF 10, Premium CHF 20. Bootstrap: Basis CHF 50 in 60 % der Ziehungen, Komfort CHF 55 in 36 % (Rest verteilt über CHF 10 bis 30 und 60).</a:t>
            </a:r>
          </a:p>
          <a:p>
            <a:r>
              <a:t>- Segmente (ex post nach Schwellenpreisen, keine Clusteranalyse): Nullzahler 6 (höchstens CHF 5 bei allen Bädern), Mittelfeld 11 (Ø 9.5 / 16.4 / 24.5), Hochpreis 3 (Ø 50 / 58 / 53, kaum Unterschied zwischen den Bädern, Ankereffekt nicht auszuschliessen, Herriges &amp; Shogren, 1996).</a:t>
            </a:r>
          </a:p>
          <a:p>
            <a:r>
              <a:t>- Der Umsatzindex ist hypothetisch (CHF je Gast und Nacht).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[Dominic] (ca. 1:20)</a:t>
            </a:r>
          </a:p>
          <a:p>
            <a:r>
              <a:t>Danke, Marilena. Nun die Conjoint-Analyse. Links die relative Wichtigkeit der Merkmale. Der Preis erklärt mit 71 Prozent den grössten Teil der Wahlentscheidungen. Das ist teilweise ein Designeffekt, weil die Preisspanne von null bis 45 Franken im Vergleich zu den Ausstattungsunterschieden gross ist. Aussagekräftiger ist die Rangfolge der Ausstattung: Die Dusche liegt mit 10 Prozent vorn, gefolgt von Waschtisch und Spiegel. Die Toilette ist am wenigsten wichtig.</a:t>
            </a:r>
          </a:p>
          <a:p>
            <a:endParaRPr/>
          </a:p>
          <a:p>
            <a:r>
              <a:t>Rechts die Zahlungsbereitschaft je Ausstattungsstufe. Am meisten wert ist die bodenebene Dusche mit Regendusche: im Mittel rund 11 Franken pro Nacht. Danach folgen die bodenebene Dusche mit Rinne, der beleuchtete Spiegel und die berührungslose Armatur. Diese vier Stufen bewerten alle 12 Personen höher als die Basisstufe. Das Dusch-WC dagegen liegt nur bei 1.60 Franken, und nur 5 von 12 Personen bewerten es höher als ein klassisches WC.</a:t>
            </a:r>
          </a:p>
          <a:p>
            <a:endParaRPr/>
          </a:p>
          <a:p>
            <a:r>
              <a:t>Wichtig: Diese Nutzenwerte liegen nur für 12 der 28 Personen vor.</a:t>
            </a:r>
          </a:p>
          <a:p>
            <a:endParaRPr/>
          </a:p>
          <a:p>
            <a:r>
              <a:t>ZUSATZINFO (nicht sprechen)</a:t>
            </a:r>
          </a:p>
          <a:p>
            <a:r>
              <a:t>- Wichtigkeiten: Preis 71.4 % (Intervall 69.0 bis 74.3), Dusche 10.3, Waschtisch 7.3, Spiegel und Ablage 6.5, Toilette 4.6. Die vier Ausstattungsmerkmale zusammen: 28.6 %.</a:t>
            </a:r>
          </a:p>
          <a:p>
            <a:r>
              <a:t>- Zahlungsbereitschaft in CHF pro Nacht (Mittelwert, 95-%-Bootstrap-Intervall): Regendusche 10.9 (8.2 bis 13.6), bodenebene Dusche 8.5 (5.7 bis 11.3), beleuchteter Spiegel 6.3 (3.1 bis 10.0), berührungslose Armatur 6.0 (4.0 bis 8.0), grosser Waschtisch 4.4 (1.2 bis 8.0), Spiegel dimmbar 3.5 (−0.2 bis 7.8), Dusch-WC 1.6 (−1.9 bis 5.8), leises WC 1.0 (−2.2 bis 4.7).</a:t>
            </a:r>
          </a:p>
          <a:p>
            <a:r>
              <a:t>- Berechnung: Aufpreis, bei dem der Nutzenverlust durch den Preis den Nutzengewinn der Stufe ausgleicht; Preisnutzen zwischen CHF 0, 15 und 45 linear interpoliert, daher eine Näherung. Preisspanne und Stufenzahl beeinflussen die Preiswichtigkeit (Breidert et al., 2006; Verlegh et al., 2002).</a:t>
            </a:r>
          </a:p>
          <a:p>
            <a:r>
              <a:t>- Dusch-WC: Das Premium-Bad der GG enthält ein Dusch-WC und hat die höchste Zahlungsbereitschaft. Weil sich die Bilder in mehreren Merkmalen unterscheiden, ist das nicht dem Dusch-WC zuzuschreiben.</a:t>
            </a:r>
          </a:p>
          <a:p>
            <a:r>
              <a:t>- Nutzenwerte: Zero-Centered Diffs (Summe der Spannweiten = 500). Mittlerer RLH 0.81.</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[Dominic] (ca. 1:00)</a:t>
            </a:r>
          </a:p>
          <a:p>
            <a:r>
              <a:t>Mit den Nutzenwerten haben wir drei Konfigurationen simuliert, Basis, Komfort und Premium, und gefragt, was die Befragten bei verschiedenen Preisen wählen würden. Wenn alle drei kostenlos sind, wählen 58 Prozent das Premium-Bad und 33 Prozent das Komfort-Bad. Bei einem gleichen Aufpreis von 15 Franken bleibt das Premium-Bad bei 58 Prozent.</a:t>
            </a:r>
          </a:p>
          <a:p>
            <a:endParaRPr/>
          </a:p>
          <a:p>
            <a:r>
              <a:t>Sobald das Premium-Bad aber 45 Franken kostet, wählt es niemand mehr. Die Hälfte nimmt dann das kostenlose Basis-Bad. Und wenn nur das Premium-Bad 15 Franken kostet, gehen 83 Prozent zum kostenlosen Komfort-Bad.</a:t>
            </a:r>
          </a:p>
          <a:p>
            <a:endParaRPr/>
          </a:p>
          <a:p>
            <a:r>
              <a:t>Die Botschaft: Gäste zahlen für Qualität, aber nur, solange der Abstand klein bleibt und der Mehrwert sichtbar ist. Die Simulation beruht auf nur 12 Personen und ist ein Szenarienwerkzeug, keine Marktanteilsprognose.</a:t>
            </a:r>
          </a:p>
          <a:p>
            <a:endParaRPr/>
          </a:p>
          <a:p>
            <a:r>
              <a:t>ZUSATZINFO (nicht sprechen)</a:t>
            </a:r>
          </a:p>
          <a:p>
            <a:r>
              <a:t>- Szenarien (Preise Basis / Komfort / Premium): S1 0/0/0: Basis 0 %, Komfort 33, Premium 58, Keine 8. S2 15/15/15: 0 / 25 / 58 / 17. S3 0/15/15: 33 / 25 / 25 / 17. S4 0/15/45: 50 / 33 / 0 / 17. S5 0/0/15: 0 / 83 / 8 / 8.</a:t>
            </a:r>
          </a:p>
          <a:p>
            <a:r>
              <a:t>- Regel: First Choice über die individuellen Nutzenwerte (Share of Preference). Bootstrap-Intervalle sind sehr breit, z. B. Premium in S1: 58 % (33 bis 83).</a:t>
            </a:r>
          </a:p>
          <a:p>
            <a:r>
              <a:t>- Keine Wettbewerber, keine Verfügbarkeit, keine Gewichtung. Keine-Wahl-Quote insgesamt 10.7 % (21 von 196 Entscheidungen).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[Dominic] (ca. 0:50)</a:t>
            </a:r>
          </a:p>
          <a:p>
            <a:r>
              <a:t>Jetzt bringen wir beide Verfahren zusammen. Die Rangfolge ist identisch, und die Mittelwerte liegen nah beieinander, obwohl die Befragten und die Darstellung verschieden waren: Beim Komfort-Bad 17.80 gegen 17.00 Franken, beim Premium-Bad 21.80 gegen 18.80. Statistisch finden wir keinen Unterschied in der Lage. Das ist aber kein Beweis für Gleichheit, dafür sind die Stichproben zu klein. Einen Unterschied gibt es in der Streuung: Die Gabor-Granger-Werte streuen mit 18 bis 20 Franken stark, die CBC-Werte nur mit 5 bis 8.</a:t>
            </a:r>
          </a:p>
          <a:p>
            <a:endParaRPr/>
          </a:p>
          <a:p>
            <a:r>
              <a:t>Zusammen stützen die beiden Verfahren die Aussage, dass der akzeptierte Aufpreis für ein hochwertiges Bad bei etwa 15 bis 20 Franken pro Nacht liegt. Befragungen überschätzen im Mittel um rund 21 Prozent. Wir rechnen deshalb vorsichtig mit 16 bis 17 Franken.</a:t>
            </a:r>
          </a:p>
          <a:p>
            <a:endParaRPr/>
          </a:p>
          <a:p>
            <a:r>
              <a:t>ZUSATZINFO (nicht sprechen)</a:t>
            </a:r>
          </a:p>
          <a:p>
            <a:r>
              <a:t>- CBC-Preisschwelle gegenüber «Keine»: Basis 7.7 / Komfort 17.0 / Premium 18.8 CHF (Intervalle 4.9 bis 10.2 / 12.9 bis 20.3 / 14.1 bis 22.6). Differenz CBC minus GG: −5.1 / −0.8 / −3.0.</a:t>
            </a:r>
          </a:p>
          <a:p>
            <a:r>
              <a:t>- Mann-Whitney p = .82 / .38 / .61; Cliff δ = .05 / .19 / .11. Bootstrap-Intervalle der Differenz von ca. −14 bis +8 CHF.</a:t>
            </a:r>
          </a:p>
          <a:p>
            <a:r>
              <a:t>- Brown-Forsythe-Test auf gleiche Streuung: p = .069 / .047 / .030, also nur ein schwacher Hinweis.</a:t>
            </a:r>
          </a:p>
          <a:p>
            <a:r>
              <a:t>- Hypothetischer Bias ca. 21 % (Schmidt &amp; Bijmolt, 2020): CHF 20 / 1.21 ≈ CHF 16.5. In anreizkompatiblen Settings reagieren Befragte preissensitiver (Miller et al., 2011).</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[Dominic] (ca. 1:15)</a:t>
            </a:r>
          </a:p>
          <a:p>
            <a:r>
              <a:t>Daraus leiten wir vier Empfehlungen für Geberit ab.</a:t>
            </a:r>
          </a:p>
          <a:p>
            <a:endParaRPr/>
          </a:p>
          <a:p>
            <a:r>
              <a:t>Erstens: Geberit sollte Hoteliers einen Aufpreis von 15 bis 20 Franken pro Nacht als Argumentationsrahmen zeigen. Das sind 10 bis 13 Prozent eines Zimmerpreises von 150 Franken. Über 25 Franken bricht die Nachfrage ein.</a:t>
            </a:r>
          </a:p>
          <a:p>
            <a:endParaRPr/>
          </a:p>
          <a:p>
            <a:r>
              <a:t>Zweitens: Der Duschbereich ist der wichtigste Werthebel. Die bodenebene Dusche mit Regendusche gehört in den Mittelpunkt von Hotelprojekten und Verkaufsunterlagen.</a:t>
            </a:r>
          </a:p>
          <a:p>
            <a:endParaRPr/>
          </a:p>
          <a:p>
            <a:r>
              <a:t>Drittens: Das Komfort-Paket sollte die Standardempfehlung sein und Premium-Elemente eine Option, denn der zusätzliche Nutzen des Premium-Bads ist klein. Das Dusch-WC sollte nicht das Hauptargument sein, sondern ein Zusatzmodul, vor allem für Wellness-Hotels, und es sollte separat getestet werden.</a:t>
            </a:r>
          </a:p>
          <a:p>
            <a:endParaRPr/>
          </a:p>
          <a:p>
            <a:r>
              <a:t>Viertens: Die Befunde vor einer Markteinführung absichern, mit einem Pilotversuch in einem Hotel und einer Folgestudie mit mindestens 72 Befragten und feineren Preisstufen.</a:t>
            </a:r>
          </a:p>
          <a:p>
            <a:endParaRPr/>
          </a:p>
          <a:p>
            <a:r>
              <a:t>Wichtig: Das sind Hypothesen, keine gesicherte Prognose.</a:t>
            </a:r>
          </a:p>
          <a:p>
            <a:endParaRPr/>
          </a:p>
          <a:p>
            <a:r>
              <a:t>ZUSATZINFO (nicht sprechen)</a:t>
            </a:r>
          </a:p>
          <a:p>
            <a:r>
              <a:t>- Begründung Empfehlung 3: Sprung Basis zu Komfort gross, Komfort zu Premium klein (ca. 15 Nutzenpunkte, ca. CHF 2). Die Zahlungsbereitschaft steigt pro Stufe um rund CHF 5.</a:t>
            </a:r>
          </a:p>
          <a:p>
            <a:r>
              <a:t>- Zielgruppen explorativ: Wellness-/Erholungsreisende (Ø CHF 21.7, n = 7) und 25- bis 54-Jährige zeigen die höchste, Städtereisende und 55- bis 64-Jährige die niedrigste Zahlungsbereitschaft; nicht signifikant (Wellness gegen Aktivurlaub, Mann-Whitney p = .38). 30 bis 55 % zahlen höchstens CHF 5: für preissensitive Hotels mit Wertbeitrag statt mit Aufpreis argumentieren.</a:t>
            </a:r>
          </a:p>
          <a:p>
            <a:r>
              <a:t>- Nicht untersucht: Investitionskosten, Auslastung und Amortisation für Hoteliers (Business Case als nächster Schritt).</a:t>
            </a:r>
          </a:p>
          <a:p>
            <a:r>
              <a:t>- Folgestudie: mindestens 72 Befragte (Faustregel Orme), Preisstufen zwischen CHF 15 und 45, Dusch-WC einzeln testen, Relevanzfragen (FF6) ergänzen, möglichst anreizkompatibler oder realer Test.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[Dominic] (ca. 0:50)</a:t>
            </a:r>
          </a:p>
          <a:p>
            <a:r>
              <a:t>Zum Schluss das Fazit. Hotelgäste in unserer Stichprobe akzeptieren für ein hochwertiges Bad etwa 15 bis 20 Franken Aufpreis pro Nacht. Die Dusche ist der grösste Werthebel, das Dusch-WC bringt im Mittel keinen Mehrwert, und die beiden Verfahren stützen sich gegenseitig.</a:t>
            </a:r>
          </a:p>
          <a:p>
            <a:endParaRPr/>
          </a:p>
          <a:p>
            <a:r>
              <a:t>Zu den Grenzen: Die Stichprobe ist klein und nicht repräsentativ, 20 Personen in der Gabor-Granger-Analyse und 28 in der CBC, davon nur 12 mit Nutzenwerten. Die Abfrage ist hypothetisch und überschätzt im Mittel um rund 21 Prozent. Die Verfahren wurden mit verschiedenen Personen durchgeführt. Und die Optima von Basis- und Komfort-Bad hängen an drei Personen.</a:t>
            </a:r>
          </a:p>
          <a:p>
            <a:endParaRPr/>
          </a:p>
          <a:p>
            <a:r>
              <a:t>Eine Folgestudie mit mehr Befragten, feineren Preisstufen und einem Hotelpilot würde diese Lücken schliessen. Vielen Dank für Ihre Aufmerksamkeit. Wir beantworten gerne Ihre Fragen.</a:t>
            </a:r>
          </a:p>
          <a:p>
            <a:endParaRPr/>
          </a:p>
          <a:p>
            <a:r>
              <a:t>ZUSATZINFO (nicht sprechen)</a:t>
            </a:r>
          </a:p>
          <a:p>
            <a:r>
              <a:t>- Weitere Grenzen: Preisnutzen zwischen CHF 15 und 45 nur interpoliert; CBC-Konfigurationen sind Näherungen der GG-Bilder; Bilder unterscheiden sich in mehreren Merkmalen gleichzeitig; Ausgangspreis der GG-Abfrage im Export nicht ersichtlich; FF6 nicht beantwortbar.</a:t>
            </a:r>
          </a:p>
          <a:p>
            <a:r>
              <a:t>- Für das Q&amp;A: Dokument «Kritische Fragen und Antworten zur Verteidigung (Gruppe 2)».</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[Beide] (Q&amp;A, 10 Minuten)</a:t>
            </a:r>
          </a:p>
          <a:p>
            <a:r>
              <a:t>Vielen Dank. Wir freuen uns auf Ihre Fragen.</a:t>
            </a:r>
          </a:p>
          <a:p>
            <a:endParaRPr/>
          </a:p>
          <a:p>
            <a:r>
              <a:t>ZUSATZINFO (nicht sprechen)</a:t>
            </a:r>
          </a:p>
          <a:p>
            <a:r>
              <a:t>- Anhang ab der nächsten Folie: A1 Kennzahlen GG, A2 Statistische Absicherung, A3 Teilnutzenwerte, A4 Segmente, A5 Szenarien der Marktsimulation, A6 Design der CBC, A7 Quellen.</a:t>
            </a:r>
          </a:p>
          <a:p>
            <a:r>
              <a:t>- Bei Fragen zu Stichprobe, Bias oder Dusch-WC siehe das Q&amp;A-Dokument.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Anhang (nicht präsentieren, nur bei Rückfragen aufrufen).</a:t>
            </a:r>
          </a:p>
          <a:p>
            <a:endParaRPr/>
          </a:p>
          <a:p>
            <a:r>
              <a:t>ZUSATZINFO</a:t>
            </a:r>
          </a:p>
          <a:p>
            <a:r>
              <a:t>- A1 Kennzahlen GG, A2 Statistische Absicherung, A3 Teilnutzenwerte, A4 Segmente, A5 Szenarien der Marktsimulation, A6 Design der CBC, A7 Quellen.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Anhang A1 (nur bei Rückfragen).</a:t>
            </a:r>
          </a:p>
          <a:p>
            <a:r>
              <a:t>Schwellenpreis = höchster akzeptierter Preis (CHF 0, wenn nie akzeptiert). Bootstrap-Intervalle mit 5'000 Ziehungen. Der Umsatzindex ist Preis mal Zustimmungsanteil, hypothetisch in CHF je Gast und Nacht. Ohne das Hochpreis-Segment (3 Personen) bleibt das Premium-Optimum bei CHF 20, die Optima von Basis und Komfort verschieben sich auf CHF 10 bis 20 beziehungsweise CHF 10. Höchstens CHF 5 zahlen 55 % (Basis), 35 % (Komfort) beziehungsweise 30 % (Premium).</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Anhang A2 (nur bei Rückfragen).</a:t>
            </a:r>
          </a:p>
          <a:p>
            <a:r>
              <a:t>Wilson-Intervalle sind bei kleinen Stichproben zuverlässiger als die Normalapproximation (Brown et al., 2001). Bei n = 20 beträgt die halbe Intervallbreite bei 50 % rund 20 Prozentpunkte; für ±10 Prozentpunkte wären ca. 97 Personen nötig.</a:t>
            </a:r>
          </a:p>
          <a:p>
            <a:r>
              <a:t>Paarvergleiche: Basis-Komfort mittlere Differenz CHF 5.0 (2.8 bis 7.3), Basis-Premium CHF 9.0 (5.0 bis 13.3), Komfort-Premium CHF 4.0 (0.5 bis 7.0). Kendalls W = .39. Spearman-Korrelationen zwischen den Bädern ρ = .87 bis .96: Zahlungsbereitschaft ist vor allem ein Personenmerkmal.</a:t>
            </a:r>
          </a:p>
          <a:p>
            <a:r>
              <a:t>Robustheit: 20-%-getrimmte Mittelwerte 6.7 / 12.5 / 19.2; Mittelwerte bei Intervallmitte 15.1 / 20.1 / 24.1.</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Anhang A3 (nur bei Rückfragen).</a:t>
            </a:r>
          </a:p>
          <a:p>
            <a:r>
              <a:t>Teilnutzenwerte als Zero-Centered Diffs (Summe der Spannweiten je Person = 500), Mittelwerte über 12 Personen. Der Preis dominiert die Spannweiten: Preisnutzen CHF 0 ca. +146, CHF 15 ca. +66, CHF 45 ca. −212. Bei der Dusche steigen die Nutzenwerte mit jeder Stufe, beim Waschtisch ebenfalls; beim Spiegel ist die mittlere Stufe (beleuchtet) am höchsten; die Toilette ist nahezu indifferent. Mittlerer RLH 0.81, Zufallswert 0.25.</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Anhang A4 (nur bei Rückfragen).</a:t>
            </a:r>
          </a:p>
          <a:p>
            <a:r>
              <a:t>GG-Segmente: Nullzahler 6 Personen (Ø 0 / 0 / 0.8), Mittelfeld 11 (Ø 9.5 / 16.4 / 24.5), Hochpreis 3 (Ø 50 / 58 / 53). CBC-Segmente (Dreier-Lösung der Software, 28 Personen): Segment 1 n = 10, Segment 2 n = 2, Segment 3 n = 16; mit Nutzenwerten 3 / 2 / 7. Segment 2 wählt in 79 % der Aufgaben «Keine» und lehnt das Angebot praktisch ab. Segment 3 reagiert am stärksten auf den Preis. Segmente sind beschreibend, nicht belastbar.</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Anhang A5 (nur bei Rückfragen).</a:t>
            </a:r>
          </a:p>
          <a:p>
            <a:r>
              <a:t>First-Choice-Simulation über die 12 individuellen Nutzenwerte. Preise in der Reihenfolge Basis, Komfort, Premium. Konfigurationen: Basis = jeweils Stufe 1 aller Merkmale, Komfort = Stufe 2, Premium = Stufe 3. Die Intervalle sind 95-%-Bootstrap-Intervalle (3'000 Ziehungen über Personen) und wegen n = 12 sehr breit.</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Anhang A6 (nur bei Rückfragen).</a:t>
            </a:r>
          </a:p>
          <a:p>
            <a:r>
              <a:t>Fünf Merkmale mit je drei Stufen. Preisstufen CHF 0, 15 und 45 sind ungleich verteilt; zwischen CHF 15 und 45 wurde nichts getestet (Interpolation). Einzelne Stufen bündeln mehrere Eigenschaften (zum Beispiel Grösse und berührungslose Armatur). Referenzzimmerpreis CHF 150. Attribute und Preisstufen weichen von der eingereichten Projektskizze ab; Begründung bei Bedarf ergänzen (Teamklärung).</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Anhang A7 (nur bei Rückfragen).</a:t>
            </a:r>
          </a:p>
          <a:p>
            <a:r>
              <a:t>Auswahl der wichtigsten Quellen; das vollständige Literaturverzeichnis (APA 7) steht im Bericht.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emf"/><Relationship Id="rId7"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emf"/></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11.emf"/><Relationship Id="rId3" Type="http://schemas.openxmlformats.org/officeDocument/2006/relationships/image" Target="../media/image4.emf"/><Relationship Id="rId7" Type="http://schemas.openxmlformats.org/officeDocument/2006/relationships/image" Target="../media/image8.sv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10.emf"/><Relationship Id="rId9" Type="http://schemas.openxmlformats.org/officeDocument/2006/relationships/image" Target="../media/image12.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3.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2_Titelfolie Illustration_blau Verlauf">
    <p:bg>
      <p:bgPr>
        <a:gradFill flip="none" rotWithShape="1">
          <a:gsLst>
            <a:gs pos="0">
              <a:srgbClr val="002B58"/>
            </a:gs>
            <a:gs pos="100000">
              <a:srgbClr val="0064A6"/>
            </a:gs>
          </a:gsLst>
          <a:lin ang="0" scaled="0"/>
          <a:tileRect/>
        </a:gradFill>
        <a:effectLst/>
      </p:bgPr>
    </p:bg>
    <p:spTree>
      <p:nvGrpSpPr>
        <p:cNvPr id="1" name=""/>
        <p:cNvGrpSpPr/>
        <p:nvPr/>
      </p:nvGrpSpPr>
      <p:grpSpPr>
        <a:xfrm>
          <a:off x="0" y="0"/>
          <a:ext cx="0" cy="0"/>
          <a:chOff x="0" y="0"/>
          <a:chExt cx="0" cy="0"/>
        </a:xfrm>
      </p:grpSpPr>
      <p:sp>
        <p:nvSpPr>
          <p:cNvPr id="5" name="Bildplatzhalter 3">
            <a:extLst>
              <a:ext uri="{FF2B5EF4-FFF2-40B4-BE49-F238E27FC236}">
                <a16:creationId xmlns:a16="http://schemas.microsoft.com/office/drawing/2014/main" id="{58432A1D-CAF7-0291-3224-39F714136A8B}"/>
              </a:ext>
            </a:extLst>
          </p:cNvPr>
          <p:cNvSpPr>
            <a:spLocks noGrp="1"/>
          </p:cNvSpPr>
          <p:nvPr>
            <p:ph type="pic" sz="quarter" idx="12" hasCustomPrompt="1"/>
          </p:nvPr>
        </p:nvSpPr>
        <p:spPr>
          <a:xfrm>
            <a:off x="997979" y="1938030"/>
            <a:ext cx="7561734" cy="2106234"/>
          </a:xfrm>
          <a:prstGeom prst="rect">
            <a:avLst/>
          </a:prstGeom>
        </p:spPr>
        <p:txBody>
          <a:bodyPr/>
          <a:lstStyle>
            <a:lvl1pPr marL="0" indent="0">
              <a:buNone/>
              <a:defRPr>
                <a:solidFill>
                  <a:schemeClr val="bg1"/>
                </a:solidFill>
              </a:defRPr>
            </a:lvl1pPr>
          </a:lstStyle>
          <a:p>
            <a:r>
              <a:rPr lang="de-CH" dirty="0"/>
              <a:t>Illustration/Bild</a:t>
            </a:r>
          </a:p>
        </p:txBody>
      </p:sp>
      <p:sp>
        <p:nvSpPr>
          <p:cNvPr id="2" name="Rechteck 1">
            <a:extLst>
              <a:ext uri="{FF2B5EF4-FFF2-40B4-BE49-F238E27FC236}">
                <a16:creationId xmlns:a16="http://schemas.microsoft.com/office/drawing/2014/main" id="{A8C9C23A-4C38-3C05-BD01-A5FAE984031A}"/>
              </a:ext>
            </a:extLst>
          </p:cNvPr>
          <p:cNvSpPr>
            <a:spLocks noGrp="1" noRot="1" noMove="1" noResize="1" noEditPoints="1" noAdjustHandles="1" noChangeArrowheads="1" noChangeShapeType="1"/>
          </p:cNvSpPr>
          <p:nvPr userDrawn="1"/>
        </p:nvSpPr>
        <p:spPr bwMode="white">
          <a:xfrm>
            <a:off x="0" y="4516438"/>
            <a:ext cx="9144000" cy="627062"/>
          </a:xfrm>
          <a:prstGeom prst="rect">
            <a:avLst/>
          </a:prstGeom>
          <a:solidFill>
            <a:schemeClr val="bg1"/>
          </a:solidFill>
          <a:ln w="12700">
            <a:noFill/>
            <a:miter lim="800000"/>
            <a:headEnd/>
            <a:tailEnd/>
          </a:ln>
        </p:spPr>
        <p:txBody>
          <a:bodyPr wrap="square" lIns="36000" tIns="36000" rIns="36000" bIns="36000" rtlCol="0" anchor="ctr" anchorCtr="1"/>
          <a:lstStyle/>
          <a:p>
            <a:pPr algn="l"/>
            <a:endParaRPr lang="de-CH" b="1" dirty="0">
              <a:solidFill>
                <a:schemeClr val="bg1"/>
              </a:solidFill>
              <a:ea typeface="ＭＳ Ｐゴシック" pitchFamily="50" charset="-128"/>
            </a:endParaRPr>
          </a:p>
        </p:txBody>
      </p:sp>
      <p:pic>
        <p:nvPicPr>
          <p:cNvPr id="3" name="Grafik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black">
          <a:xfrm>
            <a:off x="2354901" y="2104242"/>
            <a:ext cx="4434198" cy="1907668"/>
          </a:xfrm>
          <a:prstGeom prst="rect">
            <a:avLst/>
          </a:prstGeom>
        </p:spPr>
      </p:pic>
      <p:pic>
        <p:nvPicPr>
          <p:cNvPr id="4" name="Grafik 3">
            <a:extLst>
              <a:ext uri="{FF2B5EF4-FFF2-40B4-BE49-F238E27FC236}">
                <a16:creationId xmlns:a16="http://schemas.microsoft.com/office/drawing/2014/main" id="{6691630D-F24F-7D4F-C384-E76E86C6149C}"/>
              </a:ext>
            </a:extLst>
          </p:cNvPr>
          <p:cNvPicPr>
            <a:picLocks noGrp="1" noRot="1" noChangeAspect="1" noMove="1" noResize="1" noEditPoints="1" noAdjustHandles="1" noChangeArrowheads="1" noChangeShapeType="1" noCrop="1"/>
          </p:cNvPicPr>
          <p:nvPr userDrawn="1"/>
        </p:nvPicPr>
        <p:blipFill>
          <a:blip r:embed="rId3"/>
          <a:srcRect/>
          <a:stretch/>
        </p:blipFill>
        <p:spPr bwMode="black">
          <a:xfrm>
            <a:off x="177647" y="180347"/>
            <a:ext cx="642685" cy="672440"/>
          </a:xfrm>
          <a:prstGeom prst="rect">
            <a:avLst/>
          </a:prstGeom>
        </p:spPr>
      </p:pic>
      <p:cxnSp>
        <p:nvCxnSpPr>
          <p:cNvPr id="15" name="Gerader Verbinder 14">
            <a:extLst>
              <a:ext uri="{FF2B5EF4-FFF2-40B4-BE49-F238E27FC236}">
                <a16:creationId xmlns:a16="http://schemas.microsoft.com/office/drawing/2014/main" id="{5E2474AE-90C0-4751-0444-7FCF27298C03}"/>
              </a:ext>
            </a:extLst>
          </p:cNvPr>
          <p:cNvCxnSpPr>
            <a:cxnSpLocks noGrp="1" noRot="1" noMove="1" noResize="1" noEditPoints="1" noAdjustHandles="1" noChangeArrowheads="1" noChangeShapeType="1"/>
          </p:cNvCxnSpPr>
          <p:nvPr userDrawn="1"/>
        </p:nvCxnSpPr>
        <p:spPr>
          <a:xfrm>
            <a:off x="4572000" y="4642733"/>
            <a:ext cx="0" cy="449297"/>
          </a:xfrm>
          <a:prstGeom prst="line">
            <a:avLst/>
          </a:prstGeom>
          <a:ln w="12700"/>
        </p:spPr>
        <p:style>
          <a:lnRef idx="1">
            <a:schemeClr val="dk1"/>
          </a:lnRef>
          <a:fillRef idx="0">
            <a:schemeClr val="dk1"/>
          </a:fillRef>
          <a:effectRef idx="0">
            <a:schemeClr val="dk1"/>
          </a:effectRef>
          <a:fontRef idx="minor">
            <a:schemeClr val="tx1"/>
          </a:fontRef>
        </p:style>
      </p:cxnSp>
      <p:sp>
        <p:nvSpPr>
          <p:cNvPr id="7" name="Titelplatzhalter 1">
            <a:extLst>
              <a:ext uri="{FF2B5EF4-FFF2-40B4-BE49-F238E27FC236}">
                <a16:creationId xmlns:a16="http://schemas.microsoft.com/office/drawing/2014/main" id="{8AB7FDEB-1A26-A76C-D951-F09D3C287FFD}"/>
              </a:ext>
            </a:extLst>
          </p:cNvPr>
          <p:cNvSpPr>
            <a:spLocks noGrp="1"/>
          </p:cNvSpPr>
          <p:nvPr>
            <p:ph type="title" hasCustomPrompt="1"/>
          </p:nvPr>
        </p:nvSpPr>
        <p:spPr bwMode="black">
          <a:xfrm>
            <a:off x="997979" y="842963"/>
            <a:ext cx="7840540" cy="713343"/>
          </a:xfrm>
          <a:prstGeom prst="rect">
            <a:avLst/>
          </a:prstGeom>
          <a:noFill/>
          <a:ln>
            <a:noFill/>
          </a:ln>
        </p:spPr>
        <p:txBody>
          <a:bodyPr vert="horz" lIns="0" tIns="0" rIns="0" bIns="0" rtlCol="0" anchor="t" anchorCtr="0">
            <a:noAutofit/>
          </a:bodyPr>
          <a:lstStyle>
            <a:lvl1pPr>
              <a:defRPr sz="2200">
                <a:solidFill>
                  <a:schemeClr val="bg1"/>
                </a:solidFill>
              </a:defRPr>
            </a:lvl1pPr>
          </a:lstStyle>
          <a:p>
            <a:r>
              <a:rPr lang="de-DE" dirty="0"/>
              <a:t>Titel, Arial </a:t>
            </a:r>
            <a:r>
              <a:rPr lang="de-DE" dirty="0" err="1"/>
              <a:t>bold</a:t>
            </a:r>
            <a:r>
              <a:rPr lang="de-DE" dirty="0"/>
              <a:t>, 22pt</a:t>
            </a:r>
            <a:br>
              <a:rPr lang="de-DE" dirty="0"/>
            </a:br>
            <a:r>
              <a:rPr lang="de-DE" dirty="0"/>
              <a:t>2. Zeile Titel, Arial </a:t>
            </a:r>
            <a:r>
              <a:rPr lang="de-DE" dirty="0" err="1"/>
              <a:t>bold</a:t>
            </a:r>
            <a:r>
              <a:rPr lang="de-DE" dirty="0"/>
              <a:t> 22 </a:t>
            </a:r>
            <a:r>
              <a:rPr lang="de-DE" dirty="0" err="1"/>
              <a:t>pt</a:t>
            </a:r>
            <a:endParaRPr lang="fr-FR" dirty="0"/>
          </a:p>
        </p:txBody>
      </p:sp>
      <p:sp>
        <p:nvSpPr>
          <p:cNvPr id="18" name="Textplatzhalter 7">
            <a:extLst>
              <a:ext uri="{FF2B5EF4-FFF2-40B4-BE49-F238E27FC236}">
                <a16:creationId xmlns:a16="http://schemas.microsoft.com/office/drawing/2014/main" id="{10A543AE-2C2C-FF13-00D2-C3467FFE2D0F}"/>
              </a:ext>
            </a:extLst>
          </p:cNvPr>
          <p:cNvSpPr>
            <a:spLocks noGrp="1"/>
          </p:cNvSpPr>
          <p:nvPr>
            <p:ph type="body" sz="quarter" idx="11" hasCustomPrompt="1"/>
          </p:nvPr>
        </p:nvSpPr>
        <p:spPr>
          <a:xfrm flipH="1">
            <a:off x="180264" y="4672150"/>
            <a:ext cx="4247719" cy="254000"/>
          </a:xfrm>
          <a:prstGeom prst="rect">
            <a:avLst/>
          </a:prstGeom>
          <a:ln>
            <a:noFill/>
          </a:ln>
        </p:spPr>
        <p:txBody>
          <a:bodyPr/>
          <a:lstStyle>
            <a:lvl1pPr marL="0" marR="0" indent="0" algn="l" defTabSz="778993" rtl="0" eaLnBrk="1" fontAlgn="auto" latinLnBrk="0" hangingPunct="1">
              <a:lnSpc>
                <a:spcPct val="100000"/>
              </a:lnSpc>
              <a:spcBef>
                <a:spcPts val="682"/>
              </a:spcBef>
              <a:spcAft>
                <a:spcPts val="0"/>
              </a:spcAft>
              <a:buClrTx/>
              <a:buSzTx/>
              <a:buFontTx/>
              <a:buNone/>
              <a:tabLst/>
              <a:defRPr sz="1000" b="1" baseline="0">
                <a:solidFill>
                  <a:srgbClr val="012C59"/>
                </a:solidFill>
              </a:defRPr>
            </a:lvl1pPr>
            <a:lvl2pPr marL="155528" indent="0">
              <a:buFontTx/>
              <a:buNone/>
              <a:defRPr sz="1300"/>
            </a:lvl2pPr>
            <a:lvl3pPr marL="304294" indent="0">
              <a:buFontTx/>
              <a:buNone/>
              <a:defRPr sz="1300"/>
            </a:lvl3pPr>
            <a:lvl4pPr>
              <a:buFontTx/>
              <a:buNone/>
              <a:defRPr sz="1300"/>
            </a:lvl4pPr>
            <a:lvl5pPr>
              <a:buFontTx/>
              <a:buNone/>
              <a:defRPr sz="1300"/>
            </a:lvl5pPr>
          </a:lstStyle>
          <a:p>
            <a:r>
              <a:rPr lang="de-CH" dirty="0"/>
              <a:t>Titel Vorname Name (Arial </a:t>
            </a:r>
            <a:r>
              <a:rPr lang="de-CH" dirty="0" err="1"/>
              <a:t>bold</a:t>
            </a:r>
            <a:r>
              <a:rPr lang="de-CH" dirty="0"/>
              <a:t>, 10 </a:t>
            </a:r>
            <a:r>
              <a:rPr lang="de-CH" dirty="0" err="1"/>
              <a:t>pt</a:t>
            </a:r>
            <a:r>
              <a:rPr lang="de-CH" dirty="0"/>
              <a:t>)</a:t>
            </a:r>
          </a:p>
        </p:txBody>
      </p:sp>
      <p:sp>
        <p:nvSpPr>
          <p:cNvPr id="19" name="Textplatzhalter 7">
            <a:extLst>
              <a:ext uri="{FF2B5EF4-FFF2-40B4-BE49-F238E27FC236}">
                <a16:creationId xmlns:a16="http://schemas.microsoft.com/office/drawing/2014/main" id="{370F0739-A4F5-D93D-3F6D-0279B95ADF87}"/>
              </a:ext>
            </a:extLst>
          </p:cNvPr>
          <p:cNvSpPr>
            <a:spLocks noGrp="1"/>
          </p:cNvSpPr>
          <p:nvPr>
            <p:ph type="body" sz="quarter" idx="14" hasCustomPrompt="1"/>
          </p:nvPr>
        </p:nvSpPr>
        <p:spPr>
          <a:xfrm flipH="1">
            <a:off x="179512" y="4882966"/>
            <a:ext cx="4247714" cy="154126"/>
          </a:xfrm>
          <a:prstGeom prst="rect">
            <a:avLst/>
          </a:prstGeom>
          <a:ln>
            <a:noFill/>
          </a:ln>
        </p:spPr>
        <p:txBody>
          <a:bodyPr/>
          <a:lstStyle>
            <a:lvl1pPr marL="0" marR="0" indent="0" algn="l" defTabSz="778993" rtl="0" eaLnBrk="1" fontAlgn="auto" latinLnBrk="0" hangingPunct="1">
              <a:lnSpc>
                <a:spcPct val="100000"/>
              </a:lnSpc>
              <a:spcBef>
                <a:spcPts val="682"/>
              </a:spcBef>
              <a:spcAft>
                <a:spcPts val="0"/>
              </a:spcAft>
              <a:buClrTx/>
              <a:buSzTx/>
              <a:buFontTx/>
              <a:buNone/>
              <a:tabLst/>
              <a:defRPr sz="1000" baseline="0">
                <a:solidFill>
                  <a:srgbClr val="012C59"/>
                </a:solidFill>
              </a:defRPr>
            </a:lvl1pPr>
            <a:lvl2pPr marL="155528" indent="0">
              <a:buFontTx/>
              <a:buNone/>
              <a:defRPr sz="1300"/>
            </a:lvl2pPr>
            <a:lvl3pPr marL="304294" indent="0">
              <a:buFontTx/>
              <a:buNone/>
              <a:defRPr sz="1300"/>
            </a:lvl3pPr>
            <a:lvl4pPr>
              <a:buFontTx/>
              <a:buNone/>
              <a:defRPr sz="1300"/>
            </a:lvl4pPr>
            <a:lvl5pPr>
              <a:buFontTx/>
              <a:buNone/>
              <a:defRPr sz="1300"/>
            </a:lvl5pPr>
          </a:lstStyle>
          <a:p>
            <a:r>
              <a:rPr lang="de-CH" dirty="0"/>
              <a:t>vorname.name@zhaw.ch, TT Monat JJJJ (Arial, 10 </a:t>
            </a:r>
            <a:r>
              <a:rPr lang="de-CH" dirty="0" err="1"/>
              <a:t>pt</a:t>
            </a:r>
            <a:r>
              <a:rPr lang="de-CH" dirty="0"/>
              <a:t>) </a:t>
            </a:r>
          </a:p>
        </p:txBody>
      </p:sp>
      <p:pic>
        <p:nvPicPr>
          <p:cNvPr id="6" name="Grafik 5">
            <a:extLst>
              <a:ext uri="{FF2B5EF4-FFF2-40B4-BE49-F238E27FC236}">
                <a16:creationId xmlns:a16="http://schemas.microsoft.com/office/drawing/2014/main" id="{0CFF8F5F-B8BD-49D1-04E6-303DF4C57B52}"/>
              </a:ext>
            </a:extLst>
          </p:cNvPr>
          <p:cNvPicPr>
            <a:picLocks noChangeAspect="1"/>
          </p:cNvPicPr>
          <p:nvPr userDrawn="1"/>
        </p:nvPicPr>
        <p:blipFill>
          <a:blip r:embed="rId4"/>
          <a:stretch>
            <a:fillRect/>
          </a:stretch>
        </p:blipFill>
        <p:spPr>
          <a:xfrm>
            <a:off x="7519589" y="285825"/>
            <a:ext cx="1443736" cy="291592"/>
          </a:xfrm>
          <a:prstGeom prst="rect">
            <a:avLst/>
          </a:prstGeom>
        </p:spPr>
      </p:pic>
      <p:grpSp>
        <p:nvGrpSpPr>
          <p:cNvPr id="14" name="Gruppieren 13">
            <a:extLst>
              <a:ext uri="{FF2B5EF4-FFF2-40B4-BE49-F238E27FC236}">
                <a16:creationId xmlns:a16="http://schemas.microsoft.com/office/drawing/2014/main" id="{D1AB9BFD-7151-CDE3-1A5E-7B27E19031FC}"/>
              </a:ext>
            </a:extLst>
          </p:cNvPr>
          <p:cNvGrpSpPr/>
          <p:nvPr userDrawn="1"/>
        </p:nvGrpSpPr>
        <p:grpSpPr>
          <a:xfrm>
            <a:off x="5132878" y="4587973"/>
            <a:ext cx="3551292" cy="504057"/>
            <a:chOff x="5132878" y="4587973"/>
            <a:chExt cx="3551292" cy="504057"/>
          </a:xfrm>
        </p:grpSpPr>
        <p:pic>
          <p:nvPicPr>
            <p:cNvPr id="8" name="Grafik 7">
              <a:extLst>
                <a:ext uri="{FF2B5EF4-FFF2-40B4-BE49-F238E27FC236}">
                  <a16:creationId xmlns:a16="http://schemas.microsoft.com/office/drawing/2014/main" id="{63F338F0-8551-5BA5-EA09-B6B15140BEE9}"/>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5132878" y="4714785"/>
              <a:ext cx="898828" cy="302606"/>
            </a:xfrm>
            <a:prstGeom prst="rect">
              <a:avLst/>
            </a:prstGeom>
          </p:spPr>
        </p:pic>
        <p:pic>
          <p:nvPicPr>
            <p:cNvPr id="10" name="Grafik 9">
              <a:extLst>
                <a:ext uri="{FF2B5EF4-FFF2-40B4-BE49-F238E27FC236}">
                  <a16:creationId xmlns:a16="http://schemas.microsoft.com/office/drawing/2014/main" id="{96DC03B2-1B69-1C2E-098E-BE571386595E}"/>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7772076" y="4754214"/>
              <a:ext cx="912094" cy="268263"/>
            </a:xfrm>
            <a:prstGeom prst="rect">
              <a:avLst/>
            </a:prstGeom>
          </p:spPr>
        </p:pic>
        <p:pic>
          <p:nvPicPr>
            <p:cNvPr id="13" name="Grafik 12">
              <a:extLst>
                <a:ext uri="{FF2B5EF4-FFF2-40B4-BE49-F238E27FC236}">
                  <a16:creationId xmlns:a16="http://schemas.microsoft.com/office/drawing/2014/main" id="{9E70807A-033A-4276-B751-DA3062E1B0DA}"/>
                </a:ext>
              </a:extLst>
            </p:cNvPr>
            <p:cNvPicPr>
              <a:picLocks noChangeAspect="1"/>
            </p:cNvPicPr>
            <p:nvPr userDrawn="1"/>
          </p:nvPicPr>
          <p:blipFill>
            <a:blip>
              <a:extLst>
                <a:ext uri="{96DAC541-7B7A-43D3-8B79-37D633B846F1}">
                  <asvg:svgBlip xmlns:asvg="http://schemas.microsoft.com/office/drawing/2016/SVG/main" r:embed="rId7"/>
                </a:ext>
              </a:extLst>
            </a:blip>
            <a:srcRect t="15176" b="6480"/>
            <a:stretch/>
          </p:blipFill>
          <p:spPr>
            <a:xfrm>
              <a:off x="6466954" y="4587973"/>
              <a:ext cx="891978" cy="504057"/>
            </a:xfrm>
            <a:prstGeom prst="rect">
              <a:avLst/>
            </a:prstGeom>
          </p:spPr>
        </p:pic>
      </p:grpSp>
    </p:spTree>
    <p:extLst>
      <p:ext uri="{BB962C8B-B14F-4D97-AF65-F5344CB8AC3E}">
        <p14:creationId xmlns:p14="http://schemas.microsoft.com/office/powerpoint/2010/main" val="14605832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folie Illustration invers">
    <p:bg>
      <p:bgRef idx="1001">
        <a:schemeClr val="bg1"/>
      </p:bgRef>
    </p:bg>
    <p:spTree>
      <p:nvGrpSpPr>
        <p:cNvPr id="1" name=""/>
        <p:cNvGrpSpPr/>
        <p:nvPr/>
      </p:nvGrpSpPr>
      <p:grpSpPr>
        <a:xfrm>
          <a:off x="0" y="0"/>
          <a:ext cx="0" cy="0"/>
          <a:chOff x="0" y="0"/>
          <a:chExt cx="0" cy="0"/>
        </a:xfrm>
      </p:grpSpPr>
      <p:sp>
        <p:nvSpPr>
          <p:cNvPr id="9" name="Bildplatzhalter 3"/>
          <p:cNvSpPr>
            <a:spLocks noGrp="1"/>
          </p:cNvSpPr>
          <p:nvPr>
            <p:ph type="pic" sz="quarter" idx="12" hasCustomPrompt="1"/>
          </p:nvPr>
        </p:nvSpPr>
        <p:spPr>
          <a:xfrm>
            <a:off x="942880" y="1938030"/>
            <a:ext cx="7616833" cy="2106234"/>
          </a:xfrm>
          <a:prstGeom prst="rect">
            <a:avLst/>
          </a:prstGeom>
        </p:spPr>
        <p:txBody>
          <a:bodyPr/>
          <a:lstStyle>
            <a:lvl1pPr marL="0" indent="0">
              <a:buNone/>
              <a:defRPr>
                <a:solidFill>
                  <a:srgbClr val="0064A6"/>
                </a:solidFill>
              </a:defRPr>
            </a:lvl1pPr>
          </a:lstStyle>
          <a:p>
            <a:r>
              <a:rPr lang="de-CH" dirty="0"/>
              <a:t>Illustration/Bild</a:t>
            </a:r>
          </a:p>
        </p:txBody>
      </p:sp>
      <p:sp>
        <p:nvSpPr>
          <p:cNvPr id="5" name="Bildplatzhalter 4" hidden="1"/>
          <p:cNvSpPr>
            <a:spLocks noGrp="1"/>
          </p:cNvSpPr>
          <p:nvPr>
            <p:ph type="pic" sz="quarter" idx="15"/>
          </p:nvPr>
        </p:nvSpPr>
        <p:spPr>
          <a:xfrm>
            <a:off x="2302290" y="2447023"/>
            <a:ext cx="4498696" cy="1542078"/>
          </a:xfrm>
          <a:prstGeom prst="rect">
            <a:avLst/>
          </a:prstGeom>
        </p:spPr>
        <p:txBody>
          <a:bodyPr/>
          <a:lstStyle/>
          <a:p>
            <a:r>
              <a:rPr lang="de-DE"/>
              <a:t>Bild durch Klicken auf Symbol hinzufügen</a:t>
            </a:r>
            <a:endParaRPr lang="de-CH" dirty="0"/>
          </a:p>
        </p:txBody>
      </p:sp>
      <p:pic>
        <p:nvPicPr>
          <p:cNvPr id="12" name="Grafik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black">
          <a:xfrm>
            <a:off x="2346326" y="2104370"/>
            <a:ext cx="4435474" cy="1907540"/>
          </a:xfrm>
          <a:prstGeom prst="rect">
            <a:avLst/>
          </a:prstGeom>
        </p:spPr>
      </p:pic>
      <p:pic>
        <p:nvPicPr>
          <p:cNvPr id="3" name="Grafik 2">
            <a:extLst>
              <a:ext uri="{FF2B5EF4-FFF2-40B4-BE49-F238E27FC236}">
                <a16:creationId xmlns:a16="http://schemas.microsoft.com/office/drawing/2014/main" id="{FE31A1FD-0BA0-7446-0A8F-F2BACEEE1546}"/>
              </a:ext>
            </a:extLst>
          </p:cNvPr>
          <p:cNvPicPr>
            <a:picLocks noChangeAspect="1"/>
          </p:cNvPicPr>
          <p:nvPr userDrawn="1"/>
        </p:nvPicPr>
        <p:blipFill>
          <a:blip r:embed="rId3"/>
          <a:srcRect/>
          <a:stretch/>
        </p:blipFill>
        <p:spPr bwMode="black">
          <a:xfrm>
            <a:off x="177647" y="180347"/>
            <a:ext cx="642685" cy="672440"/>
          </a:xfrm>
          <a:prstGeom prst="rect">
            <a:avLst/>
          </a:prstGeom>
        </p:spPr>
      </p:pic>
      <p:pic>
        <p:nvPicPr>
          <p:cNvPr id="18" name="Grafik 17">
            <a:extLst>
              <a:ext uri="{FF2B5EF4-FFF2-40B4-BE49-F238E27FC236}">
                <a16:creationId xmlns:a16="http://schemas.microsoft.com/office/drawing/2014/main" id="{271D3B1E-A52D-D8CB-AB55-37247C86B0BE}"/>
              </a:ext>
            </a:extLst>
          </p:cNvPr>
          <p:cNvPicPr>
            <a:picLocks noGrp="1" noRot="1" noChangeAspect="1" noMove="1" noResize="1" noEditPoints="1" noAdjustHandles="1" noChangeArrowheads="1" noChangeShapeType="1" noCrop="1"/>
          </p:cNvPicPr>
          <p:nvPr userDrawn="1"/>
        </p:nvPicPr>
        <p:blipFill>
          <a:blip r:embed="rId4"/>
          <a:srcRect/>
          <a:stretch/>
        </p:blipFill>
        <p:spPr bwMode="black">
          <a:xfrm>
            <a:off x="177647" y="180416"/>
            <a:ext cx="642685" cy="672301"/>
          </a:xfrm>
          <a:prstGeom prst="rect">
            <a:avLst/>
          </a:prstGeom>
        </p:spPr>
      </p:pic>
      <p:cxnSp>
        <p:nvCxnSpPr>
          <p:cNvPr id="22" name="Gerader Verbinder 21">
            <a:extLst>
              <a:ext uri="{FF2B5EF4-FFF2-40B4-BE49-F238E27FC236}">
                <a16:creationId xmlns:a16="http://schemas.microsoft.com/office/drawing/2014/main" id="{5C668465-EA49-BF07-8267-086A96A2A727}"/>
              </a:ext>
            </a:extLst>
          </p:cNvPr>
          <p:cNvCxnSpPr>
            <a:cxnSpLocks noGrp="1" noRot="1" noMove="1" noResize="1" noEditPoints="1" noAdjustHandles="1" noChangeArrowheads="1" noChangeShapeType="1"/>
          </p:cNvCxnSpPr>
          <p:nvPr userDrawn="1"/>
        </p:nvCxnSpPr>
        <p:spPr>
          <a:xfrm>
            <a:off x="4572000" y="4642733"/>
            <a:ext cx="0" cy="449297"/>
          </a:xfrm>
          <a:prstGeom prst="line">
            <a:avLst/>
          </a:prstGeom>
          <a:ln w="12700"/>
        </p:spPr>
        <p:style>
          <a:lnRef idx="1">
            <a:schemeClr val="dk1"/>
          </a:lnRef>
          <a:fillRef idx="0">
            <a:schemeClr val="dk1"/>
          </a:fillRef>
          <a:effectRef idx="0">
            <a:schemeClr val="dk1"/>
          </a:effectRef>
          <a:fontRef idx="minor">
            <a:schemeClr val="tx1"/>
          </a:fontRef>
        </p:style>
      </p:cxnSp>
      <p:sp>
        <p:nvSpPr>
          <p:cNvPr id="25" name="Textplatzhalter 7">
            <a:extLst>
              <a:ext uri="{FF2B5EF4-FFF2-40B4-BE49-F238E27FC236}">
                <a16:creationId xmlns:a16="http://schemas.microsoft.com/office/drawing/2014/main" id="{FE8560EC-5598-31C2-7B6F-254BA5E602D8}"/>
              </a:ext>
            </a:extLst>
          </p:cNvPr>
          <p:cNvSpPr>
            <a:spLocks noGrp="1"/>
          </p:cNvSpPr>
          <p:nvPr>
            <p:ph type="body" sz="quarter" idx="11" hasCustomPrompt="1"/>
          </p:nvPr>
        </p:nvSpPr>
        <p:spPr>
          <a:xfrm flipH="1">
            <a:off x="180264" y="4672150"/>
            <a:ext cx="4247719" cy="254000"/>
          </a:xfrm>
          <a:prstGeom prst="rect">
            <a:avLst/>
          </a:prstGeom>
          <a:ln>
            <a:noFill/>
          </a:ln>
        </p:spPr>
        <p:txBody>
          <a:bodyPr/>
          <a:lstStyle>
            <a:lvl1pPr marL="0" marR="0" indent="0" algn="l" defTabSz="778993" rtl="0" eaLnBrk="1" fontAlgn="auto" latinLnBrk="0" hangingPunct="1">
              <a:lnSpc>
                <a:spcPct val="100000"/>
              </a:lnSpc>
              <a:spcBef>
                <a:spcPts val="682"/>
              </a:spcBef>
              <a:spcAft>
                <a:spcPts val="0"/>
              </a:spcAft>
              <a:buClrTx/>
              <a:buSzTx/>
              <a:buFontTx/>
              <a:buNone/>
              <a:tabLst/>
              <a:defRPr sz="1000" b="1" baseline="0">
                <a:solidFill>
                  <a:srgbClr val="0064A6"/>
                </a:solidFill>
              </a:defRPr>
            </a:lvl1pPr>
            <a:lvl2pPr marL="155528" indent="0">
              <a:buFontTx/>
              <a:buNone/>
              <a:defRPr sz="1300"/>
            </a:lvl2pPr>
            <a:lvl3pPr marL="304294" indent="0">
              <a:buFontTx/>
              <a:buNone/>
              <a:defRPr sz="1300"/>
            </a:lvl3pPr>
            <a:lvl4pPr>
              <a:buFontTx/>
              <a:buNone/>
              <a:defRPr sz="1300"/>
            </a:lvl4pPr>
            <a:lvl5pPr>
              <a:buFontTx/>
              <a:buNone/>
              <a:defRPr sz="1300"/>
            </a:lvl5pPr>
          </a:lstStyle>
          <a:p>
            <a:r>
              <a:rPr lang="de-CH" dirty="0"/>
              <a:t>Titel Vorname Name (Arial </a:t>
            </a:r>
            <a:r>
              <a:rPr lang="de-CH" dirty="0" err="1"/>
              <a:t>bold</a:t>
            </a:r>
            <a:r>
              <a:rPr lang="de-CH" dirty="0"/>
              <a:t>, 10 </a:t>
            </a:r>
            <a:r>
              <a:rPr lang="de-CH" dirty="0" err="1"/>
              <a:t>pt</a:t>
            </a:r>
            <a:r>
              <a:rPr lang="de-CH" dirty="0"/>
              <a:t>)</a:t>
            </a:r>
          </a:p>
        </p:txBody>
      </p:sp>
      <p:sp>
        <p:nvSpPr>
          <p:cNvPr id="26" name="Textplatzhalter 7">
            <a:extLst>
              <a:ext uri="{FF2B5EF4-FFF2-40B4-BE49-F238E27FC236}">
                <a16:creationId xmlns:a16="http://schemas.microsoft.com/office/drawing/2014/main" id="{57B1C107-D49B-32A1-1BCE-4F8659220B54}"/>
              </a:ext>
            </a:extLst>
          </p:cNvPr>
          <p:cNvSpPr>
            <a:spLocks noGrp="1"/>
          </p:cNvSpPr>
          <p:nvPr>
            <p:ph type="body" sz="quarter" idx="14" hasCustomPrompt="1"/>
          </p:nvPr>
        </p:nvSpPr>
        <p:spPr>
          <a:xfrm flipH="1">
            <a:off x="179512" y="4882966"/>
            <a:ext cx="4247714" cy="154126"/>
          </a:xfrm>
          <a:prstGeom prst="rect">
            <a:avLst/>
          </a:prstGeom>
          <a:ln>
            <a:noFill/>
          </a:ln>
        </p:spPr>
        <p:txBody>
          <a:bodyPr/>
          <a:lstStyle>
            <a:lvl1pPr marL="0" marR="0" indent="0" algn="l" defTabSz="778993" rtl="0" eaLnBrk="1" fontAlgn="auto" latinLnBrk="0" hangingPunct="1">
              <a:lnSpc>
                <a:spcPct val="100000"/>
              </a:lnSpc>
              <a:spcBef>
                <a:spcPts val="682"/>
              </a:spcBef>
              <a:spcAft>
                <a:spcPts val="0"/>
              </a:spcAft>
              <a:buClrTx/>
              <a:buSzTx/>
              <a:buFontTx/>
              <a:buNone/>
              <a:tabLst/>
              <a:defRPr sz="1000" baseline="0">
                <a:solidFill>
                  <a:srgbClr val="0064A6"/>
                </a:solidFill>
              </a:defRPr>
            </a:lvl1pPr>
            <a:lvl2pPr marL="155528" indent="0">
              <a:buFontTx/>
              <a:buNone/>
              <a:defRPr sz="1300"/>
            </a:lvl2pPr>
            <a:lvl3pPr marL="304294" indent="0">
              <a:buFontTx/>
              <a:buNone/>
              <a:defRPr sz="1300"/>
            </a:lvl3pPr>
            <a:lvl4pPr>
              <a:buFontTx/>
              <a:buNone/>
              <a:defRPr sz="1300"/>
            </a:lvl4pPr>
            <a:lvl5pPr>
              <a:buFontTx/>
              <a:buNone/>
              <a:defRPr sz="1300"/>
            </a:lvl5pPr>
          </a:lstStyle>
          <a:p>
            <a:r>
              <a:rPr lang="de-CH" dirty="0"/>
              <a:t>vorname.name@zhaw.ch, TT Monat JJJJ (Arial, 10 </a:t>
            </a:r>
            <a:r>
              <a:rPr lang="de-CH" dirty="0" err="1"/>
              <a:t>pt</a:t>
            </a:r>
            <a:r>
              <a:rPr lang="de-CH" dirty="0"/>
              <a:t>) </a:t>
            </a:r>
          </a:p>
        </p:txBody>
      </p:sp>
      <p:sp>
        <p:nvSpPr>
          <p:cNvPr id="8" name="Titelplatzhalter 1">
            <a:extLst>
              <a:ext uri="{FF2B5EF4-FFF2-40B4-BE49-F238E27FC236}">
                <a16:creationId xmlns:a16="http://schemas.microsoft.com/office/drawing/2014/main" id="{C901B15B-C2CA-4470-6DDB-FFEDAC32C216}"/>
              </a:ext>
            </a:extLst>
          </p:cNvPr>
          <p:cNvSpPr>
            <a:spLocks noGrp="1"/>
          </p:cNvSpPr>
          <p:nvPr>
            <p:ph type="title" hasCustomPrompt="1"/>
          </p:nvPr>
        </p:nvSpPr>
        <p:spPr bwMode="black">
          <a:xfrm>
            <a:off x="997979" y="842963"/>
            <a:ext cx="7840540" cy="713343"/>
          </a:xfrm>
          <a:prstGeom prst="rect">
            <a:avLst/>
          </a:prstGeom>
          <a:noFill/>
          <a:ln>
            <a:noFill/>
          </a:ln>
        </p:spPr>
        <p:txBody>
          <a:bodyPr vert="horz" lIns="0" tIns="0" rIns="0" bIns="0" rtlCol="0" anchor="t" anchorCtr="0">
            <a:noAutofit/>
          </a:bodyPr>
          <a:lstStyle>
            <a:lvl1pPr>
              <a:defRPr sz="2200">
                <a:solidFill>
                  <a:srgbClr val="0064A6"/>
                </a:solidFill>
              </a:defRPr>
            </a:lvl1pPr>
          </a:lstStyle>
          <a:p>
            <a:r>
              <a:rPr lang="de-DE" dirty="0"/>
              <a:t>Titel, Arial </a:t>
            </a:r>
            <a:r>
              <a:rPr lang="de-DE" dirty="0" err="1"/>
              <a:t>bold</a:t>
            </a:r>
            <a:r>
              <a:rPr lang="de-DE" dirty="0"/>
              <a:t>, 22pt</a:t>
            </a:r>
            <a:br>
              <a:rPr lang="de-DE" dirty="0"/>
            </a:br>
            <a:r>
              <a:rPr lang="de-DE" dirty="0"/>
              <a:t>2. Zeile Titel, Arial </a:t>
            </a:r>
            <a:r>
              <a:rPr lang="de-DE" dirty="0" err="1"/>
              <a:t>bold</a:t>
            </a:r>
            <a:r>
              <a:rPr lang="de-DE" dirty="0"/>
              <a:t> 22 </a:t>
            </a:r>
            <a:r>
              <a:rPr lang="de-DE" dirty="0" err="1"/>
              <a:t>pt</a:t>
            </a:r>
            <a:endParaRPr lang="fr-FR" dirty="0"/>
          </a:p>
        </p:txBody>
      </p:sp>
      <p:grpSp>
        <p:nvGrpSpPr>
          <p:cNvPr id="4" name="Gruppieren 3">
            <a:extLst>
              <a:ext uri="{FF2B5EF4-FFF2-40B4-BE49-F238E27FC236}">
                <a16:creationId xmlns:a16="http://schemas.microsoft.com/office/drawing/2014/main" id="{672B791A-0571-B9C3-6FAA-D9320AE478F5}"/>
              </a:ext>
            </a:extLst>
          </p:cNvPr>
          <p:cNvGrpSpPr/>
          <p:nvPr userDrawn="1"/>
        </p:nvGrpSpPr>
        <p:grpSpPr>
          <a:xfrm>
            <a:off x="5132878" y="4587973"/>
            <a:ext cx="3551292" cy="504057"/>
            <a:chOff x="5132878" y="4587973"/>
            <a:chExt cx="3551292" cy="504057"/>
          </a:xfrm>
        </p:grpSpPr>
        <p:pic>
          <p:nvPicPr>
            <p:cNvPr id="6" name="Grafik 5">
              <a:extLst>
                <a:ext uri="{FF2B5EF4-FFF2-40B4-BE49-F238E27FC236}">
                  <a16:creationId xmlns:a16="http://schemas.microsoft.com/office/drawing/2014/main" id="{57641422-57D2-8A53-11C2-1EB984EC9677}"/>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5132878" y="4714785"/>
              <a:ext cx="898828" cy="302606"/>
            </a:xfrm>
            <a:prstGeom prst="rect">
              <a:avLst/>
            </a:prstGeom>
          </p:spPr>
        </p:pic>
        <p:pic>
          <p:nvPicPr>
            <p:cNvPr id="7" name="Grafik 6">
              <a:extLst>
                <a:ext uri="{FF2B5EF4-FFF2-40B4-BE49-F238E27FC236}">
                  <a16:creationId xmlns:a16="http://schemas.microsoft.com/office/drawing/2014/main" id="{E325115B-4154-A9FD-2C1A-274B1D6A3376}"/>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7772076" y="4754214"/>
              <a:ext cx="912094" cy="268263"/>
            </a:xfrm>
            <a:prstGeom prst="rect">
              <a:avLst/>
            </a:prstGeom>
          </p:spPr>
        </p:pic>
        <p:pic>
          <p:nvPicPr>
            <p:cNvPr id="11" name="Grafik 10">
              <a:extLst>
                <a:ext uri="{FF2B5EF4-FFF2-40B4-BE49-F238E27FC236}">
                  <a16:creationId xmlns:a16="http://schemas.microsoft.com/office/drawing/2014/main" id="{9CC0AFC2-1C98-E4F1-0002-FB68A42707E6}"/>
                </a:ext>
              </a:extLst>
            </p:cNvPr>
            <p:cNvPicPr>
              <a:picLocks noChangeAspect="1"/>
            </p:cNvPicPr>
            <p:nvPr userDrawn="1"/>
          </p:nvPicPr>
          <p:blipFill>
            <a:blip>
              <a:extLst>
                <a:ext uri="{96DAC541-7B7A-43D3-8B79-37D633B846F1}">
                  <asvg:svgBlip xmlns:asvg="http://schemas.microsoft.com/office/drawing/2016/SVG/main" r:embed="rId7"/>
                </a:ext>
              </a:extLst>
            </a:blip>
            <a:srcRect t="15176" b="6480"/>
            <a:stretch/>
          </p:blipFill>
          <p:spPr>
            <a:xfrm>
              <a:off x="6466954" y="4587973"/>
              <a:ext cx="891978" cy="504057"/>
            </a:xfrm>
            <a:prstGeom prst="rect">
              <a:avLst/>
            </a:prstGeom>
          </p:spPr>
        </p:pic>
      </p:grpSp>
      <p:pic>
        <p:nvPicPr>
          <p:cNvPr id="15" name="Grafik 14">
            <a:extLst>
              <a:ext uri="{FF2B5EF4-FFF2-40B4-BE49-F238E27FC236}">
                <a16:creationId xmlns:a16="http://schemas.microsoft.com/office/drawing/2014/main" id="{EAF648D2-B598-D552-AE0B-0133660394EE}"/>
              </a:ext>
            </a:extLst>
          </p:cNvPr>
          <p:cNvPicPr>
            <a:picLocks noChangeAspect="1"/>
          </p:cNvPicPr>
          <p:nvPr userDrawn="1"/>
        </p:nvPicPr>
        <p:blipFill>
          <a:blip r:embed="rId8"/>
          <a:stretch>
            <a:fillRect/>
          </a:stretch>
        </p:blipFill>
        <p:spPr>
          <a:xfrm>
            <a:off x="7519591" y="267494"/>
            <a:ext cx="1443731" cy="302176"/>
          </a:xfrm>
          <a:prstGeom prst="rect">
            <a:avLst/>
          </a:prstGeom>
        </p:spPr>
      </p:pic>
      <p:pic>
        <p:nvPicPr>
          <p:cNvPr id="17" name="Grafik 16">
            <a:extLst>
              <a:ext uri="{FF2B5EF4-FFF2-40B4-BE49-F238E27FC236}">
                <a16:creationId xmlns:a16="http://schemas.microsoft.com/office/drawing/2014/main" id="{D42EE4DE-0B3E-9A9C-507C-805F2B0B94F9}"/>
              </a:ext>
            </a:extLst>
          </p:cNvPr>
          <p:cNvPicPr>
            <a:picLocks noChangeAspect="1"/>
          </p:cNvPicPr>
          <p:nvPr userDrawn="1"/>
        </p:nvPicPr>
        <p:blipFill>
          <a:blip r:embed="rId9"/>
          <a:stretch>
            <a:fillRect/>
          </a:stretch>
        </p:blipFill>
        <p:spPr>
          <a:xfrm>
            <a:off x="4473702" y="2551176"/>
            <a:ext cx="196596" cy="41148"/>
          </a:xfrm>
          <a:prstGeom prst="rect">
            <a:avLst/>
          </a:prstGeom>
        </p:spPr>
      </p:pic>
    </p:spTree>
    <p:extLst>
      <p:ext uri="{BB962C8B-B14F-4D97-AF65-F5344CB8AC3E}">
        <p14:creationId xmlns:p14="http://schemas.microsoft.com/office/powerpoint/2010/main" val="10815831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_Inhalt">
    <p:bg bwMode="auto">
      <p:bgRef idx="1001">
        <a:schemeClr val="bg1"/>
      </p:bgRef>
    </p:bg>
    <p:spTree>
      <p:nvGrpSpPr>
        <p:cNvPr id="1" name=""/>
        <p:cNvGrpSpPr/>
        <p:nvPr/>
      </p:nvGrpSpPr>
      <p:grpSpPr>
        <a:xfrm>
          <a:off x="0" y="0"/>
          <a:ext cx="0" cy="0"/>
          <a:chOff x="0" y="0"/>
          <a:chExt cx="0" cy="0"/>
        </a:xfrm>
      </p:grpSpPr>
      <p:sp>
        <p:nvSpPr>
          <p:cNvPr id="10" name="Textplatzhalter 2"/>
          <p:cNvSpPr txBox="1">
            <a:spLocks/>
          </p:cNvSpPr>
          <p:nvPr userDrawn="1"/>
        </p:nvSpPr>
        <p:spPr bwMode="invGray">
          <a:xfrm>
            <a:off x="325704" y="193229"/>
            <a:ext cx="8489694" cy="544263"/>
          </a:xfrm>
          <a:prstGeom prst="rect">
            <a:avLst/>
          </a:prstGeom>
        </p:spPr>
        <p:txBody>
          <a:bodyPr lIns="71539" tIns="35770" rIns="71539" bIns="35770" anchor="ctr" anchorCtr="0"/>
          <a:lstStyle>
            <a:lvl1pPr marL="0" marR="0" indent="0" algn="l" defTabSz="995690" rtl="0" eaLnBrk="1" fontAlgn="auto" latinLnBrk="0" hangingPunct="1">
              <a:lnSpc>
                <a:spcPct val="100000"/>
              </a:lnSpc>
              <a:spcBef>
                <a:spcPts val="0"/>
              </a:spcBef>
              <a:spcAft>
                <a:spcPts val="0"/>
              </a:spcAft>
              <a:buClrTx/>
              <a:buSzTx/>
              <a:buFontTx/>
              <a:buNone/>
              <a:tabLst/>
              <a:defRPr sz="2200" b="1" i="0" kern="1200" baseline="0">
                <a:solidFill>
                  <a:schemeClr val="bg1"/>
                </a:solidFill>
                <a:latin typeface="Arial" pitchFamily="34" charset="0"/>
                <a:ea typeface="+mn-ea"/>
                <a:cs typeface="Arial" pitchFamily="34" charset="0"/>
              </a:defRPr>
            </a:lvl1pPr>
            <a:lvl2pPr marL="388942" indent="-190149" algn="l" defTabSz="995690" rtl="0" eaLnBrk="1" latinLnBrk="0" hangingPunct="1">
              <a:spcBef>
                <a:spcPts val="871"/>
              </a:spcBef>
              <a:buFont typeface="Symbol" pitchFamily="18" charset="2"/>
              <a:buChar char="-"/>
              <a:defRPr sz="2000" kern="1200">
                <a:solidFill>
                  <a:srgbClr val="002C59"/>
                </a:solidFill>
                <a:latin typeface="Arial" pitchFamily="34" charset="0"/>
                <a:ea typeface="+mn-ea"/>
                <a:cs typeface="Arial" pitchFamily="34" charset="0"/>
              </a:defRPr>
            </a:lvl2pPr>
            <a:lvl3pPr marL="587734" indent="-198793" algn="l" defTabSz="995690" rtl="0" eaLnBrk="1" latinLnBrk="0" hangingPunct="1">
              <a:spcBef>
                <a:spcPts val="871"/>
              </a:spcBef>
              <a:buFont typeface="Symbol" pitchFamily="18" charset="2"/>
              <a:buChar char="-"/>
              <a:defRPr sz="1700" kern="1200">
                <a:solidFill>
                  <a:srgbClr val="002C59"/>
                </a:solidFill>
                <a:latin typeface="Arial" pitchFamily="34" charset="0"/>
                <a:ea typeface="+mn-ea"/>
                <a:cs typeface="Arial" pitchFamily="34" charset="0"/>
              </a:defRPr>
            </a:lvl3pPr>
            <a:lvl4pPr marL="1493535" indent="0" algn="l" defTabSz="995690" rtl="0" eaLnBrk="1" latinLnBrk="0" hangingPunct="1">
              <a:spcBef>
                <a:spcPct val="20000"/>
              </a:spcBef>
              <a:buFontTx/>
              <a:buNone/>
              <a:defRPr sz="2200" kern="1200">
                <a:solidFill>
                  <a:schemeClr val="tx1"/>
                </a:solidFill>
                <a:latin typeface="+mn-lt"/>
                <a:ea typeface="+mn-ea"/>
                <a:cs typeface="+mn-cs"/>
              </a:defRPr>
            </a:lvl4pPr>
            <a:lvl5pPr marL="1991380" indent="0" algn="l" defTabSz="995690" rtl="0" eaLnBrk="1" latinLnBrk="0" hangingPunct="1">
              <a:spcBef>
                <a:spcPct val="20000"/>
              </a:spcBef>
              <a:buFontTx/>
              <a:buNone/>
              <a:defRPr sz="2200" kern="1200">
                <a:solidFill>
                  <a:schemeClr val="tx1"/>
                </a:solidFill>
                <a:latin typeface="+mn-lt"/>
                <a:ea typeface="+mn-ea"/>
                <a:cs typeface="+mn-cs"/>
              </a:defRPr>
            </a:lvl5pPr>
            <a:lvl6pPr marL="2738148" indent="-248923" algn="l" defTabSz="995690" rtl="0" eaLnBrk="1" latinLnBrk="0" hangingPunct="1">
              <a:spcBef>
                <a:spcPct val="20000"/>
              </a:spcBef>
              <a:buFont typeface="Arial" pitchFamily="34" charset="0"/>
              <a:buChar char="•"/>
              <a:defRPr sz="2200" kern="1200">
                <a:solidFill>
                  <a:schemeClr val="tx1"/>
                </a:solidFill>
                <a:latin typeface="+mn-lt"/>
                <a:ea typeface="+mn-ea"/>
                <a:cs typeface="+mn-cs"/>
              </a:defRPr>
            </a:lvl6pPr>
            <a:lvl7pPr marL="3235993" indent="-248923" algn="l" defTabSz="995690" rtl="0" eaLnBrk="1" latinLnBrk="0" hangingPunct="1">
              <a:spcBef>
                <a:spcPct val="20000"/>
              </a:spcBef>
              <a:buFont typeface="Arial" pitchFamily="34" charset="0"/>
              <a:buChar char="•"/>
              <a:defRPr sz="2200" kern="1200">
                <a:solidFill>
                  <a:schemeClr val="tx1"/>
                </a:solidFill>
                <a:latin typeface="+mn-lt"/>
                <a:ea typeface="+mn-ea"/>
                <a:cs typeface="+mn-cs"/>
              </a:defRPr>
            </a:lvl7pPr>
            <a:lvl8pPr marL="3733838" indent="-248923" algn="l" defTabSz="995690" rtl="0" eaLnBrk="1" latinLnBrk="0" hangingPunct="1">
              <a:spcBef>
                <a:spcPct val="20000"/>
              </a:spcBef>
              <a:buFont typeface="Arial" pitchFamily="34" charset="0"/>
              <a:buChar char="•"/>
              <a:defRPr sz="2200" kern="1200">
                <a:solidFill>
                  <a:schemeClr val="tx1"/>
                </a:solidFill>
                <a:latin typeface="+mn-lt"/>
                <a:ea typeface="+mn-ea"/>
                <a:cs typeface="+mn-cs"/>
              </a:defRPr>
            </a:lvl8pPr>
            <a:lvl9pPr marL="4231683" indent="-248923" algn="l" defTabSz="995690" rtl="0" eaLnBrk="1" latinLnBrk="0" hangingPunct="1">
              <a:spcBef>
                <a:spcPct val="20000"/>
              </a:spcBef>
              <a:buFont typeface="Arial" pitchFamily="34" charset="0"/>
              <a:buChar char="•"/>
              <a:defRPr sz="2200" kern="1200">
                <a:solidFill>
                  <a:schemeClr val="tx1"/>
                </a:solidFill>
                <a:latin typeface="+mn-lt"/>
                <a:ea typeface="+mn-ea"/>
                <a:cs typeface="+mn-cs"/>
              </a:defRPr>
            </a:lvl9pPr>
          </a:lstStyle>
          <a:p>
            <a:endParaRPr lang="de-DE" sz="2000" b="0" spc="23" dirty="0">
              <a:solidFill>
                <a:schemeClr val="bg1"/>
              </a:solidFill>
              <a:latin typeface="Arial"/>
              <a:cs typeface="Arial"/>
            </a:endParaRPr>
          </a:p>
        </p:txBody>
      </p:sp>
      <p:sp>
        <p:nvSpPr>
          <p:cNvPr id="11" name="Titelplatzhalter 1"/>
          <p:cNvSpPr>
            <a:spLocks noGrp="1"/>
          </p:cNvSpPr>
          <p:nvPr>
            <p:ph type="title"/>
          </p:nvPr>
        </p:nvSpPr>
        <p:spPr>
          <a:xfrm>
            <a:off x="365302" y="352916"/>
            <a:ext cx="8489694" cy="571834"/>
          </a:xfrm>
          <a:prstGeom prst="rect">
            <a:avLst/>
          </a:prstGeom>
          <a:noFill/>
          <a:ln>
            <a:noFill/>
          </a:ln>
        </p:spPr>
        <p:txBody>
          <a:bodyPr vert="horz" lIns="0" tIns="0" rIns="0" bIns="0" rtlCol="0" anchor="ctr" anchorCtr="0">
            <a:noAutofit/>
          </a:bodyPr>
          <a:lstStyle>
            <a:lvl1pPr>
              <a:defRPr sz="2000"/>
            </a:lvl1pPr>
          </a:lstStyle>
          <a:p>
            <a:r>
              <a:rPr lang="de-CH" noProof="0" dirty="0"/>
              <a:t>Mastertitelformat bearbeiten</a:t>
            </a:r>
          </a:p>
        </p:txBody>
      </p:sp>
      <p:sp>
        <p:nvSpPr>
          <p:cNvPr id="3" name="Content Placeholder 2">
            <a:extLst>
              <a:ext uri="{FF2B5EF4-FFF2-40B4-BE49-F238E27FC236}">
                <a16:creationId xmlns:a16="http://schemas.microsoft.com/office/drawing/2014/main" id="{397D6EDE-1D88-4253-A185-05406FA8DDDE}"/>
              </a:ext>
            </a:extLst>
          </p:cNvPr>
          <p:cNvSpPr>
            <a:spLocks noGrp="1"/>
          </p:cNvSpPr>
          <p:nvPr>
            <p:ph sz="quarter" idx="10"/>
          </p:nvPr>
        </p:nvSpPr>
        <p:spPr>
          <a:xfrm>
            <a:off x="358775" y="1239838"/>
            <a:ext cx="8497888" cy="3276600"/>
          </a:xfrm>
        </p:spPr>
        <p:txBody>
          <a:bodyPr/>
          <a:lstStyle/>
          <a:p>
            <a:pPr lvl="0"/>
            <a:r>
              <a:rPr lang="de-CH" noProof="0" dirty="0"/>
              <a:t>Mastertextformat bearbeiten</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
        <p:nvSpPr>
          <p:cNvPr id="5" name="Foliennummernplatzhalter 6">
            <a:extLst>
              <a:ext uri="{FF2B5EF4-FFF2-40B4-BE49-F238E27FC236}">
                <a16:creationId xmlns:a16="http://schemas.microsoft.com/office/drawing/2014/main" id="{B463B98E-A0F2-C93A-A005-859F8DC7907C}"/>
              </a:ext>
            </a:extLst>
          </p:cNvPr>
          <p:cNvSpPr>
            <a:spLocks noGrp="1"/>
          </p:cNvSpPr>
          <p:nvPr>
            <p:ph type="sldNum" sz="quarter" idx="4"/>
          </p:nvPr>
        </p:nvSpPr>
        <p:spPr>
          <a:xfrm>
            <a:off x="5732891" y="4931889"/>
            <a:ext cx="711317" cy="107722"/>
          </a:xfrm>
          <a:prstGeom prst="rect">
            <a:avLst/>
          </a:prstGeom>
          <a:noFill/>
        </p:spPr>
        <p:txBody>
          <a:bodyPr vert="horz" wrap="square" lIns="0" tIns="0" rIns="0" bIns="0" rtlCol="0" anchor="ctr" anchorCtr="0">
            <a:spAutoFit/>
          </a:bodyPr>
          <a:lstStyle>
            <a:lvl1pPr algn="l">
              <a:defRPr lang="de-CH" sz="700" smtClean="0">
                <a:solidFill>
                  <a:srgbClr val="012C59"/>
                </a:solidFill>
              </a:defRPr>
            </a:lvl1pPr>
          </a:lstStyle>
          <a:p>
            <a:pPr algn="ctr"/>
            <a:fld id="{05F9AC53-F790-4868-97E7-45E3866EE614}" type="slidenum">
              <a:rPr lang="de-CH" smtClean="0"/>
              <a:pPr algn="ctr"/>
              <a:t>‹Nr.›</a:t>
            </a:fld>
            <a:r>
              <a:rPr lang="de-CH" dirty="0"/>
              <a:t> </a:t>
            </a:r>
          </a:p>
        </p:txBody>
      </p:sp>
      <p:sp>
        <p:nvSpPr>
          <p:cNvPr id="6" name="Datumsplatzhalter 1">
            <a:extLst>
              <a:ext uri="{FF2B5EF4-FFF2-40B4-BE49-F238E27FC236}">
                <a16:creationId xmlns:a16="http://schemas.microsoft.com/office/drawing/2014/main" id="{3F1BABE4-050F-D777-280C-AB545DC7BDF0}"/>
              </a:ext>
            </a:extLst>
          </p:cNvPr>
          <p:cNvSpPr>
            <a:spLocks noGrp="1"/>
          </p:cNvSpPr>
          <p:nvPr>
            <p:ph type="dt" sz="half" idx="2"/>
          </p:nvPr>
        </p:nvSpPr>
        <p:spPr>
          <a:xfrm>
            <a:off x="366713" y="4931889"/>
            <a:ext cx="1292922" cy="107722"/>
          </a:xfrm>
          <a:prstGeom prst="rect">
            <a:avLst/>
          </a:prstGeom>
          <a:noFill/>
        </p:spPr>
        <p:txBody>
          <a:bodyPr vert="horz" wrap="square" lIns="0" tIns="0" rIns="0" bIns="0" rtlCol="0" anchor="ctr" anchorCtr="0">
            <a:spAutoFit/>
          </a:bodyPr>
          <a:lstStyle>
            <a:lvl1pPr>
              <a:defRPr lang="de-CH" sz="700" smtClean="0">
                <a:solidFill>
                  <a:srgbClr val="012C59"/>
                </a:solidFill>
              </a:defRPr>
            </a:lvl1pPr>
          </a:lstStyle>
          <a:p>
            <a:endParaRPr lang="de-DE" dirty="0"/>
          </a:p>
        </p:txBody>
      </p:sp>
      <p:sp>
        <p:nvSpPr>
          <p:cNvPr id="4" name="Fußzeilenplatzhalter 7">
            <a:extLst>
              <a:ext uri="{FF2B5EF4-FFF2-40B4-BE49-F238E27FC236}">
                <a16:creationId xmlns:a16="http://schemas.microsoft.com/office/drawing/2014/main" id="{4F82549F-E274-ECA8-64D1-E9C89D717511}"/>
              </a:ext>
            </a:extLst>
          </p:cNvPr>
          <p:cNvSpPr>
            <a:spLocks noGrp="1"/>
          </p:cNvSpPr>
          <p:nvPr>
            <p:ph type="ftr" sz="quarter" idx="3"/>
          </p:nvPr>
        </p:nvSpPr>
        <p:spPr>
          <a:xfrm>
            <a:off x="2247829" y="4931889"/>
            <a:ext cx="2896867" cy="107722"/>
          </a:xfrm>
          <a:prstGeom prst="rect">
            <a:avLst/>
          </a:prstGeom>
        </p:spPr>
        <p:txBody>
          <a:bodyPr vert="horz" lIns="0" tIns="0" rIns="0" bIns="0" rtlCol="0" anchor="ctr">
            <a:spAutoFit/>
          </a:bodyPr>
          <a:lstStyle>
            <a:lvl1pPr algn="l">
              <a:defRPr sz="700">
                <a:solidFill>
                  <a:schemeClr val="tx1">
                    <a:tint val="75000"/>
                  </a:schemeClr>
                </a:solidFill>
              </a:defRPr>
            </a:lvl1pPr>
          </a:lstStyle>
          <a:p>
            <a:r>
              <a:rPr lang="de-CH">
                <a:solidFill>
                  <a:srgbClr val="012C59"/>
                </a:solidFill>
              </a:rPr>
              <a:t>CAS Pricing</a:t>
            </a:r>
            <a:endParaRPr lang="de-CH" dirty="0">
              <a:solidFill>
                <a:srgbClr val="012C59"/>
              </a:solidFill>
            </a:endParaRPr>
          </a:p>
        </p:txBody>
      </p:sp>
    </p:spTree>
    <p:extLst>
      <p:ext uri="{BB962C8B-B14F-4D97-AF65-F5344CB8AC3E}">
        <p14:creationId xmlns:p14="http://schemas.microsoft.com/office/powerpoint/2010/main" val="1087865353"/>
      </p:ext>
    </p:extLst>
  </p:cSld>
  <p:clrMapOvr>
    <a:masterClrMapping/>
  </p:clrMapOvr>
  <p:extLst>
    <p:ext uri="{DCECCB84-F9BA-43D5-87BE-67443E8EF086}">
      <p15:sldGuideLst xmlns:p15="http://schemas.microsoft.com/office/powerpoint/2012/main">
        <p15:guide id="1" orient="horz" pos="2845" userDrawn="1">
          <p15:clr>
            <a:srgbClr val="FBAE40"/>
          </p15:clr>
        </p15:guide>
        <p15:guide id="2" orient="horz" pos="78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10" name="Textplatzhalter 2"/>
          <p:cNvSpPr txBox="1">
            <a:spLocks/>
          </p:cNvSpPr>
          <p:nvPr userDrawn="1"/>
        </p:nvSpPr>
        <p:spPr>
          <a:xfrm>
            <a:off x="325704" y="193229"/>
            <a:ext cx="8489694" cy="544263"/>
          </a:xfrm>
          <a:prstGeom prst="rect">
            <a:avLst/>
          </a:prstGeom>
        </p:spPr>
        <p:txBody>
          <a:bodyPr lIns="71539" tIns="35770" rIns="71539" bIns="35770" anchor="ctr" anchorCtr="0"/>
          <a:lstStyle>
            <a:lvl1pPr marL="0" marR="0" indent="0" algn="l" defTabSz="995690" rtl="0" eaLnBrk="1" fontAlgn="auto" latinLnBrk="0" hangingPunct="1">
              <a:lnSpc>
                <a:spcPct val="100000"/>
              </a:lnSpc>
              <a:spcBef>
                <a:spcPts val="0"/>
              </a:spcBef>
              <a:spcAft>
                <a:spcPts val="0"/>
              </a:spcAft>
              <a:buClrTx/>
              <a:buSzTx/>
              <a:buFontTx/>
              <a:buNone/>
              <a:tabLst/>
              <a:defRPr sz="2200" b="1" i="0" kern="1200" baseline="0">
                <a:solidFill>
                  <a:schemeClr val="bg1"/>
                </a:solidFill>
                <a:latin typeface="Arial" pitchFamily="34" charset="0"/>
                <a:ea typeface="+mn-ea"/>
                <a:cs typeface="Arial" pitchFamily="34" charset="0"/>
              </a:defRPr>
            </a:lvl1pPr>
            <a:lvl2pPr marL="388942" indent="-190149" algn="l" defTabSz="995690" rtl="0" eaLnBrk="1" latinLnBrk="0" hangingPunct="1">
              <a:spcBef>
                <a:spcPts val="871"/>
              </a:spcBef>
              <a:buFont typeface="Symbol" pitchFamily="18" charset="2"/>
              <a:buChar char="-"/>
              <a:defRPr sz="2000" kern="1200">
                <a:solidFill>
                  <a:srgbClr val="002C59"/>
                </a:solidFill>
                <a:latin typeface="Arial" pitchFamily="34" charset="0"/>
                <a:ea typeface="+mn-ea"/>
                <a:cs typeface="Arial" pitchFamily="34" charset="0"/>
              </a:defRPr>
            </a:lvl2pPr>
            <a:lvl3pPr marL="587734" indent="-198793" algn="l" defTabSz="995690" rtl="0" eaLnBrk="1" latinLnBrk="0" hangingPunct="1">
              <a:spcBef>
                <a:spcPts val="871"/>
              </a:spcBef>
              <a:buFont typeface="Symbol" pitchFamily="18" charset="2"/>
              <a:buChar char="-"/>
              <a:defRPr sz="1700" kern="1200">
                <a:solidFill>
                  <a:srgbClr val="002C59"/>
                </a:solidFill>
                <a:latin typeface="Arial" pitchFamily="34" charset="0"/>
                <a:ea typeface="+mn-ea"/>
                <a:cs typeface="Arial" pitchFamily="34" charset="0"/>
              </a:defRPr>
            </a:lvl3pPr>
            <a:lvl4pPr marL="1493535" indent="0" algn="l" defTabSz="995690" rtl="0" eaLnBrk="1" latinLnBrk="0" hangingPunct="1">
              <a:spcBef>
                <a:spcPct val="20000"/>
              </a:spcBef>
              <a:buFontTx/>
              <a:buNone/>
              <a:defRPr sz="2200" kern="1200">
                <a:solidFill>
                  <a:schemeClr val="tx1"/>
                </a:solidFill>
                <a:latin typeface="+mn-lt"/>
                <a:ea typeface="+mn-ea"/>
                <a:cs typeface="+mn-cs"/>
              </a:defRPr>
            </a:lvl4pPr>
            <a:lvl5pPr marL="1991380" indent="0" algn="l" defTabSz="995690" rtl="0" eaLnBrk="1" latinLnBrk="0" hangingPunct="1">
              <a:spcBef>
                <a:spcPct val="20000"/>
              </a:spcBef>
              <a:buFontTx/>
              <a:buNone/>
              <a:defRPr sz="2200" kern="1200">
                <a:solidFill>
                  <a:schemeClr val="tx1"/>
                </a:solidFill>
                <a:latin typeface="+mn-lt"/>
                <a:ea typeface="+mn-ea"/>
                <a:cs typeface="+mn-cs"/>
              </a:defRPr>
            </a:lvl5pPr>
            <a:lvl6pPr marL="2738148" indent="-248923" algn="l" defTabSz="995690" rtl="0" eaLnBrk="1" latinLnBrk="0" hangingPunct="1">
              <a:spcBef>
                <a:spcPct val="20000"/>
              </a:spcBef>
              <a:buFont typeface="Arial" pitchFamily="34" charset="0"/>
              <a:buChar char="•"/>
              <a:defRPr sz="2200" kern="1200">
                <a:solidFill>
                  <a:schemeClr val="tx1"/>
                </a:solidFill>
                <a:latin typeface="+mn-lt"/>
                <a:ea typeface="+mn-ea"/>
                <a:cs typeface="+mn-cs"/>
              </a:defRPr>
            </a:lvl6pPr>
            <a:lvl7pPr marL="3235993" indent="-248923" algn="l" defTabSz="995690" rtl="0" eaLnBrk="1" latinLnBrk="0" hangingPunct="1">
              <a:spcBef>
                <a:spcPct val="20000"/>
              </a:spcBef>
              <a:buFont typeface="Arial" pitchFamily="34" charset="0"/>
              <a:buChar char="•"/>
              <a:defRPr sz="2200" kern="1200">
                <a:solidFill>
                  <a:schemeClr val="tx1"/>
                </a:solidFill>
                <a:latin typeface="+mn-lt"/>
                <a:ea typeface="+mn-ea"/>
                <a:cs typeface="+mn-cs"/>
              </a:defRPr>
            </a:lvl7pPr>
            <a:lvl8pPr marL="3733838" indent="-248923" algn="l" defTabSz="995690" rtl="0" eaLnBrk="1" latinLnBrk="0" hangingPunct="1">
              <a:spcBef>
                <a:spcPct val="20000"/>
              </a:spcBef>
              <a:buFont typeface="Arial" pitchFamily="34" charset="0"/>
              <a:buChar char="•"/>
              <a:defRPr sz="2200" kern="1200">
                <a:solidFill>
                  <a:schemeClr val="tx1"/>
                </a:solidFill>
                <a:latin typeface="+mn-lt"/>
                <a:ea typeface="+mn-ea"/>
                <a:cs typeface="+mn-cs"/>
              </a:defRPr>
            </a:lvl8pPr>
            <a:lvl9pPr marL="4231683" indent="-248923" algn="l" defTabSz="995690" rtl="0" eaLnBrk="1" latinLnBrk="0" hangingPunct="1">
              <a:spcBef>
                <a:spcPct val="20000"/>
              </a:spcBef>
              <a:buFont typeface="Arial" pitchFamily="34" charset="0"/>
              <a:buChar char="•"/>
              <a:defRPr sz="2200" kern="1200">
                <a:solidFill>
                  <a:schemeClr val="tx1"/>
                </a:solidFill>
                <a:latin typeface="+mn-lt"/>
                <a:ea typeface="+mn-ea"/>
                <a:cs typeface="+mn-cs"/>
              </a:defRPr>
            </a:lvl9pPr>
          </a:lstStyle>
          <a:p>
            <a:endParaRPr lang="de-DE" sz="2000" b="0" spc="23" dirty="0">
              <a:solidFill>
                <a:schemeClr val="bg1"/>
              </a:solidFill>
              <a:latin typeface="Arial"/>
              <a:cs typeface="Arial"/>
            </a:endParaRPr>
          </a:p>
        </p:txBody>
      </p:sp>
      <p:sp>
        <p:nvSpPr>
          <p:cNvPr id="11" name="Titelplatzhalter 1"/>
          <p:cNvSpPr>
            <a:spLocks noGrp="1"/>
          </p:cNvSpPr>
          <p:nvPr>
            <p:ph type="title"/>
          </p:nvPr>
        </p:nvSpPr>
        <p:spPr>
          <a:xfrm>
            <a:off x="365302" y="352916"/>
            <a:ext cx="8489694" cy="571834"/>
          </a:xfrm>
          <a:prstGeom prst="rect">
            <a:avLst/>
          </a:prstGeom>
          <a:noFill/>
          <a:ln>
            <a:noFill/>
          </a:ln>
        </p:spPr>
        <p:txBody>
          <a:bodyPr vert="horz" lIns="0" tIns="0" rIns="0" bIns="0" rtlCol="0" anchor="ctr" anchorCtr="0">
            <a:noAutofit/>
          </a:bodyPr>
          <a:lstStyle>
            <a:lvl1pPr>
              <a:defRPr sz="2000"/>
            </a:lvl1pPr>
          </a:lstStyle>
          <a:p>
            <a:r>
              <a:rPr lang="de-CH" noProof="0" dirty="0"/>
              <a:t>Mastertitelformat bearbeiten</a:t>
            </a:r>
          </a:p>
        </p:txBody>
      </p:sp>
      <p:sp>
        <p:nvSpPr>
          <p:cNvPr id="3" name="Content Placeholder 2">
            <a:extLst>
              <a:ext uri="{FF2B5EF4-FFF2-40B4-BE49-F238E27FC236}">
                <a16:creationId xmlns:a16="http://schemas.microsoft.com/office/drawing/2014/main" id="{397D6EDE-1D88-4253-A185-05406FA8DDDE}"/>
              </a:ext>
            </a:extLst>
          </p:cNvPr>
          <p:cNvSpPr>
            <a:spLocks noGrp="1"/>
          </p:cNvSpPr>
          <p:nvPr>
            <p:ph sz="quarter" idx="10"/>
          </p:nvPr>
        </p:nvSpPr>
        <p:spPr>
          <a:xfrm>
            <a:off x="358775" y="1239838"/>
            <a:ext cx="4141217" cy="3276600"/>
          </a:xfrm>
        </p:spPr>
        <p:txBody>
          <a:bodyPr/>
          <a:lstStyle/>
          <a:p>
            <a:pPr lvl="0"/>
            <a:r>
              <a:rPr lang="de-CH" noProof="0" dirty="0"/>
              <a:t>Mastertextformat bearbeiten</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
        <p:nvSpPr>
          <p:cNvPr id="8" name="Content Placeholder 2">
            <a:extLst>
              <a:ext uri="{FF2B5EF4-FFF2-40B4-BE49-F238E27FC236}">
                <a16:creationId xmlns:a16="http://schemas.microsoft.com/office/drawing/2014/main" id="{9388E4BF-9923-4166-A68B-00FA49283DC2}"/>
              </a:ext>
            </a:extLst>
          </p:cNvPr>
          <p:cNvSpPr>
            <a:spLocks noGrp="1"/>
          </p:cNvSpPr>
          <p:nvPr>
            <p:ph sz="quarter" idx="11"/>
          </p:nvPr>
        </p:nvSpPr>
        <p:spPr>
          <a:xfrm>
            <a:off x="4716016" y="1239838"/>
            <a:ext cx="4141217" cy="3276600"/>
          </a:xfrm>
        </p:spPr>
        <p:txBody>
          <a:bodyPr/>
          <a:lstStyle/>
          <a:p>
            <a:pPr lvl="0"/>
            <a:r>
              <a:rPr lang="de-CH" noProof="0" dirty="0"/>
              <a:t>Mastertextformat bearbeiten</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
        <p:nvSpPr>
          <p:cNvPr id="2" name="Foliennummernplatzhalter 6">
            <a:extLst>
              <a:ext uri="{FF2B5EF4-FFF2-40B4-BE49-F238E27FC236}">
                <a16:creationId xmlns:a16="http://schemas.microsoft.com/office/drawing/2014/main" id="{C97FF19A-5769-4781-9C13-B9762E77127B}"/>
              </a:ext>
            </a:extLst>
          </p:cNvPr>
          <p:cNvSpPr>
            <a:spLocks noGrp="1"/>
          </p:cNvSpPr>
          <p:nvPr>
            <p:ph type="sldNum" sz="quarter" idx="4"/>
          </p:nvPr>
        </p:nvSpPr>
        <p:spPr>
          <a:xfrm>
            <a:off x="5732891" y="4931889"/>
            <a:ext cx="711317" cy="107722"/>
          </a:xfrm>
          <a:prstGeom prst="rect">
            <a:avLst/>
          </a:prstGeom>
          <a:noFill/>
        </p:spPr>
        <p:txBody>
          <a:bodyPr vert="horz" wrap="square" lIns="0" tIns="0" rIns="0" bIns="0" rtlCol="0" anchor="ctr" anchorCtr="0">
            <a:spAutoFit/>
          </a:bodyPr>
          <a:lstStyle>
            <a:lvl1pPr algn="l">
              <a:defRPr lang="de-CH" sz="700" smtClean="0">
                <a:solidFill>
                  <a:srgbClr val="012C59"/>
                </a:solidFill>
              </a:defRPr>
            </a:lvl1pPr>
          </a:lstStyle>
          <a:p>
            <a:pPr algn="ctr"/>
            <a:fld id="{05F9AC53-F790-4868-97E7-45E3866EE614}" type="slidenum">
              <a:rPr lang="de-CH" smtClean="0"/>
              <a:pPr algn="ctr"/>
              <a:t>‹Nr.›</a:t>
            </a:fld>
            <a:r>
              <a:rPr lang="de-CH" dirty="0"/>
              <a:t> </a:t>
            </a:r>
          </a:p>
        </p:txBody>
      </p:sp>
      <p:sp>
        <p:nvSpPr>
          <p:cNvPr id="4" name="Datumsplatzhalter 1">
            <a:extLst>
              <a:ext uri="{FF2B5EF4-FFF2-40B4-BE49-F238E27FC236}">
                <a16:creationId xmlns:a16="http://schemas.microsoft.com/office/drawing/2014/main" id="{5D61F2BC-1571-2933-CDAC-F84800ACECC1}"/>
              </a:ext>
            </a:extLst>
          </p:cNvPr>
          <p:cNvSpPr>
            <a:spLocks noGrp="1"/>
          </p:cNvSpPr>
          <p:nvPr>
            <p:ph type="dt" sz="half" idx="2"/>
          </p:nvPr>
        </p:nvSpPr>
        <p:spPr>
          <a:xfrm>
            <a:off x="366713" y="4931889"/>
            <a:ext cx="1292922" cy="107722"/>
          </a:xfrm>
          <a:prstGeom prst="rect">
            <a:avLst/>
          </a:prstGeom>
          <a:noFill/>
        </p:spPr>
        <p:txBody>
          <a:bodyPr vert="horz" wrap="square" lIns="0" tIns="0" rIns="0" bIns="0" rtlCol="0" anchor="ctr" anchorCtr="0">
            <a:spAutoFit/>
          </a:bodyPr>
          <a:lstStyle>
            <a:lvl1pPr>
              <a:defRPr lang="de-CH" sz="700" smtClean="0">
                <a:solidFill>
                  <a:srgbClr val="012C59"/>
                </a:solidFill>
              </a:defRPr>
            </a:lvl1pPr>
          </a:lstStyle>
          <a:p>
            <a:endParaRPr lang="de-DE" dirty="0"/>
          </a:p>
        </p:txBody>
      </p:sp>
      <p:sp>
        <p:nvSpPr>
          <p:cNvPr id="7" name="Fußzeilenplatzhalter 7">
            <a:extLst>
              <a:ext uri="{FF2B5EF4-FFF2-40B4-BE49-F238E27FC236}">
                <a16:creationId xmlns:a16="http://schemas.microsoft.com/office/drawing/2014/main" id="{3B85A2C4-9380-14E7-4BF4-9AE6D61E5317}"/>
              </a:ext>
            </a:extLst>
          </p:cNvPr>
          <p:cNvSpPr>
            <a:spLocks noGrp="1"/>
          </p:cNvSpPr>
          <p:nvPr>
            <p:ph type="ftr" sz="quarter" idx="3"/>
          </p:nvPr>
        </p:nvSpPr>
        <p:spPr>
          <a:xfrm>
            <a:off x="2247829" y="4931889"/>
            <a:ext cx="2896867" cy="107722"/>
          </a:xfrm>
          <a:prstGeom prst="rect">
            <a:avLst/>
          </a:prstGeom>
        </p:spPr>
        <p:txBody>
          <a:bodyPr vert="horz" lIns="0" tIns="0" rIns="0" bIns="0" rtlCol="0" anchor="ctr">
            <a:spAutoFit/>
          </a:bodyPr>
          <a:lstStyle>
            <a:lvl1pPr algn="l">
              <a:defRPr sz="700">
                <a:solidFill>
                  <a:schemeClr val="tx1">
                    <a:tint val="75000"/>
                  </a:schemeClr>
                </a:solidFill>
              </a:defRPr>
            </a:lvl1pPr>
          </a:lstStyle>
          <a:p>
            <a:r>
              <a:rPr lang="de-CH">
                <a:solidFill>
                  <a:srgbClr val="012C59"/>
                </a:solidFill>
              </a:rPr>
              <a:t>CAS Pricing</a:t>
            </a:r>
            <a:endParaRPr lang="de-CH" dirty="0">
              <a:solidFill>
                <a:srgbClr val="012C59"/>
              </a:solidFill>
            </a:endParaRPr>
          </a:p>
        </p:txBody>
      </p:sp>
    </p:spTree>
    <p:extLst>
      <p:ext uri="{BB962C8B-B14F-4D97-AF65-F5344CB8AC3E}">
        <p14:creationId xmlns:p14="http://schemas.microsoft.com/office/powerpoint/2010/main" val="2710515685"/>
      </p:ext>
    </p:extLst>
  </p:cSld>
  <p:clrMapOvr>
    <a:masterClrMapping/>
  </p:clrMapOvr>
  <p:extLst>
    <p:ext uri="{DCECCB84-F9BA-43D5-87BE-67443E8EF086}">
      <p15:sldGuideLst xmlns:p15="http://schemas.microsoft.com/office/powerpoint/2012/main">
        <p15:guide id="1" orient="horz" pos="2845">
          <p15:clr>
            <a:srgbClr val="FBAE40"/>
          </p15:clr>
        </p15:guide>
        <p15:guide id="2" orient="horz" pos="781">
          <p15:clr>
            <a:srgbClr val="FBAE40"/>
          </p15:clr>
        </p15:guide>
        <p15:guide id="3" pos="2971" userDrawn="1">
          <p15:clr>
            <a:srgbClr val="FBAE40"/>
          </p15:clr>
        </p15:guide>
        <p15:guide id="4" pos="2835"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Zwei Inhalte - klein">
    <p:spTree>
      <p:nvGrpSpPr>
        <p:cNvPr id="1" name=""/>
        <p:cNvGrpSpPr/>
        <p:nvPr/>
      </p:nvGrpSpPr>
      <p:grpSpPr>
        <a:xfrm>
          <a:off x="0" y="0"/>
          <a:ext cx="0" cy="0"/>
          <a:chOff x="0" y="0"/>
          <a:chExt cx="0" cy="0"/>
        </a:xfrm>
      </p:grpSpPr>
      <p:sp>
        <p:nvSpPr>
          <p:cNvPr id="10" name="Textplatzhalter 2"/>
          <p:cNvSpPr txBox="1">
            <a:spLocks/>
          </p:cNvSpPr>
          <p:nvPr userDrawn="1"/>
        </p:nvSpPr>
        <p:spPr>
          <a:xfrm>
            <a:off x="325704" y="193229"/>
            <a:ext cx="8489694" cy="544263"/>
          </a:xfrm>
          <a:prstGeom prst="rect">
            <a:avLst/>
          </a:prstGeom>
        </p:spPr>
        <p:txBody>
          <a:bodyPr lIns="71539" tIns="35770" rIns="71539" bIns="35770" anchor="ctr" anchorCtr="0"/>
          <a:lstStyle>
            <a:lvl1pPr marL="0" marR="0" indent="0" algn="l" defTabSz="995690" rtl="0" eaLnBrk="1" fontAlgn="auto" latinLnBrk="0" hangingPunct="1">
              <a:lnSpc>
                <a:spcPct val="100000"/>
              </a:lnSpc>
              <a:spcBef>
                <a:spcPts val="0"/>
              </a:spcBef>
              <a:spcAft>
                <a:spcPts val="0"/>
              </a:spcAft>
              <a:buClrTx/>
              <a:buSzTx/>
              <a:buFontTx/>
              <a:buNone/>
              <a:tabLst/>
              <a:defRPr sz="2200" b="1" i="0" kern="1200" baseline="0">
                <a:solidFill>
                  <a:schemeClr val="bg1"/>
                </a:solidFill>
                <a:latin typeface="Arial" pitchFamily="34" charset="0"/>
                <a:ea typeface="+mn-ea"/>
                <a:cs typeface="Arial" pitchFamily="34" charset="0"/>
              </a:defRPr>
            </a:lvl1pPr>
            <a:lvl2pPr marL="388942" indent="-190149" algn="l" defTabSz="995690" rtl="0" eaLnBrk="1" latinLnBrk="0" hangingPunct="1">
              <a:spcBef>
                <a:spcPts val="871"/>
              </a:spcBef>
              <a:buFont typeface="Symbol" pitchFamily="18" charset="2"/>
              <a:buChar char="-"/>
              <a:defRPr sz="2000" kern="1200">
                <a:solidFill>
                  <a:srgbClr val="002C59"/>
                </a:solidFill>
                <a:latin typeface="Arial" pitchFamily="34" charset="0"/>
                <a:ea typeface="+mn-ea"/>
                <a:cs typeface="Arial" pitchFamily="34" charset="0"/>
              </a:defRPr>
            </a:lvl2pPr>
            <a:lvl3pPr marL="587734" indent="-198793" algn="l" defTabSz="995690" rtl="0" eaLnBrk="1" latinLnBrk="0" hangingPunct="1">
              <a:spcBef>
                <a:spcPts val="871"/>
              </a:spcBef>
              <a:buFont typeface="Symbol" pitchFamily="18" charset="2"/>
              <a:buChar char="-"/>
              <a:defRPr sz="1700" kern="1200">
                <a:solidFill>
                  <a:srgbClr val="002C59"/>
                </a:solidFill>
                <a:latin typeface="Arial" pitchFamily="34" charset="0"/>
                <a:ea typeface="+mn-ea"/>
                <a:cs typeface="Arial" pitchFamily="34" charset="0"/>
              </a:defRPr>
            </a:lvl3pPr>
            <a:lvl4pPr marL="1493535" indent="0" algn="l" defTabSz="995690" rtl="0" eaLnBrk="1" latinLnBrk="0" hangingPunct="1">
              <a:spcBef>
                <a:spcPct val="20000"/>
              </a:spcBef>
              <a:buFontTx/>
              <a:buNone/>
              <a:defRPr sz="2200" kern="1200">
                <a:solidFill>
                  <a:schemeClr val="tx1"/>
                </a:solidFill>
                <a:latin typeface="+mn-lt"/>
                <a:ea typeface="+mn-ea"/>
                <a:cs typeface="+mn-cs"/>
              </a:defRPr>
            </a:lvl4pPr>
            <a:lvl5pPr marL="1991380" indent="0" algn="l" defTabSz="995690" rtl="0" eaLnBrk="1" latinLnBrk="0" hangingPunct="1">
              <a:spcBef>
                <a:spcPct val="20000"/>
              </a:spcBef>
              <a:buFontTx/>
              <a:buNone/>
              <a:defRPr sz="2200" kern="1200">
                <a:solidFill>
                  <a:schemeClr val="tx1"/>
                </a:solidFill>
                <a:latin typeface="+mn-lt"/>
                <a:ea typeface="+mn-ea"/>
                <a:cs typeface="+mn-cs"/>
              </a:defRPr>
            </a:lvl5pPr>
            <a:lvl6pPr marL="2738148" indent="-248923" algn="l" defTabSz="995690" rtl="0" eaLnBrk="1" latinLnBrk="0" hangingPunct="1">
              <a:spcBef>
                <a:spcPct val="20000"/>
              </a:spcBef>
              <a:buFont typeface="Arial" pitchFamily="34" charset="0"/>
              <a:buChar char="•"/>
              <a:defRPr sz="2200" kern="1200">
                <a:solidFill>
                  <a:schemeClr val="tx1"/>
                </a:solidFill>
                <a:latin typeface="+mn-lt"/>
                <a:ea typeface="+mn-ea"/>
                <a:cs typeface="+mn-cs"/>
              </a:defRPr>
            </a:lvl6pPr>
            <a:lvl7pPr marL="3235993" indent="-248923" algn="l" defTabSz="995690" rtl="0" eaLnBrk="1" latinLnBrk="0" hangingPunct="1">
              <a:spcBef>
                <a:spcPct val="20000"/>
              </a:spcBef>
              <a:buFont typeface="Arial" pitchFamily="34" charset="0"/>
              <a:buChar char="•"/>
              <a:defRPr sz="2200" kern="1200">
                <a:solidFill>
                  <a:schemeClr val="tx1"/>
                </a:solidFill>
                <a:latin typeface="+mn-lt"/>
                <a:ea typeface="+mn-ea"/>
                <a:cs typeface="+mn-cs"/>
              </a:defRPr>
            </a:lvl7pPr>
            <a:lvl8pPr marL="3733838" indent="-248923" algn="l" defTabSz="995690" rtl="0" eaLnBrk="1" latinLnBrk="0" hangingPunct="1">
              <a:spcBef>
                <a:spcPct val="20000"/>
              </a:spcBef>
              <a:buFont typeface="Arial" pitchFamily="34" charset="0"/>
              <a:buChar char="•"/>
              <a:defRPr sz="2200" kern="1200">
                <a:solidFill>
                  <a:schemeClr val="tx1"/>
                </a:solidFill>
                <a:latin typeface="+mn-lt"/>
                <a:ea typeface="+mn-ea"/>
                <a:cs typeface="+mn-cs"/>
              </a:defRPr>
            </a:lvl8pPr>
            <a:lvl9pPr marL="4231683" indent="-248923" algn="l" defTabSz="995690" rtl="0" eaLnBrk="1" latinLnBrk="0" hangingPunct="1">
              <a:spcBef>
                <a:spcPct val="20000"/>
              </a:spcBef>
              <a:buFont typeface="Arial" pitchFamily="34" charset="0"/>
              <a:buChar char="•"/>
              <a:defRPr sz="2200" kern="1200">
                <a:solidFill>
                  <a:schemeClr val="tx1"/>
                </a:solidFill>
                <a:latin typeface="+mn-lt"/>
                <a:ea typeface="+mn-ea"/>
                <a:cs typeface="+mn-cs"/>
              </a:defRPr>
            </a:lvl9pPr>
          </a:lstStyle>
          <a:p>
            <a:endParaRPr lang="de-DE" sz="2000" b="0" spc="23" dirty="0">
              <a:solidFill>
                <a:schemeClr val="bg1"/>
              </a:solidFill>
              <a:latin typeface="Arial"/>
              <a:cs typeface="Arial"/>
            </a:endParaRPr>
          </a:p>
        </p:txBody>
      </p:sp>
      <p:sp>
        <p:nvSpPr>
          <p:cNvPr id="11" name="Titelplatzhalter 1"/>
          <p:cNvSpPr>
            <a:spLocks noGrp="1"/>
          </p:cNvSpPr>
          <p:nvPr>
            <p:ph type="title"/>
          </p:nvPr>
        </p:nvSpPr>
        <p:spPr>
          <a:xfrm>
            <a:off x="365302" y="352916"/>
            <a:ext cx="8489694" cy="571834"/>
          </a:xfrm>
          <a:prstGeom prst="rect">
            <a:avLst/>
          </a:prstGeom>
          <a:noFill/>
          <a:ln>
            <a:noFill/>
          </a:ln>
        </p:spPr>
        <p:txBody>
          <a:bodyPr vert="horz" lIns="0" tIns="0" rIns="0" bIns="0" rtlCol="0" anchor="ctr" anchorCtr="0">
            <a:noAutofit/>
          </a:bodyPr>
          <a:lstStyle>
            <a:lvl1pPr>
              <a:defRPr sz="2000"/>
            </a:lvl1pPr>
          </a:lstStyle>
          <a:p>
            <a:r>
              <a:rPr lang="de-CH" noProof="0" dirty="0"/>
              <a:t>Mastertitelformat bearbeiten</a:t>
            </a:r>
          </a:p>
        </p:txBody>
      </p:sp>
      <p:sp>
        <p:nvSpPr>
          <p:cNvPr id="3" name="Content Placeholder 2">
            <a:extLst>
              <a:ext uri="{FF2B5EF4-FFF2-40B4-BE49-F238E27FC236}">
                <a16:creationId xmlns:a16="http://schemas.microsoft.com/office/drawing/2014/main" id="{397D6EDE-1D88-4253-A185-05406FA8DDDE}"/>
              </a:ext>
            </a:extLst>
          </p:cNvPr>
          <p:cNvSpPr>
            <a:spLocks noGrp="1"/>
          </p:cNvSpPr>
          <p:nvPr>
            <p:ph sz="quarter" idx="10"/>
          </p:nvPr>
        </p:nvSpPr>
        <p:spPr>
          <a:xfrm>
            <a:off x="358775" y="1249200"/>
            <a:ext cx="4141217" cy="3267238"/>
          </a:xfrm>
        </p:spPr>
        <p:txBody>
          <a:bodyPr/>
          <a:lstStyle>
            <a:lvl1pPr>
              <a:defRPr sz="1400"/>
            </a:lvl1pPr>
            <a:lvl2pPr>
              <a:defRPr sz="1200"/>
            </a:lvl2pPr>
            <a:lvl3pPr>
              <a:defRPr sz="1200"/>
            </a:lvl3pPr>
            <a:lvl4pPr>
              <a:defRPr sz="1200"/>
            </a:lvl4pPr>
            <a:lvl5pPr>
              <a:defRPr sz="1200"/>
            </a:lvl5pPr>
          </a:lstStyle>
          <a:p>
            <a:pPr lvl="0"/>
            <a:r>
              <a:rPr lang="de-CH" noProof="0" dirty="0"/>
              <a:t>Mastertextformat bearbeiten</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
        <p:nvSpPr>
          <p:cNvPr id="8" name="Content Placeholder 2">
            <a:extLst>
              <a:ext uri="{FF2B5EF4-FFF2-40B4-BE49-F238E27FC236}">
                <a16:creationId xmlns:a16="http://schemas.microsoft.com/office/drawing/2014/main" id="{9388E4BF-9923-4166-A68B-00FA49283DC2}"/>
              </a:ext>
            </a:extLst>
          </p:cNvPr>
          <p:cNvSpPr>
            <a:spLocks noGrp="1"/>
          </p:cNvSpPr>
          <p:nvPr>
            <p:ph sz="quarter" idx="11"/>
          </p:nvPr>
        </p:nvSpPr>
        <p:spPr>
          <a:xfrm>
            <a:off x="4716016" y="1249200"/>
            <a:ext cx="4141217" cy="3267238"/>
          </a:xfrm>
        </p:spPr>
        <p:txBody>
          <a:bodyPr/>
          <a:lstStyle>
            <a:lvl1pPr>
              <a:defRPr sz="1400"/>
            </a:lvl1pPr>
            <a:lvl2pPr>
              <a:defRPr sz="1200"/>
            </a:lvl2pPr>
            <a:lvl3pPr>
              <a:defRPr sz="1200"/>
            </a:lvl3pPr>
            <a:lvl4pPr>
              <a:defRPr sz="1200"/>
            </a:lvl4pPr>
            <a:lvl5pPr>
              <a:defRPr sz="1200"/>
            </a:lvl5pPr>
          </a:lstStyle>
          <a:p>
            <a:pPr lvl="0"/>
            <a:r>
              <a:rPr lang="de-CH" noProof="0" dirty="0"/>
              <a:t>Mastertextformat bearbeiten</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
        <p:nvSpPr>
          <p:cNvPr id="2" name="Foliennummernplatzhalter 6">
            <a:extLst>
              <a:ext uri="{FF2B5EF4-FFF2-40B4-BE49-F238E27FC236}">
                <a16:creationId xmlns:a16="http://schemas.microsoft.com/office/drawing/2014/main" id="{3F33BEC8-AA13-40EC-7401-B3F97BA7A751}"/>
              </a:ext>
            </a:extLst>
          </p:cNvPr>
          <p:cNvSpPr>
            <a:spLocks noGrp="1"/>
          </p:cNvSpPr>
          <p:nvPr>
            <p:ph type="sldNum" sz="quarter" idx="4"/>
          </p:nvPr>
        </p:nvSpPr>
        <p:spPr>
          <a:xfrm>
            <a:off x="5732891" y="4931889"/>
            <a:ext cx="711317" cy="107722"/>
          </a:xfrm>
          <a:prstGeom prst="rect">
            <a:avLst/>
          </a:prstGeom>
          <a:noFill/>
        </p:spPr>
        <p:txBody>
          <a:bodyPr vert="horz" wrap="square" lIns="0" tIns="0" rIns="0" bIns="0" rtlCol="0" anchor="ctr" anchorCtr="0">
            <a:spAutoFit/>
          </a:bodyPr>
          <a:lstStyle>
            <a:lvl1pPr algn="l">
              <a:defRPr lang="de-CH" sz="700" smtClean="0">
                <a:solidFill>
                  <a:srgbClr val="012C59"/>
                </a:solidFill>
              </a:defRPr>
            </a:lvl1pPr>
          </a:lstStyle>
          <a:p>
            <a:pPr algn="ctr"/>
            <a:fld id="{05F9AC53-F790-4868-97E7-45E3866EE614}" type="slidenum">
              <a:rPr lang="de-CH" smtClean="0"/>
              <a:pPr algn="ctr"/>
              <a:t>‹Nr.›</a:t>
            </a:fld>
            <a:r>
              <a:rPr lang="de-CH" dirty="0"/>
              <a:t> </a:t>
            </a:r>
          </a:p>
        </p:txBody>
      </p:sp>
      <p:sp>
        <p:nvSpPr>
          <p:cNvPr id="4" name="Datumsplatzhalter 1">
            <a:extLst>
              <a:ext uri="{FF2B5EF4-FFF2-40B4-BE49-F238E27FC236}">
                <a16:creationId xmlns:a16="http://schemas.microsoft.com/office/drawing/2014/main" id="{77432C70-9469-F544-D9C2-9A53E3ADA71F}"/>
              </a:ext>
            </a:extLst>
          </p:cNvPr>
          <p:cNvSpPr>
            <a:spLocks noGrp="1"/>
          </p:cNvSpPr>
          <p:nvPr>
            <p:ph type="dt" sz="half" idx="2"/>
          </p:nvPr>
        </p:nvSpPr>
        <p:spPr>
          <a:xfrm>
            <a:off x="366713" y="4931889"/>
            <a:ext cx="1292922" cy="107722"/>
          </a:xfrm>
          <a:prstGeom prst="rect">
            <a:avLst/>
          </a:prstGeom>
          <a:noFill/>
        </p:spPr>
        <p:txBody>
          <a:bodyPr vert="horz" wrap="square" lIns="0" tIns="0" rIns="0" bIns="0" rtlCol="0" anchor="ctr" anchorCtr="0">
            <a:spAutoFit/>
          </a:bodyPr>
          <a:lstStyle>
            <a:lvl1pPr>
              <a:defRPr lang="de-CH" sz="700" smtClean="0">
                <a:solidFill>
                  <a:srgbClr val="012C59"/>
                </a:solidFill>
              </a:defRPr>
            </a:lvl1pPr>
          </a:lstStyle>
          <a:p>
            <a:endParaRPr lang="de-DE" dirty="0"/>
          </a:p>
        </p:txBody>
      </p:sp>
      <p:sp>
        <p:nvSpPr>
          <p:cNvPr id="7" name="Fußzeilenplatzhalter 7">
            <a:extLst>
              <a:ext uri="{FF2B5EF4-FFF2-40B4-BE49-F238E27FC236}">
                <a16:creationId xmlns:a16="http://schemas.microsoft.com/office/drawing/2014/main" id="{7D11A5DA-460F-A6A9-AFEB-4EE992A62AF4}"/>
              </a:ext>
            </a:extLst>
          </p:cNvPr>
          <p:cNvSpPr>
            <a:spLocks noGrp="1"/>
          </p:cNvSpPr>
          <p:nvPr>
            <p:ph type="ftr" sz="quarter" idx="3"/>
          </p:nvPr>
        </p:nvSpPr>
        <p:spPr>
          <a:xfrm>
            <a:off x="2247829" y="4931889"/>
            <a:ext cx="2896867" cy="107722"/>
          </a:xfrm>
          <a:prstGeom prst="rect">
            <a:avLst/>
          </a:prstGeom>
        </p:spPr>
        <p:txBody>
          <a:bodyPr vert="horz" lIns="0" tIns="0" rIns="0" bIns="0" rtlCol="0" anchor="ctr">
            <a:spAutoFit/>
          </a:bodyPr>
          <a:lstStyle>
            <a:lvl1pPr algn="l">
              <a:defRPr sz="700">
                <a:solidFill>
                  <a:schemeClr val="tx1">
                    <a:tint val="75000"/>
                  </a:schemeClr>
                </a:solidFill>
              </a:defRPr>
            </a:lvl1pPr>
          </a:lstStyle>
          <a:p>
            <a:r>
              <a:rPr lang="de-CH">
                <a:solidFill>
                  <a:srgbClr val="012C59"/>
                </a:solidFill>
              </a:rPr>
              <a:t>CAS Pricing</a:t>
            </a:r>
            <a:endParaRPr lang="de-CH" dirty="0">
              <a:solidFill>
                <a:srgbClr val="012C59"/>
              </a:solidFill>
            </a:endParaRPr>
          </a:p>
        </p:txBody>
      </p:sp>
    </p:spTree>
    <p:extLst>
      <p:ext uri="{BB962C8B-B14F-4D97-AF65-F5344CB8AC3E}">
        <p14:creationId xmlns:p14="http://schemas.microsoft.com/office/powerpoint/2010/main" val="60430455"/>
      </p:ext>
    </p:extLst>
  </p:cSld>
  <p:clrMapOvr>
    <a:masterClrMapping/>
  </p:clrMapOvr>
  <p:extLst>
    <p:ext uri="{DCECCB84-F9BA-43D5-87BE-67443E8EF086}">
      <p15:sldGuideLst xmlns:p15="http://schemas.microsoft.com/office/powerpoint/2012/main">
        <p15:guide id="1" orient="horz" pos="2845">
          <p15:clr>
            <a:srgbClr val="FBAE40"/>
          </p15:clr>
        </p15:guide>
        <p15:guide id="2" orient="horz" pos="781">
          <p15:clr>
            <a:srgbClr val="FBAE40"/>
          </p15:clr>
        </p15:guide>
        <p15:guide id="3" pos="2971">
          <p15:clr>
            <a:srgbClr val="FBAE40"/>
          </p15:clr>
        </p15:guide>
        <p15:guide id="4" pos="2835">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rei Inhalte - klein">
    <p:spTree>
      <p:nvGrpSpPr>
        <p:cNvPr id="1" name=""/>
        <p:cNvGrpSpPr/>
        <p:nvPr/>
      </p:nvGrpSpPr>
      <p:grpSpPr>
        <a:xfrm>
          <a:off x="0" y="0"/>
          <a:ext cx="0" cy="0"/>
          <a:chOff x="0" y="0"/>
          <a:chExt cx="0" cy="0"/>
        </a:xfrm>
      </p:grpSpPr>
      <p:sp>
        <p:nvSpPr>
          <p:cNvPr id="10" name="Textplatzhalter 2"/>
          <p:cNvSpPr txBox="1">
            <a:spLocks/>
          </p:cNvSpPr>
          <p:nvPr userDrawn="1"/>
        </p:nvSpPr>
        <p:spPr>
          <a:xfrm>
            <a:off x="325704" y="193229"/>
            <a:ext cx="8489694" cy="544263"/>
          </a:xfrm>
          <a:prstGeom prst="rect">
            <a:avLst/>
          </a:prstGeom>
        </p:spPr>
        <p:txBody>
          <a:bodyPr lIns="71539" tIns="35770" rIns="71539" bIns="35770" anchor="ctr" anchorCtr="0"/>
          <a:lstStyle>
            <a:lvl1pPr marL="0" marR="0" indent="0" algn="l" defTabSz="995690" rtl="0" eaLnBrk="1" fontAlgn="auto" latinLnBrk="0" hangingPunct="1">
              <a:lnSpc>
                <a:spcPct val="100000"/>
              </a:lnSpc>
              <a:spcBef>
                <a:spcPts val="0"/>
              </a:spcBef>
              <a:spcAft>
                <a:spcPts val="0"/>
              </a:spcAft>
              <a:buClrTx/>
              <a:buSzTx/>
              <a:buFontTx/>
              <a:buNone/>
              <a:tabLst/>
              <a:defRPr sz="2200" b="1" i="0" kern="1200" baseline="0">
                <a:solidFill>
                  <a:schemeClr val="bg1"/>
                </a:solidFill>
                <a:latin typeface="Arial" pitchFamily="34" charset="0"/>
                <a:ea typeface="+mn-ea"/>
                <a:cs typeface="Arial" pitchFamily="34" charset="0"/>
              </a:defRPr>
            </a:lvl1pPr>
            <a:lvl2pPr marL="388942" indent="-190149" algn="l" defTabSz="995690" rtl="0" eaLnBrk="1" latinLnBrk="0" hangingPunct="1">
              <a:spcBef>
                <a:spcPts val="871"/>
              </a:spcBef>
              <a:buFont typeface="Symbol" pitchFamily="18" charset="2"/>
              <a:buChar char="-"/>
              <a:defRPr sz="2000" kern="1200">
                <a:solidFill>
                  <a:srgbClr val="002C59"/>
                </a:solidFill>
                <a:latin typeface="Arial" pitchFamily="34" charset="0"/>
                <a:ea typeface="+mn-ea"/>
                <a:cs typeface="Arial" pitchFamily="34" charset="0"/>
              </a:defRPr>
            </a:lvl2pPr>
            <a:lvl3pPr marL="587734" indent="-198793" algn="l" defTabSz="995690" rtl="0" eaLnBrk="1" latinLnBrk="0" hangingPunct="1">
              <a:spcBef>
                <a:spcPts val="871"/>
              </a:spcBef>
              <a:buFont typeface="Symbol" pitchFamily="18" charset="2"/>
              <a:buChar char="-"/>
              <a:defRPr sz="1700" kern="1200">
                <a:solidFill>
                  <a:srgbClr val="002C59"/>
                </a:solidFill>
                <a:latin typeface="Arial" pitchFamily="34" charset="0"/>
                <a:ea typeface="+mn-ea"/>
                <a:cs typeface="Arial" pitchFamily="34" charset="0"/>
              </a:defRPr>
            </a:lvl3pPr>
            <a:lvl4pPr marL="1493535" indent="0" algn="l" defTabSz="995690" rtl="0" eaLnBrk="1" latinLnBrk="0" hangingPunct="1">
              <a:spcBef>
                <a:spcPct val="20000"/>
              </a:spcBef>
              <a:buFontTx/>
              <a:buNone/>
              <a:defRPr sz="2200" kern="1200">
                <a:solidFill>
                  <a:schemeClr val="tx1"/>
                </a:solidFill>
                <a:latin typeface="+mn-lt"/>
                <a:ea typeface="+mn-ea"/>
                <a:cs typeface="+mn-cs"/>
              </a:defRPr>
            </a:lvl4pPr>
            <a:lvl5pPr marL="1991380" indent="0" algn="l" defTabSz="995690" rtl="0" eaLnBrk="1" latinLnBrk="0" hangingPunct="1">
              <a:spcBef>
                <a:spcPct val="20000"/>
              </a:spcBef>
              <a:buFontTx/>
              <a:buNone/>
              <a:defRPr sz="2200" kern="1200">
                <a:solidFill>
                  <a:schemeClr val="tx1"/>
                </a:solidFill>
                <a:latin typeface="+mn-lt"/>
                <a:ea typeface="+mn-ea"/>
                <a:cs typeface="+mn-cs"/>
              </a:defRPr>
            </a:lvl5pPr>
            <a:lvl6pPr marL="2738148" indent="-248923" algn="l" defTabSz="995690" rtl="0" eaLnBrk="1" latinLnBrk="0" hangingPunct="1">
              <a:spcBef>
                <a:spcPct val="20000"/>
              </a:spcBef>
              <a:buFont typeface="Arial" pitchFamily="34" charset="0"/>
              <a:buChar char="•"/>
              <a:defRPr sz="2200" kern="1200">
                <a:solidFill>
                  <a:schemeClr val="tx1"/>
                </a:solidFill>
                <a:latin typeface="+mn-lt"/>
                <a:ea typeface="+mn-ea"/>
                <a:cs typeface="+mn-cs"/>
              </a:defRPr>
            </a:lvl6pPr>
            <a:lvl7pPr marL="3235993" indent="-248923" algn="l" defTabSz="995690" rtl="0" eaLnBrk="1" latinLnBrk="0" hangingPunct="1">
              <a:spcBef>
                <a:spcPct val="20000"/>
              </a:spcBef>
              <a:buFont typeface="Arial" pitchFamily="34" charset="0"/>
              <a:buChar char="•"/>
              <a:defRPr sz="2200" kern="1200">
                <a:solidFill>
                  <a:schemeClr val="tx1"/>
                </a:solidFill>
                <a:latin typeface="+mn-lt"/>
                <a:ea typeface="+mn-ea"/>
                <a:cs typeface="+mn-cs"/>
              </a:defRPr>
            </a:lvl7pPr>
            <a:lvl8pPr marL="3733838" indent="-248923" algn="l" defTabSz="995690" rtl="0" eaLnBrk="1" latinLnBrk="0" hangingPunct="1">
              <a:spcBef>
                <a:spcPct val="20000"/>
              </a:spcBef>
              <a:buFont typeface="Arial" pitchFamily="34" charset="0"/>
              <a:buChar char="•"/>
              <a:defRPr sz="2200" kern="1200">
                <a:solidFill>
                  <a:schemeClr val="tx1"/>
                </a:solidFill>
                <a:latin typeface="+mn-lt"/>
                <a:ea typeface="+mn-ea"/>
                <a:cs typeface="+mn-cs"/>
              </a:defRPr>
            </a:lvl8pPr>
            <a:lvl9pPr marL="4231683" indent="-248923" algn="l" defTabSz="995690" rtl="0" eaLnBrk="1" latinLnBrk="0" hangingPunct="1">
              <a:spcBef>
                <a:spcPct val="20000"/>
              </a:spcBef>
              <a:buFont typeface="Arial" pitchFamily="34" charset="0"/>
              <a:buChar char="•"/>
              <a:defRPr sz="2200" kern="1200">
                <a:solidFill>
                  <a:schemeClr val="tx1"/>
                </a:solidFill>
                <a:latin typeface="+mn-lt"/>
                <a:ea typeface="+mn-ea"/>
                <a:cs typeface="+mn-cs"/>
              </a:defRPr>
            </a:lvl9pPr>
          </a:lstStyle>
          <a:p>
            <a:endParaRPr lang="de-DE" sz="2000" b="0" spc="23" dirty="0">
              <a:solidFill>
                <a:schemeClr val="bg1"/>
              </a:solidFill>
              <a:latin typeface="Arial"/>
              <a:cs typeface="Arial"/>
            </a:endParaRPr>
          </a:p>
        </p:txBody>
      </p:sp>
      <p:sp>
        <p:nvSpPr>
          <p:cNvPr id="11" name="Titelplatzhalter 1"/>
          <p:cNvSpPr>
            <a:spLocks noGrp="1"/>
          </p:cNvSpPr>
          <p:nvPr>
            <p:ph type="title"/>
          </p:nvPr>
        </p:nvSpPr>
        <p:spPr>
          <a:xfrm>
            <a:off x="365302" y="352916"/>
            <a:ext cx="8489694" cy="571834"/>
          </a:xfrm>
          <a:prstGeom prst="rect">
            <a:avLst/>
          </a:prstGeom>
          <a:noFill/>
          <a:ln>
            <a:noFill/>
          </a:ln>
        </p:spPr>
        <p:txBody>
          <a:bodyPr vert="horz" lIns="0" tIns="0" rIns="0" bIns="0" rtlCol="0" anchor="ctr" anchorCtr="0">
            <a:noAutofit/>
          </a:bodyPr>
          <a:lstStyle>
            <a:lvl1pPr>
              <a:defRPr sz="2000"/>
            </a:lvl1pPr>
          </a:lstStyle>
          <a:p>
            <a:r>
              <a:rPr lang="de-DE"/>
              <a:t>Mastertitelformat bearbeiten</a:t>
            </a:r>
            <a:endParaRPr lang="fr-FR" dirty="0"/>
          </a:p>
        </p:txBody>
      </p:sp>
      <p:sp>
        <p:nvSpPr>
          <p:cNvPr id="3" name="Content Placeholder 2">
            <a:extLst>
              <a:ext uri="{FF2B5EF4-FFF2-40B4-BE49-F238E27FC236}">
                <a16:creationId xmlns:a16="http://schemas.microsoft.com/office/drawing/2014/main" id="{397D6EDE-1D88-4253-A185-05406FA8DDDE}"/>
              </a:ext>
            </a:extLst>
          </p:cNvPr>
          <p:cNvSpPr>
            <a:spLocks noGrp="1"/>
          </p:cNvSpPr>
          <p:nvPr>
            <p:ph sz="quarter" idx="10"/>
          </p:nvPr>
        </p:nvSpPr>
        <p:spPr>
          <a:xfrm>
            <a:off x="358774" y="1248850"/>
            <a:ext cx="2700000" cy="3267588"/>
          </a:xfrm>
        </p:spPr>
        <p:txBody>
          <a:bodyPr/>
          <a:lstStyle>
            <a:lvl1pPr>
              <a:defRPr sz="1400"/>
            </a:lvl1pPr>
            <a:lvl2pPr>
              <a:defRPr sz="1200"/>
            </a:lvl2pPr>
            <a:lvl3pPr>
              <a:defRPr sz="1200"/>
            </a:lvl3pPr>
            <a:lvl4pPr>
              <a:defRPr sz="1200"/>
            </a:lvl4pPr>
            <a:lvl5pPr>
              <a:defRPr sz="12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dirty="0"/>
          </a:p>
        </p:txBody>
      </p:sp>
      <p:sp>
        <p:nvSpPr>
          <p:cNvPr id="8" name="Content Placeholder 2">
            <a:extLst>
              <a:ext uri="{FF2B5EF4-FFF2-40B4-BE49-F238E27FC236}">
                <a16:creationId xmlns:a16="http://schemas.microsoft.com/office/drawing/2014/main" id="{9388E4BF-9923-4166-A68B-00FA49283DC2}"/>
              </a:ext>
            </a:extLst>
          </p:cNvPr>
          <p:cNvSpPr>
            <a:spLocks noGrp="1"/>
          </p:cNvSpPr>
          <p:nvPr>
            <p:ph sz="quarter" idx="11"/>
          </p:nvPr>
        </p:nvSpPr>
        <p:spPr>
          <a:xfrm>
            <a:off x="3257475" y="1248850"/>
            <a:ext cx="2700000" cy="3267588"/>
          </a:xfrm>
        </p:spPr>
        <p:txBody>
          <a:bodyPr/>
          <a:lstStyle>
            <a:lvl1pPr>
              <a:defRPr sz="1400"/>
            </a:lvl1pPr>
            <a:lvl2pPr>
              <a:defRPr sz="1200"/>
            </a:lvl2pPr>
            <a:lvl3pPr>
              <a:defRPr sz="1200"/>
            </a:lvl3pPr>
            <a:lvl4pPr>
              <a:defRPr sz="1200"/>
            </a:lvl4pPr>
            <a:lvl5pPr>
              <a:defRPr sz="12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9" name="Content Placeholder 2">
            <a:extLst>
              <a:ext uri="{FF2B5EF4-FFF2-40B4-BE49-F238E27FC236}">
                <a16:creationId xmlns:a16="http://schemas.microsoft.com/office/drawing/2014/main" id="{C5375D04-E11A-4C13-BC8E-B231EFEF11AC}"/>
              </a:ext>
            </a:extLst>
          </p:cNvPr>
          <p:cNvSpPr>
            <a:spLocks noGrp="1"/>
          </p:cNvSpPr>
          <p:nvPr>
            <p:ph sz="quarter" idx="12"/>
          </p:nvPr>
        </p:nvSpPr>
        <p:spPr>
          <a:xfrm>
            <a:off x="6156176" y="1248850"/>
            <a:ext cx="2700000" cy="3267588"/>
          </a:xfrm>
        </p:spPr>
        <p:txBody>
          <a:bodyPr/>
          <a:lstStyle>
            <a:lvl1pPr>
              <a:defRPr sz="1400"/>
            </a:lvl1pPr>
            <a:lvl2pPr>
              <a:defRPr sz="1200"/>
            </a:lvl2pPr>
            <a:lvl3pPr>
              <a:defRPr sz="1200"/>
            </a:lvl3pPr>
            <a:lvl4pPr>
              <a:defRPr sz="1200"/>
            </a:lvl4pPr>
            <a:lvl5pPr>
              <a:defRPr sz="12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2" name="Foliennummernplatzhalter 6">
            <a:extLst>
              <a:ext uri="{FF2B5EF4-FFF2-40B4-BE49-F238E27FC236}">
                <a16:creationId xmlns:a16="http://schemas.microsoft.com/office/drawing/2014/main" id="{A9E9056E-E13A-8513-E0ED-33ED517BBE8A}"/>
              </a:ext>
            </a:extLst>
          </p:cNvPr>
          <p:cNvSpPr>
            <a:spLocks noGrp="1"/>
          </p:cNvSpPr>
          <p:nvPr>
            <p:ph type="sldNum" sz="quarter" idx="4"/>
          </p:nvPr>
        </p:nvSpPr>
        <p:spPr>
          <a:xfrm>
            <a:off x="5732891" y="4931889"/>
            <a:ext cx="711317" cy="107722"/>
          </a:xfrm>
          <a:prstGeom prst="rect">
            <a:avLst/>
          </a:prstGeom>
          <a:noFill/>
        </p:spPr>
        <p:txBody>
          <a:bodyPr vert="horz" wrap="square" lIns="0" tIns="0" rIns="0" bIns="0" rtlCol="0" anchor="ctr" anchorCtr="0">
            <a:spAutoFit/>
          </a:bodyPr>
          <a:lstStyle>
            <a:lvl1pPr algn="l">
              <a:defRPr lang="de-CH" sz="700" smtClean="0">
                <a:solidFill>
                  <a:srgbClr val="012C59"/>
                </a:solidFill>
              </a:defRPr>
            </a:lvl1pPr>
          </a:lstStyle>
          <a:p>
            <a:pPr algn="ctr"/>
            <a:fld id="{05F9AC53-F790-4868-97E7-45E3866EE614}" type="slidenum">
              <a:rPr lang="de-CH" smtClean="0"/>
              <a:pPr algn="ctr"/>
              <a:t>‹Nr.›</a:t>
            </a:fld>
            <a:r>
              <a:rPr lang="de-CH" dirty="0"/>
              <a:t> </a:t>
            </a:r>
          </a:p>
        </p:txBody>
      </p:sp>
      <p:sp>
        <p:nvSpPr>
          <p:cNvPr id="4" name="Datumsplatzhalter 1">
            <a:extLst>
              <a:ext uri="{FF2B5EF4-FFF2-40B4-BE49-F238E27FC236}">
                <a16:creationId xmlns:a16="http://schemas.microsoft.com/office/drawing/2014/main" id="{D0CD8EC9-2E1C-F0BC-2FC5-D36BD3F08EFC}"/>
              </a:ext>
            </a:extLst>
          </p:cNvPr>
          <p:cNvSpPr>
            <a:spLocks noGrp="1"/>
          </p:cNvSpPr>
          <p:nvPr>
            <p:ph type="dt" sz="half" idx="2"/>
          </p:nvPr>
        </p:nvSpPr>
        <p:spPr>
          <a:xfrm>
            <a:off x="366713" y="4931889"/>
            <a:ext cx="1292922" cy="107722"/>
          </a:xfrm>
          <a:prstGeom prst="rect">
            <a:avLst/>
          </a:prstGeom>
          <a:noFill/>
        </p:spPr>
        <p:txBody>
          <a:bodyPr vert="horz" wrap="square" lIns="0" tIns="0" rIns="0" bIns="0" rtlCol="0" anchor="ctr" anchorCtr="0">
            <a:spAutoFit/>
          </a:bodyPr>
          <a:lstStyle>
            <a:lvl1pPr>
              <a:defRPr lang="de-CH" sz="700" smtClean="0">
                <a:solidFill>
                  <a:srgbClr val="012C59"/>
                </a:solidFill>
              </a:defRPr>
            </a:lvl1pPr>
          </a:lstStyle>
          <a:p>
            <a:endParaRPr lang="de-DE" dirty="0"/>
          </a:p>
        </p:txBody>
      </p:sp>
      <p:sp>
        <p:nvSpPr>
          <p:cNvPr id="7" name="Fußzeilenplatzhalter 7">
            <a:extLst>
              <a:ext uri="{FF2B5EF4-FFF2-40B4-BE49-F238E27FC236}">
                <a16:creationId xmlns:a16="http://schemas.microsoft.com/office/drawing/2014/main" id="{836FC382-92B4-4C0A-22F8-66452F91E1E0}"/>
              </a:ext>
            </a:extLst>
          </p:cNvPr>
          <p:cNvSpPr>
            <a:spLocks noGrp="1"/>
          </p:cNvSpPr>
          <p:nvPr>
            <p:ph type="ftr" sz="quarter" idx="3"/>
          </p:nvPr>
        </p:nvSpPr>
        <p:spPr>
          <a:xfrm>
            <a:off x="2247829" y="4931889"/>
            <a:ext cx="2896867" cy="107722"/>
          </a:xfrm>
          <a:prstGeom prst="rect">
            <a:avLst/>
          </a:prstGeom>
        </p:spPr>
        <p:txBody>
          <a:bodyPr vert="horz" lIns="0" tIns="0" rIns="0" bIns="0" rtlCol="0" anchor="ctr">
            <a:spAutoFit/>
          </a:bodyPr>
          <a:lstStyle>
            <a:lvl1pPr algn="l">
              <a:defRPr sz="700">
                <a:solidFill>
                  <a:schemeClr val="tx1">
                    <a:tint val="75000"/>
                  </a:schemeClr>
                </a:solidFill>
              </a:defRPr>
            </a:lvl1pPr>
          </a:lstStyle>
          <a:p>
            <a:r>
              <a:rPr lang="de-CH">
                <a:solidFill>
                  <a:srgbClr val="012C59"/>
                </a:solidFill>
              </a:rPr>
              <a:t>CAS Pricing</a:t>
            </a:r>
            <a:endParaRPr lang="de-CH" dirty="0">
              <a:solidFill>
                <a:srgbClr val="012C59"/>
              </a:solidFill>
            </a:endParaRPr>
          </a:p>
        </p:txBody>
      </p:sp>
    </p:spTree>
    <p:extLst>
      <p:ext uri="{BB962C8B-B14F-4D97-AF65-F5344CB8AC3E}">
        <p14:creationId xmlns:p14="http://schemas.microsoft.com/office/powerpoint/2010/main" val="1246036670"/>
      </p:ext>
    </p:extLst>
  </p:cSld>
  <p:clrMapOvr>
    <a:masterClrMapping/>
  </p:clrMapOvr>
  <p:extLst>
    <p:ext uri="{DCECCB84-F9BA-43D5-87BE-67443E8EF086}">
      <p15:sldGuideLst xmlns:p15="http://schemas.microsoft.com/office/powerpoint/2012/main">
        <p15:guide id="1" orient="horz" pos="2845">
          <p15:clr>
            <a:srgbClr val="FBAE40"/>
          </p15:clr>
        </p15:guide>
        <p15:guide id="2" orient="horz" pos="781">
          <p15:clr>
            <a:srgbClr val="FBAE40"/>
          </p15:clr>
        </p15:guide>
        <p15:guide id="3" pos="2048" userDrawn="1">
          <p15:clr>
            <a:srgbClr val="FBAE40"/>
          </p15:clr>
        </p15:guide>
        <p15:guide id="4" pos="1932" userDrawn="1">
          <p15:clr>
            <a:srgbClr val="FBAE40"/>
          </p15:clr>
        </p15:guide>
        <p15:guide id="5" pos="3756" userDrawn="1">
          <p15:clr>
            <a:srgbClr val="FBAE40"/>
          </p15:clr>
        </p15:guide>
        <p15:guide id="6" pos="3877"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rei Bilder mit Beschreibung">
    <p:spTree>
      <p:nvGrpSpPr>
        <p:cNvPr id="1" name=""/>
        <p:cNvGrpSpPr/>
        <p:nvPr/>
      </p:nvGrpSpPr>
      <p:grpSpPr>
        <a:xfrm>
          <a:off x="0" y="0"/>
          <a:ext cx="0" cy="0"/>
          <a:chOff x="0" y="0"/>
          <a:chExt cx="0" cy="0"/>
        </a:xfrm>
      </p:grpSpPr>
      <p:sp>
        <p:nvSpPr>
          <p:cNvPr id="10" name="Textplatzhalter 2"/>
          <p:cNvSpPr txBox="1">
            <a:spLocks/>
          </p:cNvSpPr>
          <p:nvPr userDrawn="1"/>
        </p:nvSpPr>
        <p:spPr>
          <a:xfrm>
            <a:off x="325704" y="193229"/>
            <a:ext cx="8489694" cy="544263"/>
          </a:xfrm>
          <a:prstGeom prst="rect">
            <a:avLst/>
          </a:prstGeom>
        </p:spPr>
        <p:txBody>
          <a:bodyPr lIns="71539" tIns="35770" rIns="71539" bIns="35770" anchor="ctr" anchorCtr="0"/>
          <a:lstStyle>
            <a:lvl1pPr marL="0" marR="0" indent="0" algn="l" defTabSz="995690" rtl="0" eaLnBrk="1" fontAlgn="auto" latinLnBrk="0" hangingPunct="1">
              <a:lnSpc>
                <a:spcPct val="100000"/>
              </a:lnSpc>
              <a:spcBef>
                <a:spcPts val="0"/>
              </a:spcBef>
              <a:spcAft>
                <a:spcPts val="0"/>
              </a:spcAft>
              <a:buClrTx/>
              <a:buSzTx/>
              <a:buFontTx/>
              <a:buNone/>
              <a:tabLst/>
              <a:defRPr sz="2200" b="1" i="0" kern="1200" baseline="0">
                <a:solidFill>
                  <a:schemeClr val="bg1"/>
                </a:solidFill>
                <a:latin typeface="Arial" pitchFamily="34" charset="0"/>
                <a:ea typeface="+mn-ea"/>
                <a:cs typeface="Arial" pitchFamily="34" charset="0"/>
              </a:defRPr>
            </a:lvl1pPr>
            <a:lvl2pPr marL="388942" indent="-190149" algn="l" defTabSz="995690" rtl="0" eaLnBrk="1" latinLnBrk="0" hangingPunct="1">
              <a:spcBef>
                <a:spcPts val="871"/>
              </a:spcBef>
              <a:buFont typeface="Symbol" pitchFamily="18" charset="2"/>
              <a:buChar char="-"/>
              <a:defRPr sz="2000" kern="1200">
                <a:solidFill>
                  <a:srgbClr val="002C59"/>
                </a:solidFill>
                <a:latin typeface="Arial" pitchFamily="34" charset="0"/>
                <a:ea typeface="+mn-ea"/>
                <a:cs typeface="Arial" pitchFamily="34" charset="0"/>
              </a:defRPr>
            </a:lvl2pPr>
            <a:lvl3pPr marL="587734" indent="-198793" algn="l" defTabSz="995690" rtl="0" eaLnBrk="1" latinLnBrk="0" hangingPunct="1">
              <a:spcBef>
                <a:spcPts val="871"/>
              </a:spcBef>
              <a:buFont typeface="Symbol" pitchFamily="18" charset="2"/>
              <a:buChar char="-"/>
              <a:defRPr sz="1700" kern="1200">
                <a:solidFill>
                  <a:srgbClr val="002C59"/>
                </a:solidFill>
                <a:latin typeface="Arial" pitchFamily="34" charset="0"/>
                <a:ea typeface="+mn-ea"/>
                <a:cs typeface="Arial" pitchFamily="34" charset="0"/>
              </a:defRPr>
            </a:lvl3pPr>
            <a:lvl4pPr marL="1493535" indent="0" algn="l" defTabSz="995690" rtl="0" eaLnBrk="1" latinLnBrk="0" hangingPunct="1">
              <a:spcBef>
                <a:spcPct val="20000"/>
              </a:spcBef>
              <a:buFontTx/>
              <a:buNone/>
              <a:defRPr sz="2200" kern="1200">
                <a:solidFill>
                  <a:schemeClr val="tx1"/>
                </a:solidFill>
                <a:latin typeface="+mn-lt"/>
                <a:ea typeface="+mn-ea"/>
                <a:cs typeface="+mn-cs"/>
              </a:defRPr>
            </a:lvl4pPr>
            <a:lvl5pPr marL="1991380" indent="0" algn="l" defTabSz="995690" rtl="0" eaLnBrk="1" latinLnBrk="0" hangingPunct="1">
              <a:spcBef>
                <a:spcPct val="20000"/>
              </a:spcBef>
              <a:buFontTx/>
              <a:buNone/>
              <a:defRPr sz="2200" kern="1200">
                <a:solidFill>
                  <a:schemeClr val="tx1"/>
                </a:solidFill>
                <a:latin typeface="+mn-lt"/>
                <a:ea typeface="+mn-ea"/>
                <a:cs typeface="+mn-cs"/>
              </a:defRPr>
            </a:lvl5pPr>
            <a:lvl6pPr marL="2738148" indent="-248923" algn="l" defTabSz="995690" rtl="0" eaLnBrk="1" latinLnBrk="0" hangingPunct="1">
              <a:spcBef>
                <a:spcPct val="20000"/>
              </a:spcBef>
              <a:buFont typeface="Arial" pitchFamily="34" charset="0"/>
              <a:buChar char="•"/>
              <a:defRPr sz="2200" kern="1200">
                <a:solidFill>
                  <a:schemeClr val="tx1"/>
                </a:solidFill>
                <a:latin typeface="+mn-lt"/>
                <a:ea typeface="+mn-ea"/>
                <a:cs typeface="+mn-cs"/>
              </a:defRPr>
            </a:lvl6pPr>
            <a:lvl7pPr marL="3235993" indent="-248923" algn="l" defTabSz="995690" rtl="0" eaLnBrk="1" latinLnBrk="0" hangingPunct="1">
              <a:spcBef>
                <a:spcPct val="20000"/>
              </a:spcBef>
              <a:buFont typeface="Arial" pitchFamily="34" charset="0"/>
              <a:buChar char="•"/>
              <a:defRPr sz="2200" kern="1200">
                <a:solidFill>
                  <a:schemeClr val="tx1"/>
                </a:solidFill>
                <a:latin typeface="+mn-lt"/>
                <a:ea typeface="+mn-ea"/>
                <a:cs typeface="+mn-cs"/>
              </a:defRPr>
            </a:lvl7pPr>
            <a:lvl8pPr marL="3733838" indent="-248923" algn="l" defTabSz="995690" rtl="0" eaLnBrk="1" latinLnBrk="0" hangingPunct="1">
              <a:spcBef>
                <a:spcPct val="20000"/>
              </a:spcBef>
              <a:buFont typeface="Arial" pitchFamily="34" charset="0"/>
              <a:buChar char="•"/>
              <a:defRPr sz="2200" kern="1200">
                <a:solidFill>
                  <a:schemeClr val="tx1"/>
                </a:solidFill>
                <a:latin typeface="+mn-lt"/>
                <a:ea typeface="+mn-ea"/>
                <a:cs typeface="+mn-cs"/>
              </a:defRPr>
            </a:lvl8pPr>
            <a:lvl9pPr marL="4231683" indent="-248923" algn="l" defTabSz="995690" rtl="0" eaLnBrk="1" latinLnBrk="0" hangingPunct="1">
              <a:spcBef>
                <a:spcPct val="20000"/>
              </a:spcBef>
              <a:buFont typeface="Arial" pitchFamily="34" charset="0"/>
              <a:buChar char="•"/>
              <a:defRPr sz="2200" kern="1200">
                <a:solidFill>
                  <a:schemeClr val="tx1"/>
                </a:solidFill>
                <a:latin typeface="+mn-lt"/>
                <a:ea typeface="+mn-ea"/>
                <a:cs typeface="+mn-cs"/>
              </a:defRPr>
            </a:lvl9pPr>
          </a:lstStyle>
          <a:p>
            <a:endParaRPr lang="de-DE" sz="2000" b="0" spc="23" dirty="0">
              <a:solidFill>
                <a:schemeClr val="bg1"/>
              </a:solidFill>
              <a:latin typeface="Arial"/>
              <a:cs typeface="Arial"/>
            </a:endParaRPr>
          </a:p>
        </p:txBody>
      </p:sp>
      <p:sp>
        <p:nvSpPr>
          <p:cNvPr id="11" name="Titelplatzhalter 1"/>
          <p:cNvSpPr>
            <a:spLocks noGrp="1"/>
          </p:cNvSpPr>
          <p:nvPr>
            <p:ph type="title"/>
          </p:nvPr>
        </p:nvSpPr>
        <p:spPr>
          <a:xfrm>
            <a:off x="365302" y="352916"/>
            <a:ext cx="8489694" cy="571834"/>
          </a:xfrm>
          <a:prstGeom prst="rect">
            <a:avLst/>
          </a:prstGeom>
          <a:noFill/>
          <a:ln>
            <a:noFill/>
          </a:ln>
        </p:spPr>
        <p:txBody>
          <a:bodyPr vert="horz" lIns="0" tIns="0" rIns="0" bIns="0" rtlCol="0" anchor="ctr" anchorCtr="0">
            <a:noAutofit/>
          </a:bodyPr>
          <a:lstStyle>
            <a:lvl1pPr>
              <a:defRPr sz="2000"/>
            </a:lvl1pPr>
          </a:lstStyle>
          <a:p>
            <a:r>
              <a:rPr lang="de-DE"/>
              <a:t>Mastertitelformat bearbeiten</a:t>
            </a:r>
            <a:endParaRPr lang="fr-FR" dirty="0"/>
          </a:p>
        </p:txBody>
      </p:sp>
      <p:sp>
        <p:nvSpPr>
          <p:cNvPr id="3" name="Content Placeholder 2">
            <a:extLst>
              <a:ext uri="{FF2B5EF4-FFF2-40B4-BE49-F238E27FC236}">
                <a16:creationId xmlns:a16="http://schemas.microsoft.com/office/drawing/2014/main" id="{397D6EDE-1D88-4253-A185-05406FA8DDDE}"/>
              </a:ext>
            </a:extLst>
          </p:cNvPr>
          <p:cNvSpPr>
            <a:spLocks noGrp="1"/>
          </p:cNvSpPr>
          <p:nvPr>
            <p:ph sz="quarter" idx="10"/>
          </p:nvPr>
        </p:nvSpPr>
        <p:spPr>
          <a:xfrm>
            <a:off x="358774" y="3003966"/>
            <a:ext cx="2700000" cy="1512000"/>
          </a:xfrm>
        </p:spPr>
        <p:txBody>
          <a:bodyPr/>
          <a:lstStyle>
            <a:lvl1pPr>
              <a:defRPr sz="1400"/>
            </a:lvl1pPr>
            <a:lvl2pPr>
              <a:defRPr sz="1200"/>
            </a:lvl2pPr>
            <a:lvl3pPr>
              <a:defRPr sz="1200"/>
            </a:lvl3pPr>
            <a:lvl4pPr>
              <a:defRPr sz="1200"/>
            </a:lvl4pPr>
            <a:lvl5pPr>
              <a:defRPr sz="12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dirty="0"/>
          </a:p>
        </p:txBody>
      </p:sp>
      <p:sp>
        <p:nvSpPr>
          <p:cNvPr id="8" name="Content Placeholder 2">
            <a:extLst>
              <a:ext uri="{FF2B5EF4-FFF2-40B4-BE49-F238E27FC236}">
                <a16:creationId xmlns:a16="http://schemas.microsoft.com/office/drawing/2014/main" id="{9388E4BF-9923-4166-A68B-00FA49283DC2}"/>
              </a:ext>
            </a:extLst>
          </p:cNvPr>
          <p:cNvSpPr>
            <a:spLocks noGrp="1"/>
          </p:cNvSpPr>
          <p:nvPr>
            <p:ph sz="quarter" idx="11"/>
          </p:nvPr>
        </p:nvSpPr>
        <p:spPr>
          <a:xfrm>
            <a:off x="3257475" y="3003966"/>
            <a:ext cx="2700000" cy="1512000"/>
          </a:xfrm>
        </p:spPr>
        <p:txBody>
          <a:bodyPr/>
          <a:lstStyle>
            <a:lvl1pPr>
              <a:defRPr sz="1400"/>
            </a:lvl1pPr>
            <a:lvl2pPr>
              <a:defRPr sz="1200"/>
            </a:lvl2pPr>
            <a:lvl3pPr>
              <a:defRPr sz="1200"/>
            </a:lvl3pPr>
            <a:lvl4pPr>
              <a:defRPr sz="1200"/>
            </a:lvl4pPr>
            <a:lvl5pPr>
              <a:defRPr sz="12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9" name="Content Placeholder 2">
            <a:extLst>
              <a:ext uri="{FF2B5EF4-FFF2-40B4-BE49-F238E27FC236}">
                <a16:creationId xmlns:a16="http://schemas.microsoft.com/office/drawing/2014/main" id="{C5375D04-E11A-4C13-BC8E-B231EFEF11AC}"/>
              </a:ext>
            </a:extLst>
          </p:cNvPr>
          <p:cNvSpPr>
            <a:spLocks noGrp="1"/>
          </p:cNvSpPr>
          <p:nvPr>
            <p:ph sz="quarter" idx="12"/>
          </p:nvPr>
        </p:nvSpPr>
        <p:spPr>
          <a:xfrm>
            <a:off x="6156176" y="3003966"/>
            <a:ext cx="2700000" cy="1512000"/>
          </a:xfrm>
        </p:spPr>
        <p:txBody>
          <a:bodyPr/>
          <a:lstStyle>
            <a:lvl1pPr>
              <a:defRPr sz="1400"/>
            </a:lvl1pPr>
            <a:lvl2pPr>
              <a:defRPr sz="1200"/>
            </a:lvl2pPr>
            <a:lvl3pPr>
              <a:defRPr sz="1200"/>
            </a:lvl3pPr>
            <a:lvl4pPr>
              <a:defRPr sz="1200"/>
            </a:lvl4pPr>
            <a:lvl5pPr>
              <a:defRPr sz="12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4" name="Picture Placeholder 3">
            <a:extLst>
              <a:ext uri="{FF2B5EF4-FFF2-40B4-BE49-F238E27FC236}">
                <a16:creationId xmlns:a16="http://schemas.microsoft.com/office/drawing/2014/main" id="{5D83674F-1226-492D-8071-42CE84274A7E}"/>
              </a:ext>
            </a:extLst>
          </p:cNvPr>
          <p:cNvSpPr>
            <a:spLocks noGrp="1"/>
          </p:cNvSpPr>
          <p:nvPr>
            <p:ph type="pic" sz="quarter" idx="13"/>
          </p:nvPr>
        </p:nvSpPr>
        <p:spPr>
          <a:xfrm>
            <a:off x="365125" y="1312862"/>
            <a:ext cx="2701925" cy="1546225"/>
          </a:xfrm>
        </p:spPr>
        <p:txBody>
          <a:bodyPr/>
          <a:lstStyle>
            <a:lvl1pPr marL="0" indent="0" algn="ctr">
              <a:buNone/>
              <a:defRPr/>
            </a:lvl1pPr>
          </a:lstStyle>
          <a:p>
            <a:r>
              <a:rPr lang="de-DE" dirty="0"/>
              <a:t>Bild durch Klicken auf Symbol hinzufügen</a:t>
            </a:r>
            <a:endParaRPr lang="en-GB" dirty="0"/>
          </a:p>
        </p:txBody>
      </p:sp>
      <p:sp>
        <p:nvSpPr>
          <p:cNvPr id="12" name="Picture Placeholder 3">
            <a:extLst>
              <a:ext uri="{FF2B5EF4-FFF2-40B4-BE49-F238E27FC236}">
                <a16:creationId xmlns:a16="http://schemas.microsoft.com/office/drawing/2014/main" id="{7183A28E-828D-4F68-8D1C-93168823023B}"/>
              </a:ext>
            </a:extLst>
          </p:cNvPr>
          <p:cNvSpPr>
            <a:spLocks noGrp="1"/>
          </p:cNvSpPr>
          <p:nvPr>
            <p:ph type="pic" sz="quarter" idx="14"/>
          </p:nvPr>
        </p:nvSpPr>
        <p:spPr>
          <a:xfrm>
            <a:off x="3251200" y="1312862"/>
            <a:ext cx="2701925" cy="1546225"/>
          </a:xfrm>
        </p:spPr>
        <p:txBody>
          <a:bodyPr/>
          <a:lstStyle>
            <a:lvl1pPr marL="0" indent="0" algn="ctr">
              <a:buNone/>
              <a:defRPr/>
            </a:lvl1pPr>
          </a:lstStyle>
          <a:p>
            <a:r>
              <a:rPr lang="de-DE"/>
              <a:t>Bild durch Klicken auf Symbol hinzufügen</a:t>
            </a:r>
            <a:endParaRPr lang="en-GB"/>
          </a:p>
        </p:txBody>
      </p:sp>
      <p:sp>
        <p:nvSpPr>
          <p:cNvPr id="13" name="Picture Placeholder 3">
            <a:extLst>
              <a:ext uri="{FF2B5EF4-FFF2-40B4-BE49-F238E27FC236}">
                <a16:creationId xmlns:a16="http://schemas.microsoft.com/office/drawing/2014/main" id="{EC752F38-42E0-4D32-8853-D8521AE5E3EB}"/>
              </a:ext>
            </a:extLst>
          </p:cNvPr>
          <p:cNvSpPr>
            <a:spLocks noGrp="1"/>
          </p:cNvSpPr>
          <p:nvPr>
            <p:ph type="pic" sz="quarter" idx="15"/>
          </p:nvPr>
        </p:nvSpPr>
        <p:spPr>
          <a:xfrm>
            <a:off x="6157335" y="1312862"/>
            <a:ext cx="2701925" cy="1546225"/>
          </a:xfrm>
        </p:spPr>
        <p:txBody>
          <a:bodyPr/>
          <a:lstStyle>
            <a:lvl1pPr marL="0" indent="0" algn="ctr">
              <a:buNone/>
              <a:defRPr/>
            </a:lvl1pPr>
          </a:lstStyle>
          <a:p>
            <a:r>
              <a:rPr lang="de-DE"/>
              <a:t>Bild durch Klicken auf Symbol hinzufügen</a:t>
            </a:r>
            <a:endParaRPr lang="en-GB"/>
          </a:p>
        </p:txBody>
      </p:sp>
      <p:sp>
        <p:nvSpPr>
          <p:cNvPr id="2" name="Foliennummernplatzhalter 6">
            <a:extLst>
              <a:ext uri="{FF2B5EF4-FFF2-40B4-BE49-F238E27FC236}">
                <a16:creationId xmlns:a16="http://schemas.microsoft.com/office/drawing/2014/main" id="{9828E184-F2CC-534A-0935-053B92EDC5CF}"/>
              </a:ext>
            </a:extLst>
          </p:cNvPr>
          <p:cNvSpPr>
            <a:spLocks noGrp="1"/>
          </p:cNvSpPr>
          <p:nvPr>
            <p:ph type="sldNum" sz="quarter" idx="4"/>
          </p:nvPr>
        </p:nvSpPr>
        <p:spPr>
          <a:xfrm>
            <a:off x="5732891" y="4931889"/>
            <a:ext cx="711317" cy="107722"/>
          </a:xfrm>
          <a:prstGeom prst="rect">
            <a:avLst/>
          </a:prstGeom>
          <a:noFill/>
        </p:spPr>
        <p:txBody>
          <a:bodyPr vert="horz" wrap="square" lIns="0" tIns="0" rIns="0" bIns="0" rtlCol="0" anchor="ctr" anchorCtr="0">
            <a:spAutoFit/>
          </a:bodyPr>
          <a:lstStyle>
            <a:lvl1pPr algn="l">
              <a:defRPr lang="de-CH" sz="700" smtClean="0">
                <a:solidFill>
                  <a:srgbClr val="012C59"/>
                </a:solidFill>
              </a:defRPr>
            </a:lvl1pPr>
          </a:lstStyle>
          <a:p>
            <a:pPr algn="ctr"/>
            <a:fld id="{05F9AC53-F790-4868-97E7-45E3866EE614}" type="slidenum">
              <a:rPr lang="de-CH" smtClean="0"/>
              <a:pPr algn="ctr"/>
              <a:t>‹Nr.›</a:t>
            </a:fld>
            <a:r>
              <a:rPr lang="de-CH" dirty="0"/>
              <a:t> </a:t>
            </a:r>
          </a:p>
        </p:txBody>
      </p:sp>
      <p:sp>
        <p:nvSpPr>
          <p:cNvPr id="5" name="Datumsplatzhalter 1">
            <a:extLst>
              <a:ext uri="{FF2B5EF4-FFF2-40B4-BE49-F238E27FC236}">
                <a16:creationId xmlns:a16="http://schemas.microsoft.com/office/drawing/2014/main" id="{489702A7-1383-E0CA-05A6-707E7542F8A9}"/>
              </a:ext>
            </a:extLst>
          </p:cNvPr>
          <p:cNvSpPr>
            <a:spLocks noGrp="1"/>
          </p:cNvSpPr>
          <p:nvPr>
            <p:ph type="dt" sz="half" idx="2"/>
          </p:nvPr>
        </p:nvSpPr>
        <p:spPr>
          <a:xfrm>
            <a:off x="366713" y="4931889"/>
            <a:ext cx="1292922" cy="107722"/>
          </a:xfrm>
          <a:prstGeom prst="rect">
            <a:avLst/>
          </a:prstGeom>
          <a:noFill/>
        </p:spPr>
        <p:txBody>
          <a:bodyPr vert="horz" wrap="square" lIns="0" tIns="0" rIns="0" bIns="0" rtlCol="0" anchor="ctr" anchorCtr="0">
            <a:spAutoFit/>
          </a:bodyPr>
          <a:lstStyle>
            <a:lvl1pPr>
              <a:defRPr lang="de-CH" sz="700" smtClean="0">
                <a:solidFill>
                  <a:srgbClr val="012C59"/>
                </a:solidFill>
              </a:defRPr>
            </a:lvl1pPr>
          </a:lstStyle>
          <a:p>
            <a:endParaRPr lang="de-DE" dirty="0"/>
          </a:p>
        </p:txBody>
      </p:sp>
      <p:sp>
        <p:nvSpPr>
          <p:cNvPr id="14" name="Fußzeilenplatzhalter 7">
            <a:extLst>
              <a:ext uri="{FF2B5EF4-FFF2-40B4-BE49-F238E27FC236}">
                <a16:creationId xmlns:a16="http://schemas.microsoft.com/office/drawing/2014/main" id="{802FD89F-F5A0-86F1-D22A-15663F4A19FF}"/>
              </a:ext>
            </a:extLst>
          </p:cNvPr>
          <p:cNvSpPr>
            <a:spLocks noGrp="1"/>
          </p:cNvSpPr>
          <p:nvPr>
            <p:ph type="ftr" sz="quarter" idx="3"/>
          </p:nvPr>
        </p:nvSpPr>
        <p:spPr>
          <a:xfrm>
            <a:off x="2247829" y="4931889"/>
            <a:ext cx="2896867" cy="107722"/>
          </a:xfrm>
          <a:prstGeom prst="rect">
            <a:avLst/>
          </a:prstGeom>
        </p:spPr>
        <p:txBody>
          <a:bodyPr vert="horz" lIns="0" tIns="0" rIns="0" bIns="0" rtlCol="0" anchor="ctr">
            <a:spAutoFit/>
          </a:bodyPr>
          <a:lstStyle>
            <a:lvl1pPr algn="l">
              <a:defRPr sz="700">
                <a:solidFill>
                  <a:schemeClr val="tx1">
                    <a:tint val="75000"/>
                  </a:schemeClr>
                </a:solidFill>
              </a:defRPr>
            </a:lvl1pPr>
          </a:lstStyle>
          <a:p>
            <a:r>
              <a:rPr lang="de-CH">
                <a:solidFill>
                  <a:srgbClr val="012C59"/>
                </a:solidFill>
              </a:rPr>
              <a:t>CAS Pricing</a:t>
            </a:r>
            <a:endParaRPr lang="de-CH" dirty="0">
              <a:solidFill>
                <a:srgbClr val="012C59"/>
              </a:solidFill>
            </a:endParaRPr>
          </a:p>
        </p:txBody>
      </p:sp>
    </p:spTree>
    <p:extLst>
      <p:ext uri="{BB962C8B-B14F-4D97-AF65-F5344CB8AC3E}">
        <p14:creationId xmlns:p14="http://schemas.microsoft.com/office/powerpoint/2010/main" val="2324507914"/>
      </p:ext>
    </p:extLst>
  </p:cSld>
  <p:clrMapOvr>
    <a:masterClrMapping/>
  </p:clrMapOvr>
  <p:extLst>
    <p:ext uri="{DCECCB84-F9BA-43D5-87BE-67443E8EF086}">
      <p15:sldGuideLst xmlns:p15="http://schemas.microsoft.com/office/powerpoint/2012/main">
        <p15:guide id="2" orient="horz" pos="781">
          <p15:clr>
            <a:srgbClr val="FBAE40"/>
          </p15:clr>
        </p15:guide>
        <p15:guide id="3" pos="2048">
          <p15:clr>
            <a:srgbClr val="FBAE40"/>
          </p15:clr>
        </p15:guide>
        <p15:guide id="4" pos="1932">
          <p15:clr>
            <a:srgbClr val="FBAE40"/>
          </p15:clr>
        </p15:guide>
        <p15:guide id="5" pos="3756">
          <p15:clr>
            <a:srgbClr val="FBAE40"/>
          </p15:clr>
        </p15:guide>
        <p15:guide id="6" pos="3877">
          <p15:clr>
            <a:srgbClr val="FBAE40"/>
          </p15:clr>
        </p15:guide>
        <p15:guide id="7" orient="horz" pos="1892" userDrawn="1">
          <p15:clr>
            <a:srgbClr val="FBAE40"/>
          </p15:clr>
        </p15:guide>
        <p15:guide id="8" orient="horz" pos="1801"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ier Inhalte">
    <p:spTree>
      <p:nvGrpSpPr>
        <p:cNvPr id="1" name=""/>
        <p:cNvGrpSpPr/>
        <p:nvPr/>
      </p:nvGrpSpPr>
      <p:grpSpPr>
        <a:xfrm>
          <a:off x="0" y="0"/>
          <a:ext cx="0" cy="0"/>
          <a:chOff x="0" y="0"/>
          <a:chExt cx="0" cy="0"/>
        </a:xfrm>
      </p:grpSpPr>
      <p:sp>
        <p:nvSpPr>
          <p:cNvPr id="10" name="Textplatzhalter 2"/>
          <p:cNvSpPr txBox="1">
            <a:spLocks/>
          </p:cNvSpPr>
          <p:nvPr userDrawn="1"/>
        </p:nvSpPr>
        <p:spPr>
          <a:xfrm>
            <a:off x="325704" y="193229"/>
            <a:ext cx="8489694" cy="544263"/>
          </a:xfrm>
          <a:prstGeom prst="rect">
            <a:avLst/>
          </a:prstGeom>
        </p:spPr>
        <p:txBody>
          <a:bodyPr lIns="71539" tIns="35770" rIns="71539" bIns="35770" anchor="ctr" anchorCtr="0"/>
          <a:lstStyle>
            <a:lvl1pPr marL="0" marR="0" indent="0" algn="l" defTabSz="995690" rtl="0" eaLnBrk="1" fontAlgn="auto" latinLnBrk="0" hangingPunct="1">
              <a:lnSpc>
                <a:spcPct val="100000"/>
              </a:lnSpc>
              <a:spcBef>
                <a:spcPts val="0"/>
              </a:spcBef>
              <a:spcAft>
                <a:spcPts val="0"/>
              </a:spcAft>
              <a:buClrTx/>
              <a:buSzTx/>
              <a:buFontTx/>
              <a:buNone/>
              <a:tabLst/>
              <a:defRPr sz="2200" b="1" i="0" kern="1200" baseline="0">
                <a:solidFill>
                  <a:schemeClr val="bg1"/>
                </a:solidFill>
                <a:latin typeface="Arial" pitchFamily="34" charset="0"/>
                <a:ea typeface="+mn-ea"/>
                <a:cs typeface="Arial" pitchFamily="34" charset="0"/>
              </a:defRPr>
            </a:lvl1pPr>
            <a:lvl2pPr marL="388942" indent="-190149" algn="l" defTabSz="995690" rtl="0" eaLnBrk="1" latinLnBrk="0" hangingPunct="1">
              <a:spcBef>
                <a:spcPts val="871"/>
              </a:spcBef>
              <a:buFont typeface="Symbol" pitchFamily="18" charset="2"/>
              <a:buChar char="-"/>
              <a:defRPr sz="2000" kern="1200">
                <a:solidFill>
                  <a:srgbClr val="002C59"/>
                </a:solidFill>
                <a:latin typeface="Arial" pitchFamily="34" charset="0"/>
                <a:ea typeface="+mn-ea"/>
                <a:cs typeface="Arial" pitchFamily="34" charset="0"/>
              </a:defRPr>
            </a:lvl2pPr>
            <a:lvl3pPr marL="587734" indent="-198793" algn="l" defTabSz="995690" rtl="0" eaLnBrk="1" latinLnBrk="0" hangingPunct="1">
              <a:spcBef>
                <a:spcPts val="871"/>
              </a:spcBef>
              <a:buFont typeface="Symbol" pitchFamily="18" charset="2"/>
              <a:buChar char="-"/>
              <a:defRPr sz="1700" kern="1200">
                <a:solidFill>
                  <a:srgbClr val="002C59"/>
                </a:solidFill>
                <a:latin typeface="Arial" pitchFamily="34" charset="0"/>
                <a:ea typeface="+mn-ea"/>
                <a:cs typeface="Arial" pitchFamily="34" charset="0"/>
              </a:defRPr>
            </a:lvl3pPr>
            <a:lvl4pPr marL="1493535" indent="0" algn="l" defTabSz="995690" rtl="0" eaLnBrk="1" latinLnBrk="0" hangingPunct="1">
              <a:spcBef>
                <a:spcPct val="20000"/>
              </a:spcBef>
              <a:buFontTx/>
              <a:buNone/>
              <a:defRPr sz="2200" kern="1200">
                <a:solidFill>
                  <a:schemeClr val="tx1"/>
                </a:solidFill>
                <a:latin typeface="+mn-lt"/>
                <a:ea typeface="+mn-ea"/>
                <a:cs typeface="+mn-cs"/>
              </a:defRPr>
            </a:lvl4pPr>
            <a:lvl5pPr marL="1991380" indent="0" algn="l" defTabSz="995690" rtl="0" eaLnBrk="1" latinLnBrk="0" hangingPunct="1">
              <a:spcBef>
                <a:spcPct val="20000"/>
              </a:spcBef>
              <a:buFontTx/>
              <a:buNone/>
              <a:defRPr sz="2200" kern="1200">
                <a:solidFill>
                  <a:schemeClr val="tx1"/>
                </a:solidFill>
                <a:latin typeface="+mn-lt"/>
                <a:ea typeface="+mn-ea"/>
                <a:cs typeface="+mn-cs"/>
              </a:defRPr>
            </a:lvl5pPr>
            <a:lvl6pPr marL="2738148" indent="-248923" algn="l" defTabSz="995690" rtl="0" eaLnBrk="1" latinLnBrk="0" hangingPunct="1">
              <a:spcBef>
                <a:spcPct val="20000"/>
              </a:spcBef>
              <a:buFont typeface="Arial" pitchFamily="34" charset="0"/>
              <a:buChar char="•"/>
              <a:defRPr sz="2200" kern="1200">
                <a:solidFill>
                  <a:schemeClr val="tx1"/>
                </a:solidFill>
                <a:latin typeface="+mn-lt"/>
                <a:ea typeface="+mn-ea"/>
                <a:cs typeface="+mn-cs"/>
              </a:defRPr>
            </a:lvl6pPr>
            <a:lvl7pPr marL="3235993" indent="-248923" algn="l" defTabSz="995690" rtl="0" eaLnBrk="1" latinLnBrk="0" hangingPunct="1">
              <a:spcBef>
                <a:spcPct val="20000"/>
              </a:spcBef>
              <a:buFont typeface="Arial" pitchFamily="34" charset="0"/>
              <a:buChar char="•"/>
              <a:defRPr sz="2200" kern="1200">
                <a:solidFill>
                  <a:schemeClr val="tx1"/>
                </a:solidFill>
                <a:latin typeface="+mn-lt"/>
                <a:ea typeface="+mn-ea"/>
                <a:cs typeface="+mn-cs"/>
              </a:defRPr>
            </a:lvl7pPr>
            <a:lvl8pPr marL="3733838" indent="-248923" algn="l" defTabSz="995690" rtl="0" eaLnBrk="1" latinLnBrk="0" hangingPunct="1">
              <a:spcBef>
                <a:spcPct val="20000"/>
              </a:spcBef>
              <a:buFont typeface="Arial" pitchFamily="34" charset="0"/>
              <a:buChar char="•"/>
              <a:defRPr sz="2200" kern="1200">
                <a:solidFill>
                  <a:schemeClr val="tx1"/>
                </a:solidFill>
                <a:latin typeface="+mn-lt"/>
                <a:ea typeface="+mn-ea"/>
                <a:cs typeface="+mn-cs"/>
              </a:defRPr>
            </a:lvl8pPr>
            <a:lvl9pPr marL="4231683" indent="-248923" algn="l" defTabSz="995690" rtl="0" eaLnBrk="1" latinLnBrk="0" hangingPunct="1">
              <a:spcBef>
                <a:spcPct val="20000"/>
              </a:spcBef>
              <a:buFont typeface="Arial" pitchFamily="34" charset="0"/>
              <a:buChar char="•"/>
              <a:defRPr sz="2200" kern="1200">
                <a:solidFill>
                  <a:schemeClr val="tx1"/>
                </a:solidFill>
                <a:latin typeface="+mn-lt"/>
                <a:ea typeface="+mn-ea"/>
                <a:cs typeface="+mn-cs"/>
              </a:defRPr>
            </a:lvl9pPr>
          </a:lstStyle>
          <a:p>
            <a:endParaRPr lang="de-DE" sz="2000" b="0" spc="23" dirty="0">
              <a:solidFill>
                <a:schemeClr val="bg1"/>
              </a:solidFill>
              <a:latin typeface="Arial"/>
              <a:cs typeface="Arial"/>
            </a:endParaRPr>
          </a:p>
        </p:txBody>
      </p:sp>
      <p:sp>
        <p:nvSpPr>
          <p:cNvPr id="11" name="Titelplatzhalter 1"/>
          <p:cNvSpPr>
            <a:spLocks noGrp="1"/>
          </p:cNvSpPr>
          <p:nvPr>
            <p:ph type="title"/>
          </p:nvPr>
        </p:nvSpPr>
        <p:spPr>
          <a:xfrm>
            <a:off x="365302" y="352916"/>
            <a:ext cx="8489694" cy="571834"/>
          </a:xfrm>
          <a:prstGeom prst="rect">
            <a:avLst/>
          </a:prstGeom>
          <a:noFill/>
          <a:ln>
            <a:noFill/>
          </a:ln>
        </p:spPr>
        <p:txBody>
          <a:bodyPr vert="horz" lIns="0" tIns="0" rIns="0" bIns="0" rtlCol="0" anchor="ctr" anchorCtr="0">
            <a:noAutofit/>
          </a:bodyPr>
          <a:lstStyle>
            <a:lvl1pPr>
              <a:defRPr sz="2000"/>
            </a:lvl1pPr>
          </a:lstStyle>
          <a:p>
            <a:r>
              <a:rPr lang="de-DE"/>
              <a:t>Mastertitelformat bearbeiten</a:t>
            </a:r>
            <a:endParaRPr lang="fr-FR" dirty="0"/>
          </a:p>
        </p:txBody>
      </p:sp>
      <p:sp>
        <p:nvSpPr>
          <p:cNvPr id="3" name="Content Placeholder 2">
            <a:extLst>
              <a:ext uri="{FF2B5EF4-FFF2-40B4-BE49-F238E27FC236}">
                <a16:creationId xmlns:a16="http://schemas.microsoft.com/office/drawing/2014/main" id="{397D6EDE-1D88-4253-A185-05406FA8DDDE}"/>
              </a:ext>
            </a:extLst>
          </p:cNvPr>
          <p:cNvSpPr>
            <a:spLocks noGrp="1"/>
          </p:cNvSpPr>
          <p:nvPr>
            <p:ph sz="quarter" idx="10"/>
          </p:nvPr>
        </p:nvSpPr>
        <p:spPr>
          <a:xfrm>
            <a:off x="358775" y="1249200"/>
            <a:ext cx="4141217" cy="1512000"/>
          </a:xfrm>
        </p:spPr>
        <p:txBody>
          <a:bodyPr/>
          <a:lstStyle>
            <a:lvl1pPr>
              <a:defRPr sz="1400"/>
            </a:lvl1pPr>
            <a:lvl2pPr>
              <a:defRPr sz="1200"/>
            </a:lvl2pPr>
            <a:lvl3pPr>
              <a:defRPr sz="1200"/>
            </a:lvl3pPr>
            <a:lvl4pPr>
              <a:defRPr sz="1200"/>
            </a:lvl4pPr>
            <a:lvl5pPr>
              <a:defRPr sz="12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dirty="0"/>
          </a:p>
        </p:txBody>
      </p:sp>
      <p:sp>
        <p:nvSpPr>
          <p:cNvPr id="8" name="Content Placeholder 2">
            <a:extLst>
              <a:ext uri="{FF2B5EF4-FFF2-40B4-BE49-F238E27FC236}">
                <a16:creationId xmlns:a16="http://schemas.microsoft.com/office/drawing/2014/main" id="{9388E4BF-9923-4166-A68B-00FA49283DC2}"/>
              </a:ext>
            </a:extLst>
          </p:cNvPr>
          <p:cNvSpPr>
            <a:spLocks noGrp="1"/>
          </p:cNvSpPr>
          <p:nvPr>
            <p:ph sz="quarter" idx="11"/>
          </p:nvPr>
        </p:nvSpPr>
        <p:spPr>
          <a:xfrm>
            <a:off x="4716016" y="1249200"/>
            <a:ext cx="4141217" cy="1512000"/>
          </a:xfrm>
        </p:spPr>
        <p:txBody>
          <a:bodyPr/>
          <a:lstStyle>
            <a:lvl1pPr>
              <a:defRPr sz="1400"/>
            </a:lvl1pPr>
            <a:lvl2pPr>
              <a:defRPr sz="1200"/>
            </a:lvl2pPr>
            <a:lvl3pPr>
              <a:defRPr sz="1200"/>
            </a:lvl3pPr>
            <a:lvl4pPr>
              <a:defRPr sz="1200"/>
            </a:lvl4pPr>
            <a:lvl5pPr>
              <a:defRPr sz="12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dirty="0"/>
          </a:p>
        </p:txBody>
      </p:sp>
      <p:sp>
        <p:nvSpPr>
          <p:cNvPr id="9" name="Content Placeholder 2">
            <a:extLst>
              <a:ext uri="{FF2B5EF4-FFF2-40B4-BE49-F238E27FC236}">
                <a16:creationId xmlns:a16="http://schemas.microsoft.com/office/drawing/2014/main" id="{05D78439-BE38-4706-BADD-DC3DAA1D5EFF}"/>
              </a:ext>
            </a:extLst>
          </p:cNvPr>
          <p:cNvSpPr>
            <a:spLocks noGrp="1"/>
          </p:cNvSpPr>
          <p:nvPr>
            <p:ph sz="quarter" idx="12"/>
          </p:nvPr>
        </p:nvSpPr>
        <p:spPr>
          <a:xfrm>
            <a:off x="358775" y="3003966"/>
            <a:ext cx="4141217" cy="1512000"/>
          </a:xfrm>
        </p:spPr>
        <p:txBody>
          <a:bodyPr/>
          <a:lstStyle>
            <a:lvl1pPr>
              <a:defRPr sz="1400"/>
            </a:lvl1pPr>
            <a:lvl2pPr>
              <a:defRPr sz="1200"/>
            </a:lvl2pPr>
            <a:lvl3pPr>
              <a:defRPr sz="1200"/>
            </a:lvl3pPr>
            <a:lvl4pPr>
              <a:defRPr sz="1200"/>
            </a:lvl4pPr>
            <a:lvl5pPr>
              <a:defRPr sz="12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dirty="0"/>
          </a:p>
        </p:txBody>
      </p:sp>
      <p:sp>
        <p:nvSpPr>
          <p:cNvPr id="12" name="Content Placeholder 2">
            <a:extLst>
              <a:ext uri="{FF2B5EF4-FFF2-40B4-BE49-F238E27FC236}">
                <a16:creationId xmlns:a16="http://schemas.microsoft.com/office/drawing/2014/main" id="{87E7759A-02D4-423F-9BC2-3BFF1C9D72AD}"/>
              </a:ext>
            </a:extLst>
          </p:cNvPr>
          <p:cNvSpPr>
            <a:spLocks noGrp="1"/>
          </p:cNvSpPr>
          <p:nvPr>
            <p:ph sz="quarter" idx="13"/>
          </p:nvPr>
        </p:nvSpPr>
        <p:spPr>
          <a:xfrm>
            <a:off x="4716016" y="3003966"/>
            <a:ext cx="4141217" cy="1512000"/>
          </a:xfrm>
        </p:spPr>
        <p:txBody>
          <a:bodyPr/>
          <a:lstStyle>
            <a:lvl1pPr>
              <a:defRPr sz="1400"/>
            </a:lvl1pPr>
            <a:lvl2pPr>
              <a:defRPr sz="1200"/>
            </a:lvl2pPr>
            <a:lvl3pPr>
              <a:defRPr sz="1200"/>
            </a:lvl3pPr>
            <a:lvl4pPr>
              <a:defRPr sz="1200"/>
            </a:lvl4pPr>
            <a:lvl5pPr>
              <a:defRPr sz="12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dirty="0"/>
          </a:p>
        </p:txBody>
      </p:sp>
      <p:sp>
        <p:nvSpPr>
          <p:cNvPr id="2" name="Foliennummernplatzhalter 6">
            <a:extLst>
              <a:ext uri="{FF2B5EF4-FFF2-40B4-BE49-F238E27FC236}">
                <a16:creationId xmlns:a16="http://schemas.microsoft.com/office/drawing/2014/main" id="{1F0EEF1F-D875-606F-731F-978369384DE0}"/>
              </a:ext>
            </a:extLst>
          </p:cNvPr>
          <p:cNvSpPr>
            <a:spLocks noGrp="1"/>
          </p:cNvSpPr>
          <p:nvPr>
            <p:ph type="sldNum" sz="quarter" idx="4"/>
          </p:nvPr>
        </p:nvSpPr>
        <p:spPr>
          <a:xfrm>
            <a:off x="5732891" y="4931889"/>
            <a:ext cx="711317" cy="107722"/>
          </a:xfrm>
          <a:prstGeom prst="rect">
            <a:avLst/>
          </a:prstGeom>
          <a:noFill/>
        </p:spPr>
        <p:txBody>
          <a:bodyPr vert="horz" wrap="square" lIns="0" tIns="0" rIns="0" bIns="0" rtlCol="0" anchor="ctr" anchorCtr="0">
            <a:spAutoFit/>
          </a:bodyPr>
          <a:lstStyle>
            <a:lvl1pPr algn="l">
              <a:defRPr lang="de-CH" sz="700" smtClean="0">
                <a:solidFill>
                  <a:srgbClr val="012C59"/>
                </a:solidFill>
              </a:defRPr>
            </a:lvl1pPr>
          </a:lstStyle>
          <a:p>
            <a:pPr algn="ctr"/>
            <a:fld id="{05F9AC53-F790-4868-97E7-45E3866EE614}" type="slidenum">
              <a:rPr lang="de-CH" smtClean="0"/>
              <a:pPr algn="ctr"/>
              <a:t>‹Nr.›</a:t>
            </a:fld>
            <a:r>
              <a:rPr lang="de-CH" dirty="0"/>
              <a:t> </a:t>
            </a:r>
          </a:p>
        </p:txBody>
      </p:sp>
      <p:sp>
        <p:nvSpPr>
          <p:cNvPr id="4" name="Datumsplatzhalter 1">
            <a:extLst>
              <a:ext uri="{FF2B5EF4-FFF2-40B4-BE49-F238E27FC236}">
                <a16:creationId xmlns:a16="http://schemas.microsoft.com/office/drawing/2014/main" id="{3A94D3BC-3BC3-ED9E-D3D9-F8B931AB5488}"/>
              </a:ext>
            </a:extLst>
          </p:cNvPr>
          <p:cNvSpPr>
            <a:spLocks noGrp="1"/>
          </p:cNvSpPr>
          <p:nvPr>
            <p:ph type="dt" sz="half" idx="2"/>
          </p:nvPr>
        </p:nvSpPr>
        <p:spPr>
          <a:xfrm>
            <a:off x="366713" y="4931889"/>
            <a:ext cx="1292922" cy="107722"/>
          </a:xfrm>
          <a:prstGeom prst="rect">
            <a:avLst/>
          </a:prstGeom>
          <a:noFill/>
        </p:spPr>
        <p:txBody>
          <a:bodyPr vert="horz" wrap="square" lIns="0" tIns="0" rIns="0" bIns="0" rtlCol="0" anchor="ctr" anchorCtr="0">
            <a:spAutoFit/>
          </a:bodyPr>
          <a:lstStyle>
            <a:lvl1pPr>
              <a:defRPr lang="de-CH" sz="700" smtClean="0">
                <a:solidFill>
                  <a:srgbClr val="012C59"/>
                </a:solidFill>
              </a:defRPr>
            </a:lvl1pPr>
          </a:lstStyle>
          <a:p>
            <a:endParaRPr lang="de-DE" dirty="0"/>
          </a:p>
        </p:txBody>
      </p:sp>
      <p:sp>
        <p:nvSpPr>
          <p:cNvPr id="7" name="Fußzeilenplatzhalter 7">
            <a:extLst>
              <a:ext uri="{FF2B5EF4-FFF2-40B4-BE49-F238E27FC236}">
                <a16:creationId xmlns:a16="http://schemas.microsoft.com/office/drawing/2014/main" id="{BED79AD7-5C90-08C0-2498-46F3AE275214}"/>
              </a:ext>
            </a:extLst>
          </p:cNvPr>
          <p:cNvSpPr>
            <a:spLocks noGrp="1"/>
          </p:cNvSpPr>
          <p:nvPr>
            <p:ph type="ftr" sz="quarter" idx="3"/>
          </p:nvPr>
        </p:nvSpPr>
        <p:spPr>
          <a:xfrm>
            <a:off x="2247829" y="4931889"/>
            <a:ext cx="2896867" cy="107722"/>
          </a:xfrm>
          <a:prstGeom prst="rect">
            <a:avLst/>
          </a:prstGeom>
        </p:spPr>
        <p:txBody>
          <a:bodyPr vert="horz" lIns="0" tIns="0" rIns="0" bIns="0" rtlCol="0" anchor="ctr">
            <a:spAutoFit/>
          </a:bodyPr>
          <a:lstStyle>
            <a:lvl1pPr algn="l">
              <a:defRPr sz="700">
                <a:solidFill>
                  <a:schemeClr val="tx1">
                    <a:tint val="75000"/>
                  </a:schemeClr>
                </a:solidFill>
              </a:defRPr>
            </a:lvl1pPr>
          </a:lstStyle>
          <a:p>
            <a:r>
              <a:rPr lang="de-CH">
                <a:solidFill>
                  <a:srgbClr val="012C59"/>
                </a:solidFill>
              </a:rPr>
              <a:t>CAS Pricing</a:t>
            </a:r>
            <a:endParaRPr lang="de-CH" dirty="0">
              <a:solidFill>
                <a:srgbClr val="012C59"/>
              </a:solidFill>
            </a:endParaRPr>
          </a:p>
        </p:txBody>
      </p:sp>
    </p:spTree>
    <p:extLst>
      <p:ext uri="{BB962C8B-B14F-4D97-AF65-F5344CB8AC3E}">
        <p14:creationId xmlns:p14="http://schemas.microsoft.com/office/powerpoint/2010/main" val="362969872"/>
      </p:ext>
    </p:extLst>
  </p:cSld>
  <p:clrMapOvr>
    <a:masterClrMapping/>
  </p:clrMapOvr>
  <p:extLst>
    <p:ext uri="{DCECCB84-F9BA-43D5-87BE-67443E8EF086}">
      <p15:sldGuideLst xmlns:p15="http://schemas.microsoft.com/office/powerpoint/2012/main">
        <p15:guide id="1" orient="horz" pos="2845">
          <p15:clr>
            <a:srgbClr val="FBAE40"/>
          </p15:clr>
        </p15:guide>
        <p15:guide id="2" orient="horz" pos="781">
          <p15:clr>
            <a:srgbClr val="FBAE40"/>
          </p15:clr>
        </p15:guide>
        <p15:guide id="3" pos="2971">
          <p15:clr>
            <a:srgbClr val="FBAE40"/>
          </p15:clr>
        </p15:guide>
        <p15:guide id="4" pos="2835">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Zitat mit Marginalie">
    <p:spTree>
      <p:nvGrpSpPr>
        <p:cNvPr id="1" name=""/>
        <p:cNvGrpSpPr/>
        <p:nvPr/>
      </p:nvGrpSpPr>
      <p:grpSpPr>
        <a:xfrm>
          <a:off x="0" y="0"/>
          <a:ext cx="0" cy="0"/>
          <a:chOff x="0" y="0"/>
          <a:chExt cx="0" cy="0"/>
        </a:xfrm>
      </p:grpSpPr>
      <p:sp>
        <p:nvSpPr>
          <p:cNvPr id="10" name="Textplatzhalter 2"/>
          <p:cNvSpPr txBox="1">
            <a:spLocks/>
          </p:cNvSpPr>
          <p:nvPr userDrawn="1"/>
        </p:nvSpPr>
        <p:spPr>
          <a:xfrm>
            <a:off x="325704" y="193229"/>
            <a:ext cx="8489694" cy="544263"/>
          </a:xfrm>
          <a:prstGeom prst="rect">
            <a:avLst/>
          </a:prstGeom>
        </p:spPr>
        <p:txBody>
          <a:bodyPr lIns="71539" tIns="35770" rIns="71539" bIns="35770" anchor="ctr" anchorCtr="0"/>
          <a:lstStyle>
            <a:lvl1pPr marL="0" marR="0" indent="0" algn="l" defTabSz="995690" rtl="0" eaLnBrk="1" fontAlgn="auto" latinLnBrk="0" hangingPunct="1">
              <a:lnSpc>
                <a:spcPct val="100000"/>
              </a:lnSpc>
              <a:spcBef>
                <a:spcPts val="0"/>
              </a:spcBef>
              <a:spcAft>
                <a:spcPts val="0"/>
              </a:spcAft>
              <a:buClrTx/>
              <a:buSzTx/>
              <a:buFontTx/>
              <a:buNone/>
              <a:tabLst/>
              <a:defRPr sz="2200" b="1" i="0" kern="1200" baseline="0">
                <a:solidFill>
                  <a:schemeClr val="bg1"/>
                </a:solidFill>
                <a:latin typeface="Arial" pitchFamily="34" charset="0"/>
                <a:ea typeface="+mn-ea"/>
                <a:cs typeface="Arial" pitchFamily="34" charset="0"/>
              </a:defRPr>
            </a:lvl1pPr>
            <a:lvl2pPr marL="388942" indent="-190149" algn="l" defTabSz="995690" rtl="0" eaLnBrk="1" latinLnBrk="0" hangingPunct="1">
              <a:spcBef>
                <a:spcPts val="871"/>
              </a:spcBef>
              <a:buFont typeface="Symbol" pitchFamily="18" charset="2"/>
              <a:buChar char="-"/>
              <a:defRPr sz="2000" kern="1200">
                <a:solidFill>
                  <a:srgbClr val="002C59"/>
                </a:solidFill>
                <a:latin typeface="Arial" pitchFamily="34" charset="0"/>
                <a:ea typeface="+mn-ea"/>
                <a:cs typeface="Arial" pitchFamily="34" charset="0"/>
              </a:defRPr>
            </a:lvl2pPr>
            <a:lvl3pPr marL="587734" indent="-198793" algn="l" defTabSz="995690" rtl="0" eaLnBrk="1" latinLnBrk="0" hangingPunct="1">
              <a:spcBef>
                <a:spcPts val="871"/>
              </a:spcBef>
              <a:buFont typeface="Symbol" pitchFamily="18" charset="2"/>
              <a:buChar char="-"/>
              <a:defRPr sz="1700" kern="1200">
                <a:solidFill>
                  <a:srgbClr val="002C59"/>
                </a:solidFill>
                <a:latin typeface="Arial" pitchFamily="34" charset="0"/>
                <a:ea typeface="+mn-ea"/>
                <a:cs typeface="Arial" pitchFamily="34" charset="0"/>
              </a:defRPr>
            </a:lvl3pPr>
            <a:lvl4pPr marL="1493535" indent="0" algn="l" defTabSz="995690" rtl="0" eaLnBrk="1" latinLnBrk="0" hangingPunct="1">
              <a:spcBef>
                <a:spcPct val="20000"/>
              </a:spcBef>
              <a:buFontTx/>
              <a:buNone/>
              <a:defRPr sz="2200" kern="1200">
                <a:solidFill>
                  <a:schemeClr val="tx1"/>
                </a:solidFill>
                <a:latin typeface="+mn-lt"/>
                <a:ea typeface="+mn-ea"/>
                <a:cs typeface="+mn-cs"/>
              </a:defRPr>
            </a:lvl4pPr>
            <a:lvl5pPr marL="1991380" indent="0" algn="l" defTabSz="995690" rtl="0" eaLnBrk="1" latinLnBrk="0" hangingPunct="1">
              <a:spcBef>
                <a:spcPct val="20000"/>
              </a:spcBef>
              <a:buFontTx/>
              <a:buNone/>
              <a:defRPr sz="2200" kern="1200">
                <a:solidFill>
                  <a:schemeClr val="tx1"/>
                </a:solidFill>
                <a:latin typeface="+mn-lt"/>
                <a:ea typeface="+mn-ea"/>
                <a:cs typeface="+mn-cs"/>
              </a:defRPr>
            </a:lvl5pPr>
            <a:lvl6pPr marL="2738148" indent="-248923" algn="l" defTabSz="995690" rtl="0" eaLnBrk="1" latinLnBrk="0" hangingPunct="1">
              <a:spcBef>
                <a:spcPct val="20000"/>
              </a:spcBef>
              <a:buFont typeface="Arial" pitchFamily="34" charset="0"/>
              <a:buChar char="•"/>
              <a:defRPr sz="2200" kern="1200">
                <a:solidFill>
                  <a:schemeClr val="tx1"/>
                </a:solidFill>
                <a:latin typeface="+mn-lt"/>
                <a:ea typeface="+mn-ea"/>
                <a:cs typeface="+mn-cs"/>
              </a:defRPr>
            </a:lvl6pPr>
            <a:lvl7pPr marL="3235993" indent="-248923" algn="l" defTabSz="995690" rtl="0" eaLnBrk="1" latinLnBrk="0" hangingPunct="1">
              <a:spcBef>
                <a:spcPct val="20000"/>
              </a:spcBef>
              <a:buFont typeface="Arial" pitchFamily="34" charset="0"/>
              <a:buChar char="•"/>
              <a:defRPr sz="2200" kern="1200">
                <a:solidFill>
                  <a:schemeClr val="tx1"/>
                </a:solidFill>
                <a:latin typeface="+mn-lt"/>
                <a:ea typeface="+mn-ea"/>
                <a:cs typeface="+mn-cs"/>
              </a:defRPr>
            </a:lvl7pPr>
            <a:lvl8pPr marL="3733838" indent="-248923" algn="l" defTabSz="995690" rtl="0" eaLnBrk="1" latinLnBrk="0" hangingPunct="1">
              <a:spcBef>
                <a:spcPct val="20000"/>
              </a:spcBef>
              <a:buFont typeface="Arial" pitchFamily="34" charset="0"/>
              <a:buChar char="•"/>
              <a:defRPr sz="2200" kern="1200">
                <a:solidFill>
                  <a:schemeClr val="tx1"/>
                </a:solidFill>
                <a:latin typeface="+mn-lt"/>
                <a:ea typeface="+mn-ea"/>
                <a:cs typeface="+mn-cs"/>
              </a:defRPr>
            </a:lvl8pPr>
            <a:lvl9pPr marL="4231683" indent="-248923" algn="l" defTabSz="995690" rtl="0" eaLnBrk="1" latinLnBrk="0" hangingPunct="1">
              <a:spcBef>
                <a:spcPct val="20000"/>
              </a:spcBef>
              <a:buFont typeface="Arial" pitchFamily="34" charset="0"/>
              <a:buChar char="•"/>
              <a:defRPr sz="2200" kern="1200">
                <a:solidFill>
                  <a:schemeClr val="tx1"/>
                </a:solidFill>
                <a:latin typeface="+mn-lt"/>
                <a:ea typeface="+mn-ea"/>
                <a:cs typeface="+mn-cs"/>
              </a:defRPr>
            </a:lvl9pPr>
          </a:lstStyle>
          <a:p>
            <a:endParaRPr lang="de-DE" sz="2000" b="0" spc="23" dirty="0">
              <a:solidFill>
                <a:schemeClr val="bg1"/>
              </a:solidFill>
              <a:latin typeface="Arial"/>
              <a:cs typeface="Arial"/>
            </a:endParaRPr>
          </a:p>
        </p:txBody>
      </p:sp>
      <p:sp>
        <p:nvSpPr>
          <p:cNvPr id="11" name="Titelplatzhalter 1"/>
          <p:cNvSpPr>
            <a:spLocks noGrp="1"/>
          </p:cNvSpPr>
          <p:nvPr>
            <p:ph type="title"/>
          </p:nvPr>
        </p:nvSpPr>
        <p:spPr>
          <a:xfrm>
            <a:off x="365302" y="352916"/>
            <a:ext cx="8489694" cy="571834"/>
          </a:xfrm>
          <a:prstGeom prst="rect">
            <a:avLst/>
          </a:prstGeom>
          <a:noFill/>
          <a:ln>
            <a:noFill/>
          </a:ln>
        </p:spPr>
        <p:txBody>
          <a:bodyPr vert="horz" lIns="0" tIns="0" rIns="0" bIns="0" rtlCol="0" anchor="ctr" anchorCtr="0">
            <a:noAutofit/>
          </a:bodyPr>
          <a:lstStyle>
            <a:lvl1pPr>
              <a:defRPr sz="2000"/>
            </a:lvl1pPr>
          </a:lstStyle>
          <a:p>
            <a:r>
              <a:rPr lang="de-DE"/>
              <a:t>Mastertitelformat bearbeiten</a:t>
            </a:r>
            <a:endParaRPr lang="fr-FR" dirty="0"/>
          </a:p>
        </p:txBody>
      </p:sp>
      <p:sp>
        <p:nvSpPr>
          <p:cNvPr id="3" name="Content Placeholder 2">
            <a:extLst>
              <a:ext uri="{FF2B5EF4-FFF2-40B4-BE49-F238E27FC236}">
                <a16:creationId xmlns:a16="http://schemas.microsoft.com/office/drawing/2014/main" id="{397D6EDE-1D88-4253-A185-05406FA8DDDE}"/>
              </a:ext>
            </a:extLst>
          </p:cNvPr>
          <p:cNvSpPr>
            <a:spLocks noGrp="1"/>
          </p:cNvSpPr>
          <p:nvPr>
            <p:ph sz="quarter" idx="10"/>
          </p:nvPr>
        </p:nvSpPr>
        <p:spPr bwMode="ltGray">
          <a:xfrm>
            <a:off x="179389" y="1249200"/>
            <a:ext cx="6480844" cy="3267238"/>
          </a:xfrm>
          <a:solidFill>
            <a:schemeClr val="tx1"/>
          </a:solidFill>
        </p:spPr>
        <p:txBody>
          <a:bodyPr lIns="180000"/>
          <a:lstStyle>
            <a:lvl1pPr marL="0" indent="0">
              <a:buNone/>
              <a:defRPr sz="2000">
                <a:solidFill>
                  <a:schemeClr val="bg1"/>
                </a:solidFill>
              </a:defRPr>
            </a:lvl1pPr>
            <a:lvl2pPr marL="270000" indent="0">
              <a:buNone/>
              <a:defRPr sz="1200">
                <a:solidFill>
                  <a:schemeClr val="bg1"/>
                </a:solidFill>
              </a:defRPr>
            </a:lvl2pPr>
            <a:lvl3pPr marL="540000" indent="0">
              <a:buNone/>
              <a:defRPr sz="1200">
                <a:solidFill>
                  <a:schemeClr val="bg1"/>
                </a:solidFill>
              </a:defRPr>
            </a:lvl3pPr>
            <a:lvl4pPr marL="810000" indent="0">
              <a:buNone/>
              <a:defRPr sz="1200">
                <a:solidFill>
                  <a:schemeClr val="bg1"/>
                </a:solidFill>
              </a:defRPr>
            </a:lvl4pPr>
            <a:lvl5pPr marL="1080000" indent="0">
              <a:buNone/>
              <a:defRPr sz="1200">
                <a:solidFill>
                  <a:schemeClr val="bg1"/>
                </a:solidFill>
              </a:defRPr>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GB" dirty="0"/>
          </a:p>
        </p:txBody>
      </p:sp>
      <p:sp>
        <p:nvSpPr>
          <p:cNvPr id="8" name="Content Placeholder 2">
            <a:extLst>
              <a:ext uri="{FF2B5EF4-FFF2-40B4-BE49-F238E27FC236}">
                <a16:creationId xmlns:a16="http://schemas.microsoft.com/office/drawing/2014/main" id="{9388E4BF-9923-4166-A68B-00FA49283DC2}"/>
              </a:ext>
            </a:extLst>
          </p:cNvPr>
          <p:cNvSpPr>
            <a:spLocks noGrp="1"/>
          </p:cNvSpPr>
          <p:nvPr>
            <p:ph sz="quarter" idx="11"/>
          </p:nvPr>
        </p:nvSpPr>
        <p:spPr>
          <a:xfrm>
            <a:off x="6848355" y="1249200"/>
            <a:ext cx="2008878" cy="3267238"/>
          </a:xfrm>
        </p:spPr>
        <p:txBody>
          <a:bodyPr/>
          <a:lstStyle>
            <a:lvl1pPr indent="-180000">
              <a:defRPr sz="1100"/>
            </a:lvl1pPr>
            <a:lvl2pPr indent="-180000">
              <a:defRPr sz="1050"/>
            </a:lvl2pPr>
            <a:lvl3pPr indent="-180000">
              <a:defRPr sz="1050"/>
            </a:lvl3pPr>
            <a:lvl4pPr indent="-180000">
              <a:defRPr sz="1050"/>
            </a:lvl4pPr>
            <a:lvl5pPr indent="-180000">
              <a:defRPr sz="105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dirty="0"/>
          </a:p>
        </p:txBody>
      </p:sp>
      <p:sp>
        <p:nvSpPr>
          <p:cNvPr id="2" name="Foliennummernplatzhalter 6">
            <a:extLst>
              <a:ext uri="{FF2B5EF4-FFF2-40B4-BE49-F238E27FC236}">
                <a16:creationId xmlns:a16="http://schemas.microsoft.com/office/drawing/2014/main" id="{74A53385-4CDA-920E-A56E-87FA05197FF5}"/>
              </a:ext>
            </a:extLst>
          </p:cNvPr>
          <p:cNvSpPr>
            <a:spLocks noGrp="1"/>
          </p:cNvSpPr>
          <p:nvPr>
            <p:ph type="sldNum" sz="quarter" idx="4"/>
          </p:nvPr>
        </p:nvSpPr>
        <p:spPr>
          <a:xfrm>
            <a:off x="5732891" y="4931889"/>
            <a:ext cx="711317" cy="107722"/>
          </a:xfrm>
          <a:prstGeom prst="rect">
            <a:avLst/>
          </a:prstGeom>
          <a:noFill/>
        </p:spPr>
        <p:txBody>
          <a:bodyPr vert="horz" wrap="square" lIns="0" tIns="0" rIns="0" bIns="0" rtlCol="0" anchor="ctr" anchorCtr="0">
            <a:spAutoFit/>
          </a:bodyPr>
          <a:lstStyle>
            <a:lvl1pPr algn="l">
              <a:defRPr lang="de-CH" sz="700" smtClean="0">
                <a:solidFill>
                  <a:srgbClr val="012C59"/>
                </a:solidFill>
              </a:defRPr>
            </a:lvl1pPr>
          </a:lstStyle>
          <a:p>
            <a:pPr algn="ctr"/>
            <a:fld id="{05F9AC53-F790-4868-97E7-45E3866EE614}" type="slidenum">
              <a:rPr lang="de-CH" smtClean="0"/>
              <a:pPr algn="ctr"/>
              <a:t>‹Nr.›</a:t>
            </a:fld>
            <a:r>
              <a:rPr lang="de-CH" dirty="0"/>
              <a:t> </a:t>
            </a:r>
          </a:p>
        </p:txBody>
      </p:sp>
      <p:sp>
        <p:nvSpPr>
          <p:cNvPr id="4" name="Datumsplatzhalter 1">
            <a:extLst>
              <a:ext uri="{FF2B5EF4-FFF2-40B4-BE49-F238E27FC236}">
                <a16:creationId xmlns:a16="http://schemas.microsoft.com/office/drawing/2014/main" id="{0863C6C1-0B35-0A3E-8B14-DC3A7316689A}"/>
              </a:ext>
            </a:extLst>
          </p:cNvPr>
          <p:cNvSpPr>
            <a:spLocks noGrp="1"/>
          </p:cNvSpPr>
          <p:nvPr>
            <p:ph type="dt" sz="half" idx="2"/>
          </p:nvPr>
        </p:nvSpPr>
        <p:spPr>
          <a:xfrm>
            <a:off x="366713" y="4931889"/>
            <a:ext cx="1292922" cy="107722"/>
          </a:xfrm>
          <a:prstGeom prst="rect">
            <a:avLst/>
          </a:prstGeom>
          <a:noFill/>
        </p:spPr>
        <p:txBody>
          <a:bodyPr vert="horz" wrap="square" lIns="0" tIns="0" rIns="0" bIns="0" rtlCol="0" anchor="ctr" anchorCtr="0">
            <a:spAutoFit/>
          </a:bodyPr>
          <a:lstStyle>
            <a:lvl1pPr>
              <a:defRPr lang="de-CH" sz="700" smtClean="0">
                <a:solidFill>
                  <a:srgbClr val="012C59"/>
                </a:solidFill>
              </a:defRPr>
            </a:lvl1pPr>
          </a:lstStyle>
          <a:p>
            <a:endParaRPr lang="de-DE" dirty="0"/>
          </a:p>
        </p:txBody>
      </p:sp>
      <p:sp>
        <p:nvSpPr>
          <p:cNvPr id="7" name="Fußzeilenplatzhalter 7">
            <a:extLst>
              <a:ext uri="{FF2B5EF4-FFF2-40B4-BE49-F238E27FC236}">
                <a16:creationId xmlns:a16="http://schemas.microsoft.com/office/drawing/2014/main" id="{38AF3E2A-26D1-6E91-461A-A03012D6BBDB}"/>
              </a:ext>
            </a:extLst>
          </p:cNvPr>
          <p:cNvSpPr>
            <a:spLocks noGrp="1"/>
          </p:cNvSpPr>
          <p:nvPr>
            <p:ph type="ftr" sz="quarter" idx="3"/>
          </p:nvPr>
        </p:nvSpPr>
        <p:spPr>
          <a:xfrm>
            <a:off x="2247829" y="4931889"/>
            <a:ext cx="2896867" cy="107722"/>
          </a:xfrm>
          <a:prstGeom prst="rect">
            <a:avLst/>
          </a:prstGeom>
        </p:spPr>
        <p:txBody>
          <a:bodyPr vert="horz" lIns="0" tIns="0" rIns="0" bIns="0" rtlCol="0" anchor="ctr">
            <a:spAutoFit/>
          </a:bodyPr>
          <a:lstStyle>
            <a:lvl1pPr algn="l">
              <a:defRPr sz="700">
                <a:solidFill>
                  <a:schemeClr val="tx1">
                    <a:tint val="75000"/>
                  </a:schemeClr>
                </a:solidFill>
              </a:defRPr>
            </a:lvl1pPr>
          </a:lstStyle>
          <a:p>
            <a:r>
              <a:rPr lang="de-CH">
                <a:solidFill>
                  <a:srgbClr val="012C59"/>
                </a:solidFill>
              </a:rPr>
              <a:t>CAS Pricing</a:t>
            </a:r>
            <a:endParaRPr lang="de-CH" dirty="0">
              <a:solidFill>
                <a:srgbClr val="012C59"/>
              </a:solidFill>
            </a:endParaRPr>
          </a:p>
        </p:txBody>
      </p:sp>
    </p:spTree>
    <p:extLst>
      <p:ext uri="{BB962C8B-B14F-4D97-AF65-F5344CB8AC3E}">
        <p14:creationId xmlns:p14="http://schemas.microsoft.com/office/powerpoint/2010/main" val="399560167"/>
      </p:ext>
    </p:extLst>
  </p:cSld>
  <p:clrMapOvr>
    <a:masterClrMapping/>
  </p:clrMapOvr>
  <p:extLst>
    <p:ext uri="{DCECCB84-F9BA-43D5-87BE-67443E8EF086}">
      <p15:sldGuideLst xmlns:p15="http://schemas.microsoft.com/office/powerpoint/2012/main">
        <p15:guide id="2" orient="horz" pos="781">
          <p15:clr>
            <a:srgbClr val="FBAE40"/>
          </p15:clr>
        </p15:guide>
        <p15:guide id="3" pos="4305" userDrawn="1">
          <p15:clr>
            <a:srgbClr val="FBAE40"/>
          </p15:clr>
        </p15:guide>
        <p15:guide id="4" pos="4195"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Zwei Bilder &amp; Text">
    <p:spTree>
      <p:nvGrpSpPr>
        <p:cNvPr id="1" name=""/>
        <p:cNvGrpSpPr/>
        <p:nvPr/>
      </p:nvGrpSpPr>
      <p:grpSpPr>
        <a:xfrm>
          <a:off x="0" y="0"/>
          <a:ext cx="0" cy="0"/>
          <a:chOff x="0" y="0"/>
          <a:chExt cx="0" cy="0"/>
        </a:xfrm>
      </p:grpSpPr>
      <p:sp>
        <p:nvSpPr>
          <p:cNvPr id="10" name="Textplatzhalter 2"/>
          <p:cNvSpPr txBox="1">
            <a:spLocks/>
          </p:cNvSpPr>
          <p:nvPr userDrawn="1"/>
        </p:nvSpPr>
        <p:spPr>
          <a:xfrm>
            <a:off x="325704" y="193229"/>
            <a:ext cx="8489694" cy="544263"/>
          </a:xfrm>
          <a:prstGeom prst="rect">
            <a:avLst/>
          </a:prstGeom>
        </p:spPr>
        <p:txBody>
          <a:bodyPr lIns="71539" tIns="35770" rIns="71539" bIns="35770" anchor="ctr" anchorCtr="0"/>
          <a:lstStyle>
            <a:lvl1pPr marL="0" marR="0" indent="0" algn="l" defTabSz="995690" rtl="0" eaLnBrk="1" fontAlgn="auto" latinLnBrk="0" hangingPunct="1">
              <a:lnSpc>
                <a:spcPct val="100000"/>
              </a:lnSpc>
              <a:spcBef>
                <a:spcPts val="0"/>
              </a:spcBef>
              <a:spcAft>
                <a:spcPts val="0"/>
              </a:spcAft>
              <a:buClrTx/>
              <a:buSzTx/>
              <a:buFontTx/>
              <a:buNone/>
              <a:tabLst/>
              <a:defRPr sz="2200" b="1" i="0" kern="1200" baseline="0">
                <a:solidFill>
                  <a:schemeClr val="bg1"/>
                </a:solidFill>
                <a:latin typeface="Arial" pitchFamily="34" charset="0"/>
                <a:ea typeface="+mn-ea"/>
                <a:cs typeface="Arial" pitchFamily="34" charset="0"/>
              </a:defRPr>
            </a:lvl1pPr>
            <a:lvl2pPr marL="388942" indent="-190149" algn="l" defTabSz="995690" rtl="0" eaLnBrk="1" latinLnBrk="0" hangingPunct="1">
              <a:spcBef>
                <a:spcPts val="871"/>
              </a:spcBef>
              <a:buFont typeface="Symbol" pitchFamily="18" charset="2"/>
              <a:buChar char="-"/>
              <a:defRPr sz="2000" kern="1200">
                <a:solidFill>
                  <a:srgbClr val="002C59"/>
                </a:solidFill>
                <a:latin typeface="Arial" pitchFamily="34" charset="0"/>
                <a:ea typeface="+mn-ea"/>
                <a:cs typeface="Arial" pitchFamily="34" charset="0"/>
              </a:defRPr>
            </a:lvl2pPr>
            <a:lvl3pPr marL="587734" indent="-198793" algn="l" defTabSz="995690" rtl="0" eaLnBrk="1" latinLnBrk="0" hangingPunct="1">
              <a:spcBef>
                <a:spcPts val="871"/>
              </a:spcBef>
              <a:buFont typeface="Symbol" pitchFamily="18" charset="2"/>
              <a:buChar char="-"/>
              <a:defRPr sz="1700" kern="1200">
                <a:solidFill>
                  <a:srgbClr val="002C59"/>
                </a:solidFill>
                <a:latin typeface="Arial" pitchFamily="34" charset="0"/>
                <a:ea typeface="+mn-ea"/>
                <a:cs typeface="Arial" pitchFamily="34" charset="0"/>
              </a:defRPr>
            </a:lvl3pPr>
            <a:lvl4pPr marL="1493535" indent="0" algn="l" defTabSz="995690" rtl="0" eaLnBrk="1" latinLnBrk="0" hangingPunct="1">
              <a:spcBef>
                <a:spcPct val="20000"/>
              </a:spcBef>
              <a:buFontTx/>
              <a:buNone/>
              <a:defRPr sz="2200" kern="1200">
                <a:solidFill>
                  <a:schemeClr val="tx1"/>
                </a:solidFill>
                <a:latin typeface="+mn-lt"/>
                <a:ea typeface="+mn-ea"/>
                <a:cs typeface="+mn-cs"/>
              </a:defRPr>
            </a:lvl4pPr>
            <a:lvl5pPr marL="1991380" indent="0" algn="l" defTabSz="995690" rtl="0" eaLnBrk="1" latinLnBrk="0" hangingPunct="1">
              <a:spcBef>
                <a:spcPct val="20000"/>
              </a:spcBef>
              <a:buFontTx/>
              <a:buNone/>
              <a:defRPr sz="2200" kern="1200">
                <a:solidFill>
                  <a:schemeClr val="tx1"/>
                </a:solidFill>
                <a:latin typeface="+mn-lt"/>
                <a:ea typeface="+mn-ea"/>
                <a:cs typeface="+mn-cs"/>
              </a:defRPr>
            </a:lvl5pPr>
            <a:lvl6pPr marL="2738148" indent="-248923" algn="l" defTabSz="995690" rtl="0" eaLnBrk="1" latinLnBrk="0" hangingPunct="1">
              <a:spcBef>
                <a:spcPct val="20000"/>
              </a:spcBef>
              <a:buFont typeface="Arial" pitchFamily="34" charset="0"/>
              <a:buChar char="•"/>
              <a:defRPr sz="2200" kern="1200">
                <a:solidFill>
                  <a:schemeClr val="tx1"/>
                </a:solidFill>
                <a:latin typeface="+mn-lt"/>
                <a:ea typeface="+mn-ea"/>
                <a:cs typeface="+mn-cs"/>
              </a:defRPr>
            </a:lvl6pPr>
            <a:lvl7pPr marL="3235993" indent="-248923" algn="l" defTabSz="995690" rtl="0" eaLnBrk="1" latinLnBrk="0" hangingPunct="1">
              <a:spcBef>
                <a:spcPct val="20000"/>
              </a:spcBef>
              <a:buFont typeface="Arial" pitchFamily="34" charset="0"/>
              <a:buChar char="•"/>
              <a:defRPr sz="2200" kern="1200">
                <a:solidFill>
                  <a:schemeClr val="tx1"/>
                </a:solidFill>
                <a:latin typeface="+mn-lt"/>
                <a:ea typeface="+mn-ea"/>
                <a:cs typeface="+mn-cs"/>
              </a:defRPr>
            </a:lvl7pPr>
            <a:lvl8pPr marL="3733838" indent="-248923" algn="l" defTabSz="995690" rtl="0" eaLnBrk="1" latinLnBrk="0" hangingPunct="1">
              <a:spcBef>
                <a:spcPct val="20000"/>
              </a:spcBef>
              <a:buFont typeface="Arial" pitchFamily="34" charset="0"/>
              <a:buChar char="•"/>
              <a:defRPr sz="2200" kern="1200">
                <a:solidFill>
                  <a:schemeClr val="tx1"/>
                </a:solidFill>
                <a:latin typeface="+mn-lt"/>
                <a:ea typeface="+mn-ea"/>
                <a:cs typeface="+mn-cs"/>
              </a:defRPr>
            </a:lvl8pPr>
            <a:lvl9pPr marL="4231683" indent="-248923" algn="l" defTabSz="995690" rtl="0" eaLnBrk="1" latinLnBrk="0" hangingPunct="1">
              <a:spcBef>
                <a:spcPct val="20000"/>
              </a:spcBef>
              <a:buFont typeface="Arial" pitchFamily="34" charset="0"/>
              <a:buChar char="•"/>
              <a:defRPr sz="2200" kern="1200">
                <a:solidFill>
                  <a:schemeClr val="tx1"/>
                </a:solidFill>
                <a:latin typeface="+mn-lt"/>
                <a:ea typeface="+mn-ea"/>
                <a:cs typeface="+mn-cs"/>
              </a:defRPr>
            </a:lvl9pPr>
          </a:lstStyle>
          <a:p>
            <a:endParaRPr lang="de-DE" sz="2000" b="0" spc="23" dirty="0">
              <a:solidFill>
                <a:schemeClr val="bg1"/>
              </a:solidFill>
              <a:latin typeface="Arial"/>
              <a:cs typeface="Arial"/>
            </a:endParaRPr>
          </a:p>
        </p:txBody>
      </p:sp>
      <p:sp>
        <p:nvSpPr>
          <p:cNvPr id="11" name="Titelplatzhalter 1"/>
          <p:cNvSpPr>
            <a:spLocks noGrp="1"/>
          </p:cNvSpPr>
          <p:nvPr>
            <p:ph type="title"/>
          </p:nvPr>
        </p:nvSpPr>
        <p:spPr>
          <a:xfrm>
            <a:off x="365302" y="352916"/>
            <a:ext cx="8489694" cy="571834"/>
          </a:xfrm>
          <a:prstGeom prst="rect">
            <a:avLst/>
          </a:prstGeom>
          <a:noFill/>
          <a:ln>
            <a:noFill/>
          </a:ln>
        </p:spPr>
        <p:txBody>
          <a:bodyPr vert="horz" lIns="0" tIns="0" rIns="0" bIns="0" rtlCol="0" anchor="ctr" anchorCtr="0">
            <a:noAutofit/>
          </a:bodyPr>
          <a:lstStyle>
            <a:lvl1pPr>
              <a:defRPr sz="2000"/>
            </a:lvl1pPr>
          </a:lstStyle>
          <a:p>
            <a:r>
              <a:rPr lang="de-DE"/>
              <a:t>Mastertitelformat bearbeiten</a:t>
            </a:r>
            <a:endParaRPr lang="fr-FR" dirty="0"/>
          </a:p>
        </p:txBody>
      </p:sp>
      <p:sp>
        <p:nvSpPr>
          <p:cNvPr id="9" name="Content Placeholder 2">
            <a:extLst>
              <a:ext uri="{FF2B5EF4-FFF2-40B4-BE49-F238E27FC236}">
                <a16:creationId xmlns:a16="http://schemas.microsoft.com/office/drawing/2014/main" id="{05D78439-BE38-4706-BADD-DC3DAA1D5EFF}"/>
              </a:ext>
            </a:extLst>
          </p:cNvPr>
          <p:cNvSpPr>
            <a:spLocks noGrp="1"/>
          </p:cNvSpPr>
          <p:nvPr>
            <p:ph sz="quarter" idx="12"/>
          </p:nvPr>
        </p:nvSpPr>
        <p:spPr>
          <a:xfrm>
            <a:off x="358775" y="3003966"/>
            <a:ext cx="4141217" cy="1512000"/>
          </a:xfrm>
        </p:spPr>
        <p:txBody>
          <a:bodyPr/>
          <a:lstStyle>
            <a:lvl1pPr>
              <a:defRPr sz="1400"/>
            </a:lvl1pPr>
            <a:lvl2pPr>
              <a:defRPr sz="1200"/>
            </a:lvl2pPr>
            <a:lvl3pPr>
              <a:defRPr sz="1200"/>
            </a:lvl3pPr>
            <a:lvl4pPr>
              <a:defRPr sz="1200"/>
            </a:lvl4pPr>
            <a:lvl5pPr>
              <a:defRPr sz="12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dirty="0"/>
          </a:p>
        </p:txBody>
      </p:sp>
      <p:sp>
        <p:nvSpPr>
          <p:cNvPr id="12" name="Content Placeholder 2">
            <a:extLst>
              <a:ext uri="{FF2B5EF4-FFF2-40B4-BE49-F238E27FC236}">
                <a16:creationId xmlns:a16="http://schemas.microsoft.com/office/drawing/2014/main" id="{87E7759A-02D4-423F-9BC2-3BFF1C9D72AD}"/>
              </a:ext>
            </a:extLst>
          </p:cNvPr>
          <p:cNvSpPr>
            <a:spLocks noGrp="1"/>
          </p:cNvSpPr>
          <p:nvPr>
            <p:ph sz="quarter" idx="13"/>
          </p:nvPr>
        </p:nvSpPr>
        <p:spPr>
          <a:xfrm>
            <a:off x="4716016" y="3003966"/>
            <a:ext cx="4141217" cy="1512000"/>
          </a:xfrm>
        </p:spPr>
        <p:txBody>
          <a:bodyPr/>
          <a:lstStyle>
            <a:lvl1pPr>
              <a:defRPr sz="1400"/>
            </a:lvl1pPr>
            <a:lvl2pPr>
              <a:defRPr sz="1200"/>
            </a:lvl2pPr>
            <a:lvl3pPr>
              <a:defRPr sz="1200"/>
            </a:lvl3pPr>
            <a:lvl4pPr>
              <a:defRPr sz="1200"/>
            </a:lvl4pPr>
            <a:lvl5pPr>
              <a:defRPr sz="12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dirty="0"/>
          </a:p>
        </p:txBody>
      </p:sp>
      <p:sp>
        <p:nvSpPr>
          <p:cNvPr id="13" name="Picture Placeholder 3">
            <a:extLst>
              <a:ext uri="{FF2B5EF4-FFF2-40B4-BE49-F238E27FC236}">
                <a16:creationId xmlns:a16="http://schemas.microsoft.com/office/drawing/2014/main" id="{D07E2B17-5862-4082-96B7-9A899ACD714D}"/>
              </a:ext>
            </a:extLst>
          </p:cNvPr>
          <p:cNvSpPr>
            <a:spLocks noGrp="1"/>
          </p:cNvSpPr>
          <p:nvPr>
            <p:ph type="pic" sz="quarter" idx="14"/>
          </p:nvPr>
        </p:nvSpPr>
        <p:spPr>
          <a:xfrm>
            <a:off x="365125" y="1312862"/>
            <a:ext cx="4134867" cy="1546225"/>
          </a:xfrm>
        </p:spPr>
        <p:txBody>
          <a:bodyPr/>
          <a:lstStyle>
            <a:lvl1pPr marL="0" indent="0" algn="ctr">
              <a:buNone/>
              <a:defRPr/>
            </a:lvl1pPr>
          </a:lstStyle>
          <a:p>
            <a:r>
              <a:rPr lang="de-DE"/>
              <a:t>Bild durch Klicken auf Symbol hinzufügen</a:t>
            </a:r>
            <a:endParaRPr lang="en-GB"/>
          </a:p>
        </p:txBody>
      </p:sp>
      <p:sp>
        <p:nvSpPr>
          <p:cNvPr id="14" name="Picture Placeholder 3">
            <a:extLst>
              <a:ext uri="{FF2B5EF4-FFF2-40B4-BE49-F238E27FC236}">
                <a16:creationId xmlns:a16="http://schemas.microsoft.com/office/drawing/2014/main" id="{4869CF37-840D-4760-9C12-8A42147A71D7}"/>
              </a:ext>
            </a:extLst>
          </p:cNvPr>
          <p:cNvSpPr>
            <a:spLocks noGrp="1"/>
          </p:cNvSpPr>
          <p:nvPr>
            <p:ph type="pic" sz="quarter" idx="15"/>
          </p:nvPr>
        </p:nvSpPr>
        <p:spPr>
          <a:xfrm>
            <a:off x="4716016" y="1312862"/>
            <a:ext cx="4134867" cy="1546225"/>
          </a:xfrm>
        </p:spPr>
        <p:txBody>
          <a:bodyPr/>
          <a:lstStyle>
            <a:lvl1pPr marL="0" indent="0" algn="ctr">
              <a:buNone/>
              <a:defRPr/>
            </a:lvl1pPr>
          </a:lstStyle>
          <a:p>
            <a:r>
              <a:rPr lang="de-DE"/>
              <a:t>Bild durch Klicken auf Symbol hinzufügen</a:t>
            </a:r>
            <a:endParaRPr lang="en-GB"/>
          </a:p>
        </p:txBody>
      </p:sp>
      <p:sp>
        <p:nvSpPr>
          <p:cNvPr id="2" name="Foliennummernplatzhalter 6">
            <a:extLst>
              <a:ext uri="{FF2B5EF4-FFF2-40B4-BE49-F238E27FC236}">
                <a16:creationId xmlns:a16="http://schemas.microsoft.com/office/drawing/2014/main" id="{62316FBF-EB57-562D-8FE8-F266A4906F19}"/>
              </a:ext>
            </a:extLst>
          </p:cNvPr>
          <p:cNvSpPr>
            <a:spLocks noGrp="1"/>
          </p:cNvSpPr>
          <p:nvPr>
            <p:ph type="sldNum" sz="quarter" idx="4"/>
          </p:nvPr>
        </p:nvSpPr>
        <p:spPr>
          <a:xfrm>
            <a:off x="5732891" y="4931889"/>
            <a:ext cx="711317" cy="107722"/>
          </a:xfrm>
          <a:prstGeom prst="rect">
            <a:avLst/>
          </a:prstGeom>
          <a:noFill/>
        </p:spPr>
        <p:txBody>
          <a:bodyPr vert="horz" wrap="square" lIns="0" tIns="0" rIns="0" bIns="0" rtlCol="0" anchor="ctr" anchorCtr="0">
            <a:spAutoFit/>
          </a:bodyPr>
          <a:lstStyle>
            <a:lvl1pPr algn="l">
              <a:defRPr lang="de-CH" sz="700" smtClean="0">
                <a:solidFill>
                  <a:srgbClr val="012C59"/>
                </a:solidFill>
              </a:defRPr>
            </a:lvl1pPr>
          </a:lstStyle>
          <a:p>
            <a:pPr algn="ctr"/>
            <a:fld id="{05F9AC53-F790-4868-97E7-45E3866EE614}" type="slidenum">
              <a:rPr lang="de-CH" smtClean="0"/>
              <a:pPr algn="ctr"/>
              <a:t>‹Nr.›</a:t>
            </a:fld>
            <a:r>
              <a:rPr lang="de-CH" dirty="0"/>
              <a:t> </a:t>
            </a:r>
          </a:p>
        </p:txBody>
      </p:sp>
      <p:sp>
        <p:nvSpPr>
          <p:cNvPr id="3" name="Datumsplatzhalter 1">
            <a:extLst>
              <a:ext uri="{FF2B5EF4-FFF2-40B4-BE49-F238E27FC236}">
                <a16:creationId xmlns:a16="http://schemas.microsoft.com/office/drawing/2014/main" id="{21EA7FB1-C685-9466-91A6-7CDAE5A7A4C3}"/>
              </a:ext>
            </a:extLst>
          </p:cNvPr>
          <p:cNvSpPr>
            <a:spLocks noGrp="1"/>
          </p:cNvSpPr>
          <p:nvPr>
            <p:ph type="dt" sz="half" idx="2"/>
          </p:nvPr>
        </p:nvSpPr>
        <p:spPr>
          <a:xfrm>
            <a:off x="366713" y="4931889"/>
            <a:ext cx="1292922" cy="107722"/>
          </a:xfrm>
          <a:prstGeom prst="rect">
            <a:avLst/>
          </a:prstGeom>
          <a:noFill/>
        </p:spPr>
        <p:txBody>
          <a:bodyPr vert="horz" wrap="square" lIns="0" tIns="0" rIns="0" bIns="0" rtlCol="0" anchor="ctr" anchorCtr="0">
            <a:spAutoFit/>
          </a:bodyPr>
          <a:lstStyle>
            <a:lvl1pPr>
              <a:defRPr lang="de-CH" sz="700" smtClean="0">
                <a:solidFill>
                  <a:srgbClr val="012C59"/>
                </a:solidFill>
              </a:defRPr>
            </a:lvl1pPr>
          </a:lstStyle>
          <a:p>
            <a:endParaRPr lang="de-DE" dirty="0"/>
          </a:p>
        </p:txBody>
      </p:sp>
      <p:sp>
        <p:nvSpPr>
          <p:cNvPr id="6" name="Fußzeilenplatzhalter 7">
            <a:extLst>
              <a:ext uri="{FF2B5EF4-FFF2-40B4-BE49-F238E27FC236}">
                <a16:creationId xmlns:a16="http://schemas.microsoft.com/office/drawing/2014/main" id="{9D7CF158-3603-1A8D-241F-E40B3401F524}"/>
              </a:ext>
            </a:extLst>
          </p:cNvPr>
          <p:cNvSpPr>
            <a:spLocks noGrp="1"/>
          </p:cNvSpPr>
          <p:nvPr>
            <p:ph type="ftr" sz="quarter" idx="3"/>
          </p:nvPr>
        </p:nvSpPr>
        <p:spPr>
          <a:xfrm>
            <a:off x="2247829" y="4931889"/>
            <a:ext cx="2896867" cy="107722"/>
          </a:xfrm>
          <a:prstGeom prst="rect">
            <a:avLst/>
          </a:prstGeom>
        </p:spPr>
        <p:txBody>
          <a:bodyPr vert="horz" lIns="0" tIns="0" rIns="0" bIns="0" rtlCol="0" anchor="ctr">
            <a:spAutoFit/>
          </a:bodyPr>
          <a:lstStyle>
            <a:lvl1pPr algn="l">
              <a:defRPr sz="700">
                <a:solidFill>
                  <a:schemeClr val="tx1">
                    <a:tint val="75000"/>
                  </a:schemeClr>
                </a:solidFill>
              </a:defRPr>
            </a:lvl1pPr>
          </a:lstStyle>
          <a:p>
            <a:r>
              <a:rPr lang="de-CH">
                <a:solidFill>
                  <a:srgbClr val="012C59"/>
                </a:solidFill>
              </a:rPr>
              <a:t>CAS Pricing</a:t>
            </a:r>
            <a:endParaRPr lang="de-CH" dirty="0">
              <a:solidFill>
                <a:srgbClr val="012C59"/>
              </a:solidFill>
            </a:endParaRPr>
          </a:p>
        </p:txBody>
      </p:sp>
    </p:spTree>
    <p:extLst>
      <p:ext uri="{BB962C8B-B14F-4D97-AF65-F5344CB8AC3E}">
        <p14:creationId xmlns:p14="http://schemas.microsoft.com/office/powerpoint/2010/main" val="2046702950"/>
      </p:ext>
    </p:extLst>
  </p:cSld>
  <p:clrMapOvr>
    <a:masterClrMapping/>
  </p:clrMapOvr>
  <p:extLst>
    <p:ext uri="{DCECCB84-F9BA-43D5-87BE-67443E8EF086}">
      <p15:sldGuideLst xmlns:p15="http://schemas.microsoft.com/office/powerpoint/2012/main">
        <p15:guide id="1" orient="horz" pos="2845">
          <p15:clr>
            <a:srgbClr val="FBAE40"/>
          </p15:clr>
        </p15:guide>
        <p15:guide id="2" orient="horz" pos="781">
          <p15:clr>
            <a:srgbClr val="FBAE40"/>
          </p15:clr>
        </p15:guide>
        <p15:guide id="3" pos="2971">
          <p15:clr>
            <a:srgbClr val="FBAE40"/>
          </p15:clr>
        </p15:guide>
        <p15:guide id="4" pos="2835">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nhalt Text mit Platzhalter Bild">
    <p:spTree>
      <p:nvGrpSpPr>
        <p:cNvPr id="1" name=""/>
        <p:cNvGrpSpPr/>
        <p:nvPr/>
      </p:nvGrpSpPr>
      <p:grpSpPr>
        <a:xfrm>
          <a:off x="0" y="0"/>
          <a:ext cx="0" cy="0"/>
          <a:chOff x="0" y="0"/>
          <a:chExt cx="0" cy="0"/>
        </a:xfrm>
      </p:grpSpPr>
      <p:sp>
        <p:nvSpPr>
          <p:cNvPr id="10" name="Bildplatzhalter 2"/>
          <p:cNvSpPr>
            <a:spLocks noGrp="1"/>
          </p:cNvSpPr>
          <p:nvPr>
            <p:ph type="pic" sz="quarter" idx="11" hasCustomPrompt="1"/>
          </p:nvPr>
        </p:nvSpPr>
        <p:spPr>
          <a:xfrm>
            <a:off x="6818714" y="2952249"/>
            <a:ext cx="2161750" cy="1676146"/>
          </a:xfrm>
          <a:prstGeom prst="rect">
            <a:avLst/>
          </a:prstGeom>
        </p:spPr>
        <p:txBody>
          <a:bodyPr anchor="ctr"/>
          <a:lstStyle>
            <a:lvl1pPr marL="0" indent="0" algn="ctr">
              <a:buFontTx/>
              <a:buNone/>
              <a:defRPr sz="1300"/>
            </a:lvl1pPr>
          </a:lstStyle>
          <a:p>
            <a:r>
              <a:rPr lang="de-CH" dirty="0"/>
              <a:t>Bild hier durch Klick </a:t>
            </a:r>
            <a:r>
              <a:rPr lang="de-CH" dirty="0" err="1"/>
              <a:t>einfücgen</a:t>
            </a:r>
            <a:endParaRPr lang="de-CH" dirty="0"/>
          </a:p>
        </p:txBody>
      </p:sp>
      <p:sp>
        <p:nvSpPr>
          <p:cNvPr id="11" name="Bildplatzhalter 2"/>
          <p:cNvSpPr>
            <a:spLocks noGrp="1"/>
          </p:cNvSpPr>
          <p:nvPr>
            <p:ph type="pic" sz="quarter" idx="12" hasCustomPrompt="1"/>
          </p:nvPr>
        </p:nvSpPr>
        <p:spPr>
          <a:xfrm>
            <a:off x="6818714" y="1255712"/>
            <a:ext cx="2161750" cy="1562445"/>
          </a:xfrm>
          <a:prstGeom prst="rect">
            <a:avLst/>
          </a:prstGeom>
        </p:spPr>
        <p:txBody>
          <a:bodyPr anchor="ctr"/>
          <a:lstStyle>
            <a:lvl1pPr marL="0" indent="0" algn="ctr">
              <a:buFontTx/>
              <a:buNone/>
              <a:defRPr sz="1300"/>
            </a:lvl1pPr>
          </a:lstStyle>
          <a:p>
            <a:r>
              <a:rPr lang="de-CH" dirty="0"/>
              <a:t>Bild hier durch Klick einfügen</a:t>
            </a:r>
          </a:p>
        </p:txBody>
      </p:sp>
      <p:sp>
        <p:nvSpPr>
          <p:cNvPr id="14" name="Textplatzhalter 2"/>
          <p:cNvSpPr txBox="1">
            <a:spLocks/>
          </p:cNvSpPr>
          <p:nvPr userDrawn="1"/>
        </p:nvSpPr>
        <p:spPr>
          <a:xfrm>
            <a:off x="325704" y="193229"/>
            <a:ext cx="8489694" cy="544263"/>
          </a:xfrm>
          <a:prstGeom prst="rect">
            <a:avLst/>
          </a:prstGeom>
        </p:spPr>
        <p:txBody>
          <a:bodyPr lIns="71539" tIns="35770" rIns="71539" bIns="35770" anchor="ctr" anchorCtr="0"/>
          <a:lstStyle>
            <a:lvl1pPr marL="0" marR="0" indent="0" algn="l" defTabSz="995690" rtl="0" eaLnBrk="1" fontAlgn="auto" latinLnBrk="0" hangingPunct="1">
              <a:lnSpc>
                <a:spcPct val="100000"/>
              </a:lnSpc>
              <a:spcBef>
                <a:spcPts val="0"/>
              </a:spcBef>
              <a:spcAft>
                <a:spcPts val="0"/>
              </a:spcAft>
              <a:buClrTx/>
              <a:buSzTx/>
              <a:buFontTx/>
              <a:buNone/>
              <a:tabLst/>
              <a:defRPr sz="2200" b="1" i="0" kern="1200" baseline="0">
                <a:solidFill>
                  <a:schemeClr val="bg1"/>
                </a:solidFill>
                <a:latin typeface="Arial" pitchFamily="34" charset="0"/>
                <a:ea typeface="+mn-ea"/>
                <a:cs typeface="Arial" pitchFamily="34" charset="0"/>
              </a:defRPr>
            </a:lvl1pPr>
            <a:lvl2pPr marL="388942" indent="-190149" algn="l" defTabSz="995690" rtl="0" eaLnBrk="1" latinLnBrk="0" hangingPunct="1">
              <a:spcBef>
                <a:spcPts val="871"/>
              </a:spcBef>
              <a:buFont typeface="Symbol" pitchFamily="18" charset="2"/>
              <a:buChar char="-"/>
              <a:defRPr sz="2000" kern="1200">
                <a:solidFill>
                  <a:srgbClr val="002C59"/>
                </a:solidFill>
                <a:latin typeface="Arial" pitchFamily="34" charset="0"/>
                <a:ea typeface="+mn-ea"/>
                <a:cs typeface="Arial" pitchFamily="34" charset="0"/>
              </a:defRPr>
            </a:lvl2pPr>
            <a:lvl3pPr marL="587734" indent="-198793" algn="l" defTabSz="995690" rtl="0" eaLnBrk="1" latinLnBrk="0" hangingPunct="1">
              <a:spcBef>
                <a:spcPts val="871"/>
              </a:spcBef>
              <a:buFont typeface="Symbol" pitchFamily="18" charset="2"/>
              <a:buChar char="-"/>
              <a:defRPr sz="1700" kern="1200">
                <a:solidFill>
                  <a:srgbClr val="002C59"/>
                </a:solidFill>
                <a:latin typeface="Arial" pitchFamily="34" charset="0"/>
                <a:ea typeface="+mn-ea"/>
                <a:cs typeface="Arial" pitchFamily="34" charset="0"/>
              </a:defRPr>
            </a:lvl3pPr>
            <a:lvl4pPr marL="1493535" indent="0" algn="l" defTabSz="995690" rtl="0" eaLnBrk="1" latinLnBrk="0" hangingPunct="1">
              <a:spcBef>
                <a:spcPct val="20000"/>
              </a:spcBef>
              <a:buFontTx/>
              <a:buNone/>
              <a:defRPr sz="2200" kern="1200">
                <a:solidFill>
                  <a:schemeClr val="tx1"/>
                </a:solidFill>
                <a:latin typeface="+mn-lt"/>
                <a:ea typeface="+mn-ea"/>
                <a:cs typeface="+mn-cs"/>
              </a:defRPr>
            </a:lvl4pPr>
            <a:lvl5pPr marL="1991380" indent="0" algn="l" defTabSz="995690" rtl="0" eaLnBrk="1" latinLnBrk="0" hangingPunct="1">
              <a:spcBef>
                <a:spcPct val="20000"/>
              </a:spcBef>
              <a:buFontTx/>
              <a:buNone/>
              <a:defRPr sz="2200" kern="1200">
                <a:solidFill>
                  <a:schemeClr val="tx1"/>
                </a:solidFill>
                <a:latin typeface="+mn-lt"/>
                <a:ea typeface="+mn-ea"/>
                <a:cs typeface="+mn-cs"/>
              </a:defRPr>
            </a:lvl5pPr>
            <a:lvl6pPr marL="2738148" indent="-248923" algn="l" defTabSz="995690" rtl="0" eaLnBrk="1" latinLnBrk="0" hangingPunct="1">
              <a:spcBef>
                <a:spcPct val="20000"/>
              </a:spcBef>
              <a:buFont typeface="Arial" pitchFamily="34" charset="0"/>
              <a:buChar char="•"/>
              <a:defRPr sz="2200" kern="1200">
                <a:solidFill>
                  <a:schemeClr val="tx1"/>
                </a:solidFill>
                <a:latin typeface="+mn-lt"/>
                <a:ea typeface="+mn-ea"/>
                <a:cs typeface="+mn-cs"/>
              </a:defRPr>
            </a:lvl6pPr>
            <a:lvl7pPr marL="3235993" indent="-248923" algn="l" defTabSz="995690" rtl="0" eaLnBrk="1" latinLnBrk="0" hangingPunct="1">
              <a:spcBef>
                <a:spcPct val="20000"/>
              </a:spcBef>
              <a:buFont typeface="Arial" pitchFamily="34" charset="0"/>
              <a:buChar char="•"/>
              <a:defRPr sz="2200" kern="1200">
                <a:solidFill>
                  <a:schemeClr val="tx1"/>
                </a:solidFill>
                <a:latin typeface="+mn-lt"/>
                <a:ea typeface="+mn-ea"/>
                <a:cs typeface="+mn-cs"/>
              </a:defRPr>
            </a:lvl7pPr>
            <a:lvl8pPr marL="3733838" indent="-248923" algn="l" defTabSz="995690" rtl="0" eaLnBrk="1" latinLnBrk="0" hangingPunct="1">
              <a:spcBef>
                <a:spcPct val="20000"/>
              </a:spcBef>
              <a:buFont typeface="Arial" pitchFamily="34" charset="0"/>
              <a:buChar char="•"/>
              <a:defRPr sz="2200" kern="1200">
                <a:solidFill>
                  <a:schemeClr val="tx1"/>
                </a:solidFill>
                <a:latin typeface="+mn-lt"/>
                <a:ea typeface="+mn-ea"/>
                <a:cs typeface="+mn-cs"/>
              </a:defRPr>
            </a:lvl8pPr>
            <a:lvl9pPr marL="4231683" indent="-248923" algn="l" defTabSz="995690" rtl="0" eaLnBrk="1" latinLnBrk="0" hangingPunct="1">
              <a:spcBef>
                <a:spcPct val="20000"/>
              </a:spcBef>
              <a:buFont typeface="Arial" pitchFamily="34" charset="0"/>
              <a:buChar char="•"/>
              <a:defRPr sz="2200" kern="1200">
                <a:solidFill>
                  <a:schemeClr val="tx1"/>
                </a:solidFill>
                <a:latin typeface="+mn-lt"/>
                <a:ea typeface="+mn-ea"/>
                <a:cs typeface="+mn-cs"/>
              </a:defRPr>
            </a:lvl9pPr>
          </a:lstStyle>
          <a:p>
            <a:endParaRPr lang="de-DE" sz="2000" b="0" spc="23" dirty="0">
              <a:solidFill>
                <a:schemeClr val="bg1"/>
              </a:solidFill>
              <a:latin typeface="Arial"/>
              <a:cs typeface="Arial"/>
            </a:endParaRPr>
          </a:p>
        </p:txBody>
      </p:sp>
      <p:sp>
        <p:nvSpPr>
          <p:cNvPr id="17" name="Rechteck 12"/>
          <p:cNvSpPr>
            <a:spLocks noChangeArrowheads="1"/>
          </p:cNvSpPr>
          <p:nvPr userDrawn="1"/>
        </p:nvSpPr>
        <p:spPr bwMode="hidden">
          <a:xfrm>
            <a:off x="176868" y="179808"/>
            <a:ext cx="8787196" cy="900000"/>
          </a:xfrm>
          <a:prstGeom prst="rect">
            <a:avLst/>
          </a:prstGeom>
          <a:gradFill flip="none" rotWithShape="1">
            <a:gsLst>
              <a:gs pos="0">
                <a:srgbClr val="002B58"/>
              </a:gs>
              <a:gs pos="100000">
                <a:srgbClr val="0064A6"/>
              </a:gs>
            </a:gsLst>
            <a:lin ang="0" scaled="1"/>
            <a:tileRect/>
          </a:gradFill>
          <a:ln>
            <a:noFill/>
          </a:ln>
        </p:spPr>
        <p:txBody>
          <a:bodyPr lIns="0" tIns="0" rIns="0" bIns="0"/>
          <a:lstStyle/>
          <a:p>
            <a:endParaRPr lang="de-DE">
              <a:solidFill>
                <a:srgbClr val="000000"/>
              </a:solidFill>
              <a:ea typeface="ヒラギノ角ゴ Pro W3" charset="0"/>
              <a:cs typeface="ヒラギノ角ゴ Pro W3" charset="0"/>
            </a:endParaRPr>
          </a:p>
        </p:txBody>
      </p:sp>
      <p:sp>
        <p:nvSpPr>
          <p:cNvPr id="18" name="Titelplatzhalter 1"/>
          <p:cNvSpPr>
            <a:spLocks noGrp="1"/>
          </p:cNvSpPr>
          <p:nvPr>
            <p:ph type="title"/>
          </p:nvPr>
        </p:nvSpPr>
        <p:spPr>
          <a:xfrm>
            <a:off x="365302" y="352916"/>
            <a:ext cx="8489694" cy="571834"/>
          </a:xfrm>
          <a:prstGeom prst="rect">
            <a:avLst/>
          </a:prstGeom>
          <a:noFill/>
          <a:ln>
            <a:noFill/>
          </a:ln>
        </p:spPr>
        <p:txBody>
          <a:bodyPr vert="horz" lIns="0" tIns="0" rIns="0" bIns="0" rtlCol="0" anchor="ctr" anchorCtr="0">
            <a:noAutofit/>
          </a:bodyPr>
          <a:lstStyle>
            <a:lvl1pPr>
              <a:defRPr sz="2000"/>
            </a:lvl1pPr>
          </a:lstStyle>
          <a:p>
            <a:r>
              <a:rPr lang="de-DE"/>
              <a:t>Mastertitelformat bearbeiten</a:t>
            </a:r>
            <a:endParaRPr lang="fr-FR" dirty="0"/>
          </a:p>
        </p:txBody>
      </p:sp>
      <p:sp>
        <p:nvSpPr>
          <p:cNvPr id="19" name="Textplatzhalter 13"/>
          <p:cNvSpPr>
            <a:spLocks noGrp="1"/>
          </p:cNvSpPr>
          <p:nvPr>
            <p:ph type="body" sz="quarter" idx="10"/>
          </p:nvPr>
        </p:nvSpPr>
        <p:spPr>
          <a:xfrm>
            <a:off x="357197" y="1257933"/>
            <a:ext cx="8606867" cy="3201525"/>
          </a:xfrm>
          <a:prstGeom prst="rect">
            <a:avLst/>
          </a:prstGeom>
        </p:spPr>
        <p:txBody>
          <a:bodyPr/>
          <a:lstStyle>
            <a:lvl1pPr marL="277813" indent="-277813">
              <a:lnSpc>
                <a:spcPct val="120000"/>
              </a:lnSpc>
              <a:spcBef>
                <a:spcPts val="0"/>
              </a:spcBef>
              <a:defRPr sz="1600"/>
            </a:lvl1pPr>
            <a:lvl2pPr marL="562628" indent="-283178">
              <a:lnSpc>
                <a:spcPct val="120000"/>
              </a:lnSpc>
              <a:spcBef>
                <a:spcPts val="0"/>
              </a:spcBef>
              <a:defRPr sz="1400"/>
            </a:lvl2pPr>
            <a:lvl3pPr marL="840838" indent="-278209">
              <a:lnSpc>
                <a:spcPct val="120000"/>
              </a:lnSpc>
              <a:spcBef>
                <a:spcPts val="0"/>
              </a:spcBef>
              <a:defRPr sz="1400"/>
            </a:lvl3pPr>
            <a:lvl4pPr marL="1121529" indent="-280693">
              <a:lnSpc>
                <a:spcPct val="120000"/>
              </a:lnSpc>
              <a:spcBef>
                <a:spcPts val="0"/>
              </a:spcBef>
              <a:buFont typeface="Symbol" pitchFamily="18" charset="2"/>
              <a:buChar char="-"/>
              <a:defRPr sz="1400"/>
            </a:lvl4pPr>
            <a:lvl5pPr marL="1398497" indent="-276968">
              <a:lnSpc>
                <a:spcPct val="120000"/>
              </a:lnSpc>
              <a:spcBef>
                <a:spcPts val="0"/>
              </a:spcBef>
              <a:buFont typeface="Symbol" pitchFamily="18" charset="2"/>
              <a:buChar char="-"/>
              <a:defRPr sz="1400"/>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de-CH" dirty="0"/>
          </a:p>
        </p:txBody>
      </p:sp>
      <p:sp>
        <p:nvSpPr>
          <p:cNvPr id="2" name="Foliennummernplatzhalter 6">
            <a:extLst>
              <a:ext uri="{FF2B5EF4-FFF2-40B4-BE49-F238E27FC236}">
                <a16:creationId xmlns:a16="http://schemas.microsoft.com/office/drawing/2014/main" id="{F7218D48-5F01-2CA1-5536-AA74F8FC49D1}"/>
              </a:ext>
            </a:extLst>
          </p:cNvPr>
          <p:cNvSpPr>
            <a:spLocks noGrp="1"/>
          </p:cNvSpPr>
          <p:nvPr>
            <p:ph type="sldNum" sz="quarter" idx="4"/>
          </p:nvPr>
        </p:nvSpPr>
        <p:spPr>
          <a:xfrm>
            <a:off x="5732891" y="4931889"/>
            <a:ext cx="711317" cy="107722"/>
          </a:xfrm>
          <a:prstGeom prst="rect">
            <a:avLst/>
          </a:prstGeom>
          <a:noFill/>
        </p:spPr>
        <p:txBody>
          <a:bodyPr vert="horz" wrap="square" lIns="0" tIns="0" rIns="0" bIns="0" rtlCol="0" anchor="ctr" anchorCtr="0">
            <a:spAutoFit/>
          </a:bodyPr>
          <a:lstStyle>
            <a:lvl1pPr algn="l">
              <a:defRPr lang="de-CH" sz="700" smtClean="0">
                <a:solidFill>
                  <a:srgbClr val="012C59"/>
                </a:solidFill>
              </a:defRPr>
            </a:lvl1pPr>
          </a:lstStyle>
          <a:p>
            <a:pPr algn="ctr"/>
            <a:fld id="{05F9AC53-F790-4868-97E7-45E3866EE614}" type="slidenum">
              <a:rPr lang="de-CH" smtClean="0"/>
              <a:pPr algn="ctr"/>
              <a:t>‹Nr.›</a:t>
            </a:fld>
            <a:r>
              <a:rPr lang="de-CH" dirty="0"/>
              <a:t> </a:t>
            </a:r>
          </a:p>
        </p:txBody>
      </p:sp>
      <p:sp>
        <p:nvSpPr>
          <p:cNvPr id="3" name="Datumsplatzhalter 1">
            <a:extLst>
              <a:ext uri="{FF2B5EF4-FFF2-40B4-BE49-F238E27FC236}">
                <a16:creationId xmlns:a16="http://schemas.microsoft.com/office/drawing/2014/main" id="{EEDBF239-68AD-E9AA-1AC0-9B1DA5000EAE}"/>
              </a:ext>
            </a:extLst>
          </p:cNvPr>
          <p:cNvSpPr>
            <a:spLocks noGrp="1"/>
          </p:cNvSpPr>
          <p:nvPr>
            <p:ph type="dt" sz="half" idx="2"/>
          </p:nvPr>
        </p:nvSpPr>
        <p:spPr>
          <a:xfrm>
            <a:off x="366713" y="4931889"/>
            <a:ext cx="1292922" cy="107722"/>
          </a:xfrm>
          <a:prstGeom prst="rect">
            <a:avLst/>
          </a:prstGeom>
          <a:noFill/>
        </p:spPr>
        <p:txBody>
          <a:bodyPr vert="horz" wrap="square" lIns="0" tIns="0" rIns="0" bIns="0" rtlCol="0" anchor="ctr" anchorCtr="0">
            <a:spAutoFit/>
          </a:bodyPr>
          <a:lstStyle>
            <a:lvl1pPr>
              <a:defRPr lang="de-CH" sz="700" smtClean="0">
                <a:solidFill>
                  <a:srgbClr val="012C59"/>
                </a:solidFill>
              </a:defRPr>
            </a:lvl1pPr>
          </a:lstStyle>
          <a:p>
            <a:endParaRPr lang="de-DE" dirty="0"/>
          </a:p>
        </p:txBody>
      </p:sp>
      <p:sp>
        <p:nvSpPr>
          <p:cNvPr id="6" name="Fußzeilenplatzhalter 7">
            <a:extLst>
              <a:ext uri="{FF2B5EF4-FFF2-40B4-BE49-F238E27FC236}">
                <a16:creationId xmlns:a16="http://schemas.microsoft.com/office/drawing/2014/main" id="{21222E3D-C927-3F24-B4F9-467DB128D3B4}"/>
              </a:ext>
            </a:extLst>
          </p:cNvPr>
          <p:cNvSpPr>
            <a:spLocks noGrp="1"/>
          </p:cNvSpPr>
          <p:nvPr>
            <p:ph type="ftr" sz="quarter" idx="3"/>
          </p:nvPr>
        </p:nvSpPr>
        <p:spPr>
          <a:xfrm>
            <a:off x="2247829" y="4931889"/>
            <a:ext cx="2896867" cy="107722"/>
          </a:xfrm>
          <a:prstGeom prst="rect">
            <a:avLst/>
          </a:prstGeom>
        </p:spPr>
        <p:txBody>
          <a:bodyPr vert="horz" lIns="0" tIns="0" rIns="0" bIns="0" rtlCol="0" anchor="ctr">
            <a:spAutoFit/>
          </a:bodyPr>
          <a:lstStyle>
            <a:lvl1pPr algn="l">
              <a:defRPr sz="700">
                <a:solidFill>
                  <a:schemeClr val="tx1">
                    <a:tint val="75000"/>
                  </a:schemeClr>
                </a:solidFill>
              </a:defRPr>
            </a:lvl1pPr>
          </a:lstStyle>
          <a:p>
            <a:r>
              <a:rPr lang="de-CH">
                <a:solidFill>
                  <a:srgbClr val="012C59"/>
                </a:solidFill>
              </a:rPr>
              <a:t>CAS Pricing</a:t>
            </a:r>
            <a:endParaRPr lang="de-CH" dirty="0">
              <a:solidFill>
                <a:srgbClr val="012C59"/>
              </a:solidFill>
            </a:endParaRPr>
          </a:p>
        </p:txBody>
      </p:sp>
    </p:spTree>
    <p:extLst>
      <p:ext uri="{BB962C8B-B14F-4D97-AF65-F5344CB8AC3E}">
        <p14:creationId xmlns:p14="http://schemas.microsoft.com/office/powerpoint/2010/main" val="13755199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sp>
        <p:nvSpPr>
          <p:cNvPr id="10" name="Textplatzhalter 2"/>
          <p:cNvSpPr txBox="1">
            <a:spLocks/>
          </p:cNvSpPr>
          <p:nvPr userDrawn="1"/>
        </p:nvSpPr>
        <p:spPr>
          <a:xfrm>
            <a:off x="325704" y="193229"/>
            <a:ext cx="8489694" cy="544263"/>
          </a:xfrm>
          <a:prstGeom prst="rect">
            <a:avLst/>
          </a:prstGeom>
        </p:spPr>
        <p:txBody>
          <a:bodyPr lIns="71539" tIns="35770" rIns="71539" bIns="35770" anchor="ctr" anchorCtr="0"/>
          <a:lstStyle>
            <a:lvl1pPr marL="0" marR="0" indent="0" algn="l" defTabSz="995690" rtl="0" eaLnBrk="1" fontAlgn="auto" latinLnBrk="0" hangingPunct="1">
              <a:lnSpc>
                <a:spcPct val="100000"/>
              </a:lnSpc>
              <a:spcBef>
                <a:spcPts val="0"/>
              </a:spcBef>
              <a:spcAft>
                <a:spcPts val="0"/>
              </a:spcAft>
              <a:buClrTx/>
              <a:buSzTx/>
              <a:buFontTx/>
              <a:buNone/>
              <a:tabLst/>
              <a:defRPr sz="2200" b="1" i="0" kern="1200" baseline="0">
                <a:solidFill>
                  <a:schemeClr val="bg1"/>
                </a:solidFill>
                <a:latin typeface="Arial" pitchFamily="34" charset="0"/>
                <a:ea typeface="+mn-ea"/>
                <a:cs typeface="Arial" pitchFamily="34" charset="0"/>
              </a:defRPr>
            </a:lvl1pPr>
            <a:lvl2pPr marL="388942" indent="-190149" algn="l" defTabSz="995690" rtl="0" eaLnBrk="1" latinLnBrk="0" hangingPunct="1">
              <a:spcBef>
                <a:spcPts val="871"/>
              </a:spcBef>
              <a:buFont typeface="Symbol" pitchFamily="18" charset="2"/>
              <a:buChar char="-"/>
              <a:defRPr sz="2000" kern="1200">
                <a:solidFill>
                  <a:srgbClr val="002C59"/>
                </a:solidFill>
                <a:latin typeface="Arial" pitchFamily="34" charset="0"/>
                <a:ea typeface="+mn-ea"/>
                <a:cs typeface="Arial" pitchFamily="34" charset="0"/>
              </a:defRPr>
            </a:lvl2pPr>
            <a:lvl3pPr marL="587734" indent="-198793" algn="l" defTabSz="995690" rtl="0" eaLnBrk="1" latinLnBrk="0" hangingPunct="1">
              <a:spcBef>
                <a:spcPts val="871"/>
              </a:spcBef>
              <a:buFont typeface="Symbol" pitchFamily="18" charset="2"/>
              <a:buChar char="-"/>
              <a:defRPr sz="1700" kern="1200">
                <a:solidFill>
                  <a:srgbClr val="002C59"/>
                </a:solidFill>
                <a:latin typeface="Arial" pitchFamily="34" charset="0"/>
                <a:ea typeface="+mn-ea"/>
                <a:cs typeface="Arial" pitchFamily="34" charset="0"/>
              </a:defRPr>
            </a:lvl3pPr>
            <a:lvl4pPr marL="1493535" indent="0" algn="l" defTabSz="995690" rtl="0" eaLnBrk="1" latinLnBrk="0" hangingPunct="1">
              <a:spcBef>
                <a:spcPct val="20000"/>
              </a:spcBef>
              <a:buFontTx/>
              <a:buNone/>
              <a:defRPr sz="2200" kern="1200">
                <a:solidFill>
                  <a:schemeClr val="tx1"/>
                </a:solidFill>
                <a:latin typeface="+mn-lt"/>
                <a:ea typeface="+mn-ea"/>
                <a:cs typeface="+mn-cs"/>
              </a:defRPr>
            </a:lvl4pPr>
            <a:lvl5pPr marL="1991380" indent="0" algn="l" defTabSz="995690" rtl="0" eaLnBrk="1" latinLnBrk="0" hangingPunct="1">
              <a:spcBef>
                <a:spcPct val="20000"/>
              </a:spcBef>
              <a:buFontTx/>
              <a:buNone/>
              <a:defRPr sz="2200" kern="1200">
                <a:solidFill>
                  <a:schemeClr val="tx1"/>
                </a:solidFill>
                <a:latin typeface="+mn-lt"/>
                <a:ea typeface="+mn-ea"/>
                <a:cs typeface="+mn-cs"/>
              </a:defRPr>
            </a:lvl5pPr>
            <a:lvl6pPr marL="2738148" indent="-248923" algn="l" defTabSz="995690" rtl="0" eaLnBrk="1" latinLnBrk="0" hangingPunct="1">
              <a:spcBef>
                <a:spcPct val="20000"/>
              </a:spcBef>
              <a:buFont typeface="Arial" pitchFamily="34" charset="0"/>
              <a:buChar char="•"/>
              <a:defRPr sz="2200" kern="1200">
                <a:solidFill>
                  <a:schemeClr val="tx1"/>
                </a:solidFill>
                <a:latin typeface="+mn-lt"/>
                <a:ea typeface="+mn-ea"/>
                <a:cs typeface="+mn-cs"/>
              </a:defRPr>
            </a:lvl6pPr>
            <a:lvl7pPr marL="3235993" indent="-248923" algn="l" defTabSz="995690" rtl="0" eaLnBrk="1" latinLnBrk="0" hangingPunct="1">
              <a:spcBef>
                <a:spcPct val="20000"/>
              </a:spcBef>
              <a:buFont typeface="Arial" pitchFamily="34" charset="0"/>
              <a:buChar char="•"/>
              <a:defRPr sz="2200" kern="1200">
                <a:solidFill>
                  <a:schemeClr val="tx1"/>
                </a:solidFill>
                <a:latin typeface="+mn-lt"/>
                <a:ea typeface="+mn-ea"/>
                <a:cs typeface="+mn-cs"/>
              </a:defRPr>
            </a:lvl7pPr>
            <a:lvl8pPr marL="3733838" indent="-248923" algn="l" defTabSz="995690" rtl="0" eaLnBrk="1" latinLnBrk="0" hangingPunct="1">
              <a:spcBef>
                <a:spcPct val="20000"/>
              </a:spcBef>
              <a:buFont typeface="Arial" pitchFamily="34" charset="0"/>
              <a:buChar char="•"/>
              <a:defRPr sz="2200" kern="1200">
                <a:solidFill>
                  <a:schemeClr val="tx1"/>
                </a:solidFill>
                <a:latin typeface="+mn-lt"/>
                <a:ea typeface="+mn-ea"/>
                <a:cs typeface="+mn-cs"/>
              </a:defRPr>
            </a:lvl8pPr>
            <a:lvl9pPr marL="4231683" indent="-248923" algn="l" defTabSz="995690" rtl="0" eaLnBrk="1" latinLnBrk="0" hangingPunct="1">
              <a:spcBef>
                <a:spcPct val="20000"/>
              </a:spcBef>
              <a:buFont typeface="Arial" pitchFamily="34" charset="0"/>
              <a:buChar char="•"/>
              <a:defRPr sz="2200" kern="1200">
                <a:solidFill>
                  <a:schemeClr val="tx1"/>
                </a:solidFill>
                <a:latin typeface="+mn-lt"/>
                <a:ea typeface="+mn-ea"/>
                <a:cs typeface="+mn-cs"/>
              </a:defRPr>
            </a:lvl9pPr>
          </a:lstStyle>
          <a:p>
            <a:endParaRPr lang="de-DE" sz="2000" b="0" spc="23" dirty="0">
              <a:solidFill>
                <a:schemeClr val="bg1"/>
              </a:solidFill>
              <a:latin typeface="Arial"/>
              <a:cs typeface="Arial"/>
            </a:endParaRPr>
          </a:p>
        </p:txBody>
      </p:sp>
      <p:sp>
        <p:nvSpPr>
          <p:cNvPr id="11" name="Titelplatzhalter 1"/>
          <p:cNvSpPr>
            <a:spLocks noGrp="1"/>
          </p:cNvSpPr>
          <p:nvPr>
            <p:ph type="title"/>
          </p:nvPr>
        </p:nvSpPr>
        <p:spPr>
          <a:xfrm>
            <a:off x="365302" y="352916"/>
            <a:ext cx="8489694" cy="571834"/>
          </a:xfrm>
          <a:prstGeom prst="rect">
            <a:avLst/>
          </a:prstGeom>
          <a:noFill/>
          <a:ln>
            <a:noFill/>
          </a:ln>
        </p:spPr>
        <p:txBody>
          <a:bodyPr vert="horz" lIns="0" tIns="0" rIns="0" bIns="0" rtlCol="0" anchor="ctr" anchorCtr="0">
            <a:noAutofit/>
          </a:bodyPr>
          <a:lstStyle>
            <a:lvl1pPr>
              <a:defRPr sz="2000"/>
            </a:lvl1pPr>
          </a:lstStyle>
          <a:p>
            <a:r>
              <a:rPr lang="de-DE"/>
              <a:t>Mastertitelformat bearbeiten</a:t>
            </a:r>
            <a:endParaRPr lang="fr-FR" dirty="0"/>
          </a:p>
        </p:txBody>
      </p:sp>
      <p:sp>
        <p:nvSpPr>
          <p:cNvPr id="2" name="Foliennummernplatzhalter 6">
            <a:extLst>
              <a:ext uri="{FF2B5EF4-FFF2-40B4-BE49-F238E27FC236}">
                <a16:creationId xmlns:a16="http://schemas.microsoft.com/office/drawing/2014/main" id="{2F823909-434A-D95B-7FD9-70E8E90C2AF6}"/>
              </a:ext>
            </a:extLst>
          </p:cNvPr>
          <p:cNvSpPr>
            <a:spLocks noGrp="1"/>
          </p:cNvSpPr>
          <p:nvPr>
            <p:ph type="sldNum" sz="quarter" idx="4"/>
          </p:nvPr>
        </p:nvSpPr>
        <p:spPr>
          <a:xfrm>
            <a:off x="5732891" y="4931889"/>
            <a:ext cx="711317" cy="107722"/>
          </a:xfrm>
          <a:prstGeom prst="rect">
            <a:avLst/>
          </a:prstGeom>
          <a:noFill/>
        </p:spPr>
        <p:txBody>
          <a:bodyPr vert="horz" wrap="square" lIns="0" tIns="0" rIns="0" bIns="0" rtlCol="0" anchor="ctr" anchorCtr="0">
            <a:spAutoFit/>
          </a:bodyPr>
          <a:lstStyle>
            <a:lvl1pPr algn="l">
              <a:defRPr lang="de-CH" sz="700" smtClean="0">
                <a:solidFill>
                  <a:srgbClr val="012C59"/>
                </a:solidFill>
              </a:defRPr>
            </a:lvl1pPr>
          </a:lstStyle>
          <a:p>
            <a:pPr algn="ctr"/>
            <a:fld id="{05F9AC53-F790-4868-97E7-45E3866EE614}" type="slidenum">
              <a:rPr lang="de-CH" smtClean="0"/>
              <a:pPr algn="ctr"/>
              <a:t>‹Nr.›</a:t>
            </a:fld>
            <a:r>
              <a:rPr lang="de-CH" dirty="0"/>
              <a:t> </a:t>
            </a:r>
          </a:p>
        </p:txBody>
      </p:sp>
      <p:sp>
        <p:nvSpPr>
          <p:cNvPr id="3" name="Datumsplatzhalter 1">
            <a:extLst>
              <a:ext uri="{FF2B5EF4-FFF2-40B4-BE49-F238E27FC236}">
                <a16:creationId xmlns:a16="http://schemas.microsoft.com/office/drawing/2014/main" id="{671F6185-9E0A-9111-A9FA-7850661A9E59}"/>
              </a:ext>
            </a:extLst>
          </p:cNvPr>
          <p:cNvSpPr>
            <a:spLocks noGrp="1"/>
          </p:cNvSpPr>
          <p:nvPr>
            <p:ph type="dt" sz="half" idx="2"/>
          </p:nvPr>
        </p:nvSpPr>
        <p:spPr>
          <a:xfrm>
            <a:off x="366713" y="4931889"/>
            <a:ext cx="1292922" cy="107722"/>
          </a:xfrm>
          <a:prstGeom prst="rect">
            <a:avLst/>
          </a:prstGeom>
          <a:noFill/>
        </p:spPr>
        <p:txBody>
          <a:bodyPr vert="horz" wrap="square" lIns="0" tIns="0" rIns="0" bIns="0" rtlCol="0" anchor="ctr" anchorCtr="0">
            <a:spAutoFit/>
          </a:bodyPr>
          <a:lstStyle>
            <a:lvl1pPr>
              <a:defRPr lang="de-CH" sz="700" smtClean="0">
                <a:solidFill>
                  <a:srgbClr val="012C59"/>
                </a:solidFill>
              </a:defRPr>
            </a:lvl1pPr>
          </a:lstStyle>
          <a:p>
            <a:endParaRPr lang="de-DE" dirty="0"/>
          </a:p>
        </p:txBody>
      </p:sp>
      <p:sp>
        <p:nvSpPr>
          <p:cNvPr id="6" name="Fußzeilenplatzhalter 7">
            <a:extLst>
              <a:ext uri="{FF2B5EF4-FFF2-40B4-BE49-F238E27FC236}">
                <a16:creationId xmlns:a16="http://schemas.microsoft.com/office/drawing/2014/main" id="{4BEAB1BF-F8EE-7B04-9D92-0CF21ABDEA32}"/>
              </a:ext>
            </a:extLst>
          </p:cNvPr>
          <p:cNvSpPr>
            <a:spLocks noGrp="1"/>
          </p:cNvSpPr>
          <p:nvPr>
            <p:ph type="ftr" sz="quarter" idx="3"/>
          </p:nvPr>
        </p:nvSpPr>
        <p:spPr>
          <a:xfrm>
            <a:off x="2247829" y="4931889"/>
            <a:ext cx="2896867" cy="107722"/>
          </a:xfrm>
          <a:prstGeom prst="rect">
            <a:avLst/>
          </a:prstGeom>
        </p:spPr>
        <p:txBody>
          <a:bodyPr vert="horz" lIns="0" tIns="0" rIns="0" bIns="0" rtlCol="0" anchor="ctr">
            <a:spAutoFit/>
          </a:bodyPr>
          <a:lstStyle>
            <a:lvl1pPr algn="l">
              <a:defRPr sz="700">
                <a:solidFill>
                  <a:schemeClr val="tx1">
                    <a:tint val="75000"/>
                  </a:schemeClr>
                </a:solidFill>
              </a:defRPr>
            </a:lvl1pPr>
          </a:lstStyle>
          <a:p>
            <a:r>
              <a:rPr lang="de-CH">
                <a:solidFill>
                  <a:srgbClr val="012C59"/>
                </a:solidFill>
              </a:rPr>
              <a:t>CAS Pricing</a:t>
            </a:r>
            <a:endParaRPr lang="de-CH" dirty="0">
              <a:solidFill>
                <a:srgbClr val="012C59"/>
              </a:solidFill>
            </a:endParaRPr>
          </a:p>
        </p:txBody>
      </p:sp>
    </p:spTree>
    <p:extLst>
      <p:ext uri="{BB962C8B-B14F-4D97-AF65-F5344CB8AC3E}">
        <p14:creationId xmlns:p14="http://schemas.microsoft.com/office/powerpoint/2010/main" val="2577214858"/>
      </p:ext>
    </p:extLst>
  </p:cSld>
  <p:clrMapOvr>
    <a:masterClrMapping/>
  </p:clrMapOvr>
  <p:extLst>
    <p:ext uri="{DCECCB84-F9BA-43D5-87BE-67443E8EF086}">
      <p15:sldGuideLst xmlns:p15="http://schemas.microsoft.com/office/powerpoint/2012/main">
        <p15:guide id="1" orient="horz" pos="2845">
          <p15:clr>
            <a:srgbClr val="FBAE40"/>
          </p15:clr>
        </p15:guide>
        <p15:guide id="2" orient="horz" pos="78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itel ohne blauen Balke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568484" y="4746868"/>
            <a:ext cx="1398893" cy="254563"/>
          </a:xfrm>
          <a:prstGeom prst="rect">
            <a:avLst/>
          </a:prstGeom>
        </p:spPr>
      </p:pic>
      <p:sp>
        <p:nvSpPr>
          <p:cNvPr id="5" name="Titelplatzhalter 1">
            <a:extLst>
              <a:ext uri="{FF2B5EF4-FFF2-40B4-BE49-F238E27FC236}">
                <a16:creationId xmlns:a16="http://schemas.microsoft.com/office/drawing/2014/main" id="{D1CA2EAC-E42B-88D7-5383-A842B0DB4614}"/>
              </a:ext>
            </a:extLst>
          </p:cNvPr>
          <p:cNvSpPr>
            <a:spLocks noGrp="1"/>
          </p:cNvSpPr>
          <p:nvPr>
            <p:ph type="title"/>
          </p:nvPr>
        </p:nvSpPr>
        <p:spPr>
          <a:xfrm>
            <a:off x="365302" y="352916"/>
            <a:ext cx="8489694" cy="571834"/>
          </a:xfrm>
          <a:prstGeom prst="rect">
            <a:avLst/>
          </a:prstGeom>
          <a:noFill/>
          <a:ln>
            <a:noFill/>
          </a:ln>
        </p:spPr>
        <p:txBody>
          <a:bodyPr vert="horz" lIns="0" tIns="0" rIns="0" bIns="0" rtlCol="0" anchor="ctr" anchorCtr="0">
            <a:noAutofit/>
          </a:bodyPr>
          <a:lstStyle>
            <a:lvl1pPr>
              <a:defRPr sz="2000">
                <a:solidFill>
                  <a:srgbClr val="012C59"/>
                </a:solidFill>
              </a:defRPr>
            </a:lvl1pPr>
          </a:lstStyle>
          <a:p>
            <a:r>
              <a:rPr lang="de-DE" dirty="0"/>
              <a:t>Mastertitelformat bearbeiten</a:t>
            </a:r>
            <a:endParaRPr lang="fr-FR" dirty="0"/>
          </a:p>
        </p:txBody>
      </p:sp>
      <p:pic>
        <p:nvPicPr>
          <p:cNvPr id="9" name="Grafik 8">
            <a:extLst>
              <a:ext uri="{FF2B5EF4-FFF2-40B4-BE49-F238E27FC236}">
                <a16:creationId xmlns:a16="http://schemas.microsoft.com/office/drawing/2014/main" id="{00E49AA3-ACE7-7097-DDC3-1A71E916F120}"/>
              </a:ext>
            </a:extLst>
          </p:cNvPr>
          <p:cNvPicPr>
            <a:picLocks noChangeAspect="1"/>
          </p:cNvPicPr>
          <p:nvPr userDrawn="1"/>
        </p:nvPicPr>
        <p:blipFill>
          <a:blip r:embed="rId3"/>
          <a:stretch>
            <a:fillRect/>
          </a:stretch>
        </p:blipFill>
        <p:spPr>
          <a:xfrm>
            <a:off x="6800400" y="4936324"/>
            <a:ext cx="2061125" cy="109389"/>
          </a:xfrm>
          <a:prstGeom prst="rect">
            <a:avLst/>
          </a:prstGeom>
        </p:spPr>
      </p:pic>
      <p:sp>
        <p:nvSpPr>
          <p:cNvPr id="3" name="Foliennummernplatzhalter 6">
            <a:extLst>
              <a:ext uri="{FF2B5EF4-FFF2-40B4-BE49-F238E27FC236}">
                <a16:creationId xmlns:a16="http://schemas.microsoft.com/office/drawing/2014/main" id="{81EFBF76-20E1-4228-5D7D-3C6C3C3D54E5}"/>
              </a:ext>
            </a:extLst>
          </p:cNvPr>
          <p:cNvSpPr>
            <a:spLocks noGrp="1"/>
          </p:cNvSpPr>
          <p:nvPr>
            <p:ph type="sldNum" sz="quarter" idx="4"/>
          </p:nvPr>
        </p:nvSpPr>
        <p:spPr>
          <a:xfrm>
            <a:off x="5732891" y="4931889"/>
            <a:ext cx="711317" cy="107722"/>
          </a:xfrm>
          <a:prstGeom prst="rect">
            <a:avLst/>
          </a:prstGeom>
          <a:noFill/>
        </p:spPr>
        <p:txBody>
          <a:bodyPr vert="horz" wrap="square" lIns="0" tIns="0" rIns="0" bIns="0" rtlCol="0" anchor="ctr" anchorCtr="0">
            <a:spAutoFit/>
          </a:bodyPr>
          <a:lstStyle>
            <a:lvl1pPr algn="l">
              <a:defRPr lang="de-CH" sz="700" smtClean="0">
                <a:solidFill>
                  <a:srgbClr val="012C59"/>
                </a:solidFill>
              </a:defRPr>
            </a:lvl1pPr>
          </a:lstStyle>
          <a:p>
            <a:pPr algn="ctr"/>
            <a:fld id="{05F9AC53-F790-4868-97E7-45E3866EE614}" type="slidenum">
              <a:rPr lang="de-CH" smtClean="0"/>
              <a:pPr algn="ctr"/>
              <a:t>‹Nr.›</a:t>
            </a:fld>
            <a:r>
              <a:rPr lang="de-CH" dirty="0"/>
              <a:t> </a:t>
            </a:r>
          </a:p>
        </p:txBody>
      </p:sp>
      <p:sp>
        <p:nvSpPr>
          <p:cNvPr id="6" name="Datumsplatzhalter 1">
            <a:extLst>
              <a:ext uri="{FF2B5EF4-FFF2-40B4-BE49-F238E27FC236}">
                <a16:creationId xmlns:a16="http://schemas.microsoft.com/office/drawing/2014/main" id="{734E5929-6402-9BD5-BAE4-EBD22B96F2A6}"/>
              </a:ext>
            </a:extLst>
          </p:cNvPr>
          <p:cNvSpPr>
            <a:spLocks noGrp="1"/>
          </p:cNvSpPr>
          <p:nvPr>
            <p:ph type="dt" sz="half" idx="2"/>
          </p:nvPr>
        </p:nvSpPr>
        <p:spPr>
          <a:xfrm>
            <a:off x="366713" y="4931889"/>
            <a:ext cx="1292922" cy="107722"/>
          </a:xfrm>
          <a:prstGeom prst="rect">
            <a:avLst/>
          </a:prstGeom>
          <a:noFill/>
        </p:spPr>
        <p:txBody>
          <a:bodyPr vert="horz" wrap="square" lIns="0" tIns="0" rIns="0" bIns="0" rtlCol="0" anchor="ctr" anchorCtr="0">
            <a:spAutoFit/>
          </a:bodyPr>
          <a:lstStyle>
            <a:lvl1pPr>
              <a:defRPr lang="de-CH" sz="700" smtClean="0">
                <a:solidFill>
                  <a:srgbClr val="012C59"/>
                </a:solidFill>
              </a:defRPr>
            </a:lvl1pPr>
          </a:lstStyle>
          <a:p>
            <a:endParaRPr lang="de-DE" dirty="0"/>
          </a:p>
        </p:txBody>
      </p:sp>
      <p:sp>
        <p:nvSpPr>
          <p:cNvPr id="7" name="Fußzeilenplatzhalter 7">
            <a:extLst>
              <a:ext uri="{FF2B5EF4-FFF2-40B4-BE49-F238E27FC236}">
                <a16:creationId xmlns:a16="http://schemas.microsoft.com/office/drawing/2014/main" id="{AAFA4EF1-D4B7-F176-1DCB-24BB16940474}"/>
              </a:ext>
            </a:extLst>
          </p:cNvPr>
          <p:cNvSpPr>
            <a:spLocks noGrp="1"/>
          </p:cNvSpPr>
          <p:nvPr>
            <p:ph type="ftr" sz="quarter" idx="3"/>
          </p:nvPr>
        </p:nvSpPr>
        <p:spPr>
          <a:xfrm>
            <a:off x="2247829" y="4931889"/>
            <a:ext cx="2896867" cy="107722"/>
          </a:xfrm>
          <a:prstGeom prst="rect">
            <a:avLst/>
          </a:prstGeom>
        </p:spPr>
        <p:txBody>
          <a:bodyPr vert="horz" lIns="0" tIns="0" rIns="0" bIns="0" rtlCol="0" anchor="ctr">
            <a:spAutoFit/>
          </a:bodyPr>
          <a:lstStyle>
            <a:lvl1pPr algn="l">
              <a:defRPr sz="700">
                <a:solidFill>
                  <a:schemeClr val="tx1">
                    <a:tint val="75000"/>
                  </a:schemeClr>
                </a:solidFill>
              </a:defRPr>
            </a:lvl1pPr>
          </a:lstStyle>
          <a:p>
            <a:r>
              <a:rPr lang="de-CH">
                <a:solidFill>
                  <a:srgbClr val="012C59"/>
                </a:solidFill>
              </a:rPr>
              <a:t>CAS Pricing</a:t>
            </a:r>
            <a:endParaRPr lang="de-CH" dirty="0">
              <a:solidFill>
                <a:srgbClr val="012C59"/>
              </a:solidFill>
            </a:endParaRPr>
          </a:p>
        </p:txBody>
      </p:sp>
    </p:spTree>
    <p:extLst>
      <p:ext uri="{BB962C8B-B14F-4D97-AF65-F5344CB8AC3E}">
        <p14:creationId xmlns:p14="http://schemas.microsoft.com/office/powerpoint/2010/main" val="20159815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rennseite">
    <p:spTree>
      <p:nvGrpSpPr>
        <p:cNvPr id="1" name=""/>
        <p:cNvGrpSpPr/>
        <p:nvPr/>
      </p:nvGrpSpPr>
      <p:grpSpPr>
        <a:xfrm>
          <a:off x="0" y="0"/>
          <a:ext cx="0" cy="0"/>
          <a:chOff x="0" y="0"/>
          <a:chExt cx="0" cy="0"/>
        </a:xfrm>
      </p:grpSpPr>
      <p:sp>
        <p:nvSpPr>
          <p:cNvPr id="7" name="Rechteck 12">
            <a:extLst>
              <a:ext uri="{FF2B5EF4-FFF2-40B4-BE49-F238E27FC236}">
                <a16:creationId xmlns:a16="http://schemas.microsoft.com/office/drawing/2014/main" id="{4A893E88-2E06-4BD1-8A99-E6CED8937C40}"/>
              </a:ext>
            </a:extLst>
          </p:cNvPr>
          <p:cNvSpPr>
            <a:spLocks noGrp="1" noRot="1" noMove="1" noResize="1" noEditPoints="1" noAdjustHandles="1" noChangeArrowheads="1" noChangeShapeType="1"/>
          </p:cNvSpPr>
          <p:nvPr userDrawn="1"/>
        </p:nvSpPr>
        <p:spPr bwMode="hidden">
          <a:xfrm>
            <a:off x="0" y="-10269"/>
            <a:ext cx="9144000" cy="5164038"/>
          </a:xfrm>
          <a:prstGeom prst="rect">
            <a:avLst/>
          </a:prstGeom>
          <a:gradFill flip="none" rotWithShape="1">
            <a:gsLst>
              <a:gs pos="0">
                <a:srgbClr val="002B58"/>
              </a:gs>
              <a:gs pos="100000">
                <a:srgbClr val="0064A6"/>
              </a:gs>
            </a:gsLst>
            <a:lin ang="0" scaled="1"/>
            <a:tileRect/>
          </a:gradFill>
          <a:ln>
            <a:noFill/>
          </a:ln>
        </p:spPr>
        <p:txBody>
          <a:bodyPr lIns="0" tIns="0" rIns="0" bIns="0"/>
          <a:lstStyle/>
          <a:p>
            <a:endParaRPr lang="de-DE" dirty="0">
              <a:solidFill>
                <a:srgbClr val="000000"/>
              </a:solidFill>
              <a:ea typeface="ヒラギノ角ゴ Pro W3" charset="0"/>
              <a:cs typeface="ヒラギノ角ゴ Pro W3" charset="0"/>
            </a:endParaRPr>
          </a:p>
        </p:txBody>
      </p:sp>
      <p:sp>
        <p:nvSpPr>
          <p:cNvPr id="3" name="Content Placeholder 2">
            <a:extLst>
              <a:ext uri="{FF2B5EF4-FFF2-40B4-BE49-F238E27FC236}">
                <a16:creationId xmlns:a16="http://schemas.microsoft.com/office/drawing/2014/main" id="{E59BF654-5D24-4C6B-87B9-C62BD9FC6140}"/>
              </a:ext>
            </a:extLst>
          </p:cNvPr>
          <p:cNvSpPr>
            <a:spLocks noGrp="1"/>
          </p:cNvSpPr>
          <p:nvPr>
            <p:ph sz="quarter" idx="10"/>
          </p:nvPr>
        </p:nvSpPr>
        <p:spPr>
          <a:xfrm>
            <a:off x="366712" y="2093396"/>
            <a:ext cx="8597775" cy="2106234"/>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CH" noProof="0" dirty="0"/>
              <a:t>Mastertextformat bearbeiten</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
        <p:nvSpPr>
          <p:cNvPr id="11" name="Titelplatzhalter 1">
            <a:extLst>
              <a:ext uri="{FF2B5EF4-FFF2-40B4-BE49-F238E27FC236}">
                <a16:creationId xmlns:a16="http://schemas.microsoft.com/office/drawing/2014/main" id="{CE281D38-FA4F-4C5F-AF5F-D01CA2DA8F28}"/>
              </a:ext>
            </a:extLst>
          </p:cNvPr>
          <p:cNvSpPr>
            <a:spLocks noGrp="1"/>
          </p:cNvSpPr>
          <p:nvPr>
            <p:ph type="title"/>
          </p:nvPr>
        </p:nvSpPr>
        <p:spPr>
          <a:xfrm>
            <a:off x="366713" y="1004286"/>
            <a:ext cx="8597775" cy="713343"/>
          </a:xfrm>
          <a:prstGeom prst="rect">
            <a:avLst/>
          </a:prstGeom>
          <a:noFill/>
          <a:ln>
            <a:noFill/>
          </a:ln>
        </p:spPr>
        <p:txBody>
          <a:bodyPr vert="horz" lIns="0" tIns="0" rIns="0" bIns="0" rtlCol="0" anchor="t" anchorCtr="0">
            <a:noAutofit/>
          </a:bodyPr>
          <a:lstStyle>
            <a:lvl1pPr>
              <a:defRPr sz="2200"/>
            </a:lvl1pPr>
          </a:lstStyle>
          <a:p>
            <a:r>
              <a:rPr lang="de-DE"/>
              <a:t>Mastertitelformat bearbeiten</a:t>
            </a:r>
            <a:endParaRPr lang="fr-FR" dirty="0"/>
          </a:p>
        </p:txBody>
      </p:sp>
      <p:pic>
        <p:nvPicPr>
          <p:cNvPr id="9" name="Grafik 8">
            <a:extLst>
              <a:ext uri="{FF2B5EF4-FFF2-40B4-BE49-F238E27FC236}">
                <a16:creationId xmlns:a16="http://schemas.microsoft.com/office/drawing/2014/main" id="{3A59D2F6-5AB5-17AA-E8E5-6F7BEE2087AF}"/>
              </a:ext>
            </a:extLst>
          </p:cNvPr>
          <p:cNvPicPr>
            <a:picLocks noChangeAspect="1"/>
          </p:cNvPicPr>
          <p:nvPr userDrawn="1"/>
        </p:nvPicPr>
        <p:blipFill>
          <a:blip r:embed="rId2"/>
          <a:srcRect/>
          <a:stretch/>
        </p:blipFill>
        <p:spPr>
          <a:xfrm>
            <a:off x="6800404" y="4936324"/>
            <a:ext cx="2061117" cy="109389"/>
          </a:xfrm>
          <a:prstGeom prst="rect">
            <a:avLst/>
          </a:prstGeom>
        </p:spPr>
      </p:pic>
      <p:sp>
        <p:nvSpPr>
          <p:cNvPr id="2" name="Foliennummernplatzhalter 6">
            <a:extLst>
              <a:ext uri="{FF2B5EF4-FFF2-40B4-BE49-F238E27FC236}">
                <a16:creationId xmlns:a16="http://schemas.microsoft.com/office/drawing/2014/main" id="{8FEBD6C9-97A3-CBD8-CCFF-74765A789FDB}"/>
              </a:ext>
            </a:extLst>
          </p:cNvPr>
          <p:cNvSpPr>
            <a:spLocks noGrp="1"/>
          </p:cNvSpPr>
          <p:nvPr>
            <p:ph type="sldNum" sz="quarter" idx="4"/>
          </p:nvPr>
        </p:nvSpPr>
        <p:spPr>
          <a:xfrm>
            <a:off x="5732891" y="4931889"/>
            <a:ext cx="711317" cy="107722"/>
          </a:xfrm>
          <a:prstGeom prst="rect">
            <a:avLst/>
          </a:prstGeom>
          <a:noFill/>
        </p:spPr>
        <p:txBody>
          <a:bodyPr vert="horz" wrap="square" lIns="0" tIns="0" rIns="0" bIns="0" rtlCol="0" anchor="ctr" anchorCtr="0">
            <a:spAutoFit/>
          </a:bodyPr>
          <a:lstStyle>
            <a:lvl1pPr algn="l">
              <a:defRPr lang="de-CH" sz="700" smtClean="0">
                <a:solidFill>
                  <a:schemeClr val="bg1"/>
                </a:solidFill>
              </a:defRPr>
            </a:lvl1pPr>
          </a:lstStyle>
          <a:p>
            <a:pPr algn="ctr"/>
            <a:fld id="{05F9AC53-F790-4868-97E7-45E3866EE614}" type="slidenum">
              <a:rPr lang="de-CH" smtClean="0"/>
              <a:pPr algn="ctr"/>
              <a:t>‹Nr.›</a:t>
            </a:fld>
            <a:r>
              <a:rPr lang="de-CH"/>
              <a:t> </a:t>
            </a:r>
            <a:endParaRPr lang="de-CH" dirty="0"/>
          </a:p>
        </p:txBody>
      </p:sp>
      <p:sp>
        <p:nvSpPr>
          <p:cNvPr id="4" name="Datumsplatzhalter 1">
            <a:extLst>
              <a:ext uri="{FF2B5EF4-FFF2-40B4-BE49-F238E27FC236}">
                <a16:creationId xmlns:a16="http://schemas.microsoft.com/office/drawing/2014/main" id="{7D653DF9-884E-01B6-8631-3B361E17AB79}"/>
              </a:ext>
            </a:extLst>
          </p:cNvPr>
          <p:cNvSpPr>
            <a:spLocks noGrp="1"/>
          </p:cNvSpPr>
          <p:nvPr>
            <p:ph type="dt" sz="half" idx="2"/>
          </p:nvPr>
        </p:nvSpPr>
        <p:spPr>
          <a:xfrm>
            <a:off x="366713" y="4931889"/>
            <a:ext cx="1292922" cy="107722"/>
          </a:xfrm>
          <a:prstGeom prst="rect">
            <a:avLst/>
          </a:prstGeom>
          <a:noFill/>
        </p:spPr>
        <p:txBody>
          <a:bodyPr vert="horz" wrap="square" lIns="0" tIns="0" rIns="0" bIns="0" rtlCol="0" anchor="ctr" anchorCtr="0">
            <a:spAutoFit/>
          </a:bodyPr>
          <a:lstStyle>
            <a:lvl1pPr>
              <a:defRPr lang="de-CH" sz="700" smtClean="0">
                <a:solidFill>
                  <a:schemeClr val="bg1"/>
                </a:solidFill>
              </a:defRPr>
            </a:lvl1pPr>
          </a:lstStyle>
          <a:p>
            <a:endParaRPr lang="de-DE" dirty="0"/>
          </a:p>
        </p:txBody>
      </p:sp>
      <p:sp>
        <p:nvSpPr>
          <p:cNvPr id="8" name="Fußzeilenplatzhalter 7">
            <a:extLst>
              <a:ext uri="{FF2B5EF4-FFF2-40B4-BE49-F238E27FC236}">
                <a16:creationId xmlns:a16="http://schemas.microsoft.com/office/drawing/2014/main" id="{FFB861DF-A2BF-AFE5-4E8D-37C8D165EF6E}"/>
              </a:ext>
            </a:extLst>
          </p:cNvPr>
          <p:cNvSpPr>
            <a:spLocks noGrp="1"/>
          </p:cNvSpPr>
          <p:nvPr>
            <p:ph type="ftr" sz="quarter" idx="3"/>
          </p:nvPr>
        </p:nvSpPr>
        <p:spPr>
          <a:xfrm>
            <a:off x="2247829" y="4931889"/>
            <a:ext cx="2896867" cy="107722"/>
          </a:xfrm>
          <a:prstGeom prst="rect">
            <a:avLst/>
          </a:prstGeom>
        </p:spPr>
        <p:txBody>
          <a:bodyPr vert="horz" lIns="0" tIns="0" rIns="0" bIns="0" rtlCol="0" anchor="ctr">
            <a:spAutoFit/>
          </a:bodyPr>
          <a:lstStyle>
            <a:lvl1pPr algn="l">
              <a:defRPr sz="700">
                <a:solidFill>
                  <a:schemeClr val="bg1"/>
                </a:solidFill>
              </a:defRPr>
            </a:lvl1pPr>
          </a:lstStyle>
          <a:p>
            <a:r>
              <a:rPr lang="de-CH"/>
              <a:t>CAS Pricing</a:t>
            </a:r>
            <a:endParaRPr lang="de-CH" dirty="0"/>
          </a:p>
        </p:txBody>
      </p:sp>
    </p:spTree>
    <p:extLst>
      <p:ext uri="{BB962C8B-B14F-4D97-AF65-F5344CB8AC3E}">
        <p14:creationId xmlns:p14="http://schemas.microsoft.com/office/powerpoint/2010/main" val="8364310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tags" Target="../tags/tag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image" Target="../media/image2.emf"/><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66E575C8-6F60-5B07-5B23-9DD943457F9F}"/>
              </a:ext>
            </a:extLst>
          </p:cNvPr>
          <p:cNvGraphicFramePr>
            <a:graphicFrameLocks noChangeAspect="1"/>
          </p:cNvGraphicFramePr>
          <p:nvPr userDrawn="1">
            <p:custDataLst>
              <p:tags r:id="rId16"/>
            </p:custDataLst>
            <p:extLst>
              <p:ext uri="{D42A27DB-BD31-4B8C-83A1-F6EECF244321}">
                <p14:modId xmlns:p14="http://schemas.microsoft.com/office/powerpoint/2010/main" val="5891476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17" imgW="405" imgH="405" progId="TCLayout.ActiveDocument.1">
                  <p:embed/>
                </p:oleObj>
              </mc:Choice>
              <mc:Fallback>
                <p:oleObj name="think-cell Folie" r:id="rId17" imgW="405" imgH="405" progId="TCLayout.ActiveDocument.1">
                  <p:embed/>
                  <p:pic>
                    <p:nvPicPr>
                      <p:cNvPr id="0" name=""/>
                      <p:cNvPicPr/>
                      <p:nvPr/>
                    </p:nvPicPr>
                    <p:blipFill>
                      <a:blip r:embed="rId18"/>
                      <a:stretch>
                        <a:fillRect/>
                      </a:stretch>
                    </p:blipFill>
                    <p:spPr>
                      <a:xfrm>
                        <a:off x="1588" y="1588"/>
                        <a:ext cx="1588" cy="1588"/>
                      </a:xfrm>
                      <a:prstGeom prst="rect">
                        <a:avLst/>
                      </a:prstGeom>
                    </p:spPr>
                  </p:pic>
                </p:oleObj>
              </mc:Fallback>
            </mc:AlternateContent>
          </a:graphicData>
        </a:graphic>
      </p:graphicFrame>
      <p:sp>
        <p:nvSpPr>
          <p:cNvPr id="6" name="Rechteck 12">
            <a:extLst>
              <a:ext uri="{FF2B5EF4-FFF2-40B4-BE49-F238E27FC236}">
                <a16:creationId xmlns:a16="http://schemas.microsoft.com/office/drawing/2014/main" id="{9E899916-B2E2-4C53-813A-CE5AB56875B5}"/>
              </a:ext>
            </a:extLst>
          </p:cNvPr>
          <p:cNvSpPr>
            <a:spLocks noChangeArrowheads="1"/>
          </p:cNvSpPr>
          <p:nvPr userDrawn="1"/>
        </p:nvSpPr>
        <p:spPr bwMode="ltGray">
          <a:xfrm>
            <a:off x="176868" y="179808"/>
            <a:ext cx="8787196" cy="900000"/>
          </a:xfrm>
          <a:prstGeom prst="rect">
            <a:avLst/>
          </a:prstGeom>
          <a:gradFill flip="none" rotWithShape="1">
            <a:gsLst>
              <a:gs pos="0">
                <a:srgbClr val="002B58"/>
              </a:gs>
              <a:gs pos="100000">
                <a:srgbClr val="0064A6"/>
              </a:gs>
            </a:gsLst>
            <a:lin ang="0" scaled="1"/>
            <a:tileRect/>
          </a:gradFill>
          <a:ln>
            <a:noFill/>
          </a:ln>
        </p:spPr>
        <p:txBody>
          <a:bodyPr lIns="0" tIns="0" rIns="0" bIns="0"/>
          <a:lstStyle/>
          <a:p>
            <a:endParaRPr lang="de-DE">
              <a:solidFill>
                <a:srgbClr val="000000"/>
              </a:solidFill>
              <a:ea typeface="ヒラギノ角ゴ Pro W3" charset="0"/>
              <a:cs typeface="ヒラギノ角ゴ Pro W3" charset="0"/>
            </a:endParaRPr>
          </a:p>
        </p:txBody>
      </p:sp>
      <p:sp>
        <p:nvSpPr>
          <p:cNvPr id="2" name="Text Placeholder 1">
            <a:extLst>
              <a:ext uri="{FF2B5EF4-FFF2-40B4-BE49-F238E27FC236}">
                <a16:creationId xmlns:a16="http://schemas.microsoft.com/office/drawing/2014/main" id="{D26841C0-57AD-4613-AF97-70897D3756FD}"/>
              </a:ext>
            </a:extLst>
          </p:cNvPr>
          <p:cNvSpPr>
            <a:spLocks noGrp="1"/>
          </p:cNvSpPr>
          <p:nvPr>
            <p:ph type="body" idx="1"/>
          </p:nvPr>
        </p:nvSpPr>
        <p:spPr>
          <a:xfrm>
            <a:off x="358775" y="1239838"/>
            <a:ext cx="8496221" cy="3276600"/>
          </a:xfrm>
          <a:prstGeom prst="rect">
            <a:avLst/>
          </a:prstGeom>
        </p:spPr>
        <p:txBody>
          <a:bodyPr vert="horz" lIns="0" tIns="0" rIns="0" bIns="0" rtlCol="0">
            <a:noAutofit/>
          </a:bodyPr>
          <a:lstStyle/>
          <a:p>
            <a:pPr lvl="0"/>
            <a:r>
              <a:rPr lang="de-CH" noProof="0" dirty="0"/>
              <a:t>Mastertextformat bearbeiten</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
        <p:nvSpPr>
          <p:cNvPr id="3" name="Title Placeholder 2">
            <a:extLst>
              <a:ext uri="{FF2B5EF4-FFF2-40B4-BE49-F238E27FC236}">
                <a16:creationId xmlns:a16="http://schemas.microsoft.com/office/drawing/2014/main" id="{F1A53D24-7C78-4BAC-A0F2-BF75BD52DC06}"/>
              </a:ext>
            </a:extLst>
          </p:cNvPr>
          <p:cNvSpPr>
            <a:spLocks noGrp="1"/>
          </p:cNvSpPr>
          <p:nvPr>
            <p:ph type="title"/>
          </p:nvPr>
        </p:nvSpPr>
        <p:spPr>
          <a:xfrm>
            <a:off x="366713" y="352915"/>
            <a:ext cx="8488283" cy="571835"/>
          </a:xfrm>
          <a:prstGeom prst="rect">
            <a:avLst/>
          </a:prstGeom>
        </p:spPr>
        <p:txBody>
          <a:bodyPr vert="horz" lIns="0" tIns="0" rIns="0" bIns="0" rtlCol="0" anchor="ctr">
            <a:normAutofit/>
          </a:bodyPr>
          <a:lstStyle/>
          <a:p>
            <a:r>
              <a:rPr lang="de-CH" noProof="0" dirty="0"/>
              <a:t>Titelmasterformat durch Klicken bearbeiten</a:t>
            </a:r>
          </a:p>
        </p:txBody>
      </p:sp>
      <p:pic>
        <p:nvPicPr>
          <p:cNvPr id="9" name="Grafik 8">
            <a:extLst>
              <a:ext uri="{FF2B5EF4-FFF2-40B4-BE49-F238E27FC236}">
                <a16:creationId xmlns:a16="http://schemas.microsoft.com/office/drawing/2014/main" id="{FC4B8AFA-6379-EB2D-ED6E-89A72BD75CD0}"/>
              </a:ext>
            </a:extLst>
          </p:cNvPr>
          <p:cNvPicPr>
            <a:picLocks noChangeAspect="1"/>
          </p:cNvPicPr>
          <p:nvPr userDrawn="1"/>
        </p:nvPicPr>
        <p:blipFill>
          <a:blip r:embed="rId19"/>
          <a:stretch>
            <a:fillRect/>
          </a:stretch>
        </p:blipFill>
        <p:spPr>
          <a:xfrm>
            <a:off x="6800400" y="4936324"/>
            <a:ext cx="2061125" cy="109389"/>
          </a:xfrm>
          <a:prstGeom prst="rect">
            <a:avLst/>
          </a:prstGeom>
        </p:spPr>
      </p:pic>
      <p:sp>
        <p:nvSpPr>
          <p:cNvPr id="7" name="Foliennummernplatzhalter 6">
            <a:extLst>
              <a:ext uri="{FF2B5EF4-FFF2-40B4-BE49-F238E27FC236}">
                <a16:creationId xmlns:a16="http://schemas.microsoft.com/office/drawing/2014/main" id="{B9F0D54A-265D-EB01-D998-65082C7AFA4C}"/>
              </a:ext>
            </a:extLst>
          </p:cNvPr>
          <p:cNvSpPr>
            <a:spLocks noGrp="1"/>
          </p:cNvSpPr>
          <p:nvPr>
            <p:ph type="sldNum" sz="quarter" idx="4"/>
          </p:nvPr>
        </p:nvSpPr>
        <p:spPr>
          <a:xfrm>
            <a:off x="5732891" y="4931889"/>
            <a:ext cx="711317" cy="107722"/>
          </a:xfrm>
          <a:prstGeom prst="rect">
            <a:avLst/>
          </a:prstGeom>
          <a:noFill/>
        </p:spPr>
        <p:txBody>
          <a:bodyPr vert="horz" wrap="square" lIns="0" tIns="0" rIns="0" bIns="0" rtlCol="0" anchor="ctr" anchorCtr="0">
            <a:spAutoFit/>
          </a:bodyPr>
          <a:lstStyle>
            <a:lvl1pPr algn="l">
              <a:defRPr lang="de-CH" sz="700" smtClean="0">
                <a:solidFill>
                  <a:srgbClr val="012C59"/>
                </a:solidFill>
              </a:defRPr>
            </a:lvl1pPr>
          </a:lstStyle>
          <a:p>
            <a:pPr algn="ctr"/>
            <a:fld id="{05F9AC53-F790-4868-97E7-45E3866EE614}" type="slidenum">
              <a:rPr lang="de-CH" smtClean="0"/>
              <a:pPr algn="ctr"/>
              <a:t>‹Nr.›</a:t>
            </a:fld>
            <a:r>
              <a:rPr lang="de-CH" dirty="0"/>
              <a:t> </a:t>
            </a:r>
          </a:p>
        </p:txBody>
      </p:sp>
      <p:sp>
        <p:nvSpPr>
          <p:cNvPr id="8" name="Datumsplatzhalter 1">
            <a:extLst>
              <a:ext uri="{FF2B5EF4-FFF2-40B4-BE49-F238E27FC236}">
                <a16:creationId xmlns:a16="http://schemas.microsoft.com/office/drawing/2014/main" id="{3A5CF6EB-5CBD-3EA9-F997-D00CC4490183}"/>
              </a:ext>
            </a:extLst>
          </p:cNvPr>
          <p:cNvSpPr>
            <a:spLocks noGrp="1"/>
          </p:cNvSpPr>
          <p:nvPr>
            <p:ph type="dt" sz="half" idx="2"/>
          </p:nvPr>
        </p:nvSpPr>
        <p:spPr>
          <a:xfrm>
            <a:off x="366713" y="4931889"/>
            <a:ext cx="1292922" cy="107722"/>
          </a:xfrm>
          <a:prstGeom prst="rect">
            <a:avLst/>
          </a:prstGeom>
          <a:noFill/>
        </p:spPr>
        <p:txBody>
          <a:bodyPr vert="horz" wrap="square" lIns="0" tIns="0" rIns="0" bIns="0" rtlCol="0" anchor="ctr" anchorCtr="0">
            <a:spAutoFit/>
          </a:bodyPr>
          <a:lstStyle>
            <a:lvl1pPr>
              <a:defRPr lang="de-CH" sz="700" smtClean="0">
                <a:solidFill>
                  <a:srgbClr val="012C59"/>
                </a:solidFill>
              </a:defRPr>
            </a:lvl1pPr>
          </a:lstStyle>
          <a:p>
            <a:endParaRPr lang="de-DE" dirty="0"/>
          </a:p>
        </p:txBody>
      </p:sp>
      <p:sp>
        <p:nvSpPr>
          <p:cNvPr id="10" name="Fußzeilenplatzhalter 7">
            <a:extLst>
              <a:ext uri="{FF2B5EF4-FFF2-40B4-BE49-F238E27FC236}">
                <a16:creationId xmlns:a16="http://schemas.microsoft.com/office/drawing/2014/main" id="{D63CCDD5-C475-631D-051B-F7A7DC1D946A}"/>
              </a:ext>
            </a:extLst>
          </p:cNvPr>
          <p:cNvSpPr>
            <a:spLocks noGrp="1"/>
          </p:cNvSpPr>
          <p:nvPr>
            <p:ph type="ftr" sz="quarter" idx="3"/>
          </p:nvPr>
        </p:nvSpPr>
        <p:spPr>
          <a:xfrm>
            <a:off x="2247829" y="4931889"/>
            <a:ext cx="2896867" cy="107722"/>
          </a:xfrm>
          <a:prstGeom prst="rect">
            <a:avLst/>
          </a:prstGeom>
        </p:spPr>
        <p:txBody>
          <a:bodyPr vert="horz" lIns="0" tIns="0" rIns="0" bIns="0" rtlCol="0" anchor="ctr">
            <a:spAutoFit/>
          </a:bodyPr>
          <a:lstStyle>
            <a:lvl1pPr algn="l">
              <a:defRPr sz="700">
                <a:solidFill>
                  <a:schemeClr val="tx1">
                    <a:tint val="75000"/>
                  </a:schemeClr>
                </a:solidFill>
              </a:defRPr>
            </a:lvl1pPr>
          </a:lstStyle>
          <a:p>
            <a:r>
              <a:rPr lang="de-CH">
                <a:solidFill>
                  <a:srgbClr val="012C59"/>
                </a:solidFill>
              </a:rPr>
              <a:t>CAS Pricing</a:t>
            </a:r>
            <a:endParaRPr lang="de-CH" dirty="0">
              <a:solidFill>
                <a:srgbClr val="012C59"/>
              </a:solidFill>
            </a:endParaRPr>
          </a:p>
        </p:txBody>
      </p:sp>
    </p:spTree>
    <p:extLst>
      <p:ext uri="{BB962C8B-B14F-4D97-AF65-F5344CB8AC3E}">
        <p14:creationId xmlns:p14="http://schemas.microsoft.com/office/powerpoint/2010/main" val="2202826388"/>
      </p:ext>
    </p:extLst>
  </p:cSld>
  <p:clrMap bg1="lt1" tx1="dk1" bg2="lt2" tx2="dk2" accent1="accent1" accent2="accent2" accent3="accent3" accent4="accent4" accent5="accent5" accent6="accent6" hlink="hlink" folHlink="folHlink"/>
  <p:sldLayoutIdLst>
    <p:sldLayoutId id="2147483699" r:id="rId1"/>
    <p:sldLayoutId id="2147483685"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86" r:id="rId11"/>
    <p:sldLayoutId id="2147483696" r:id="rId12"/>
    <p:sldLayoutId id="2147483697" r:id="rId13"/>
    <p:sldLayoutId id="2147483684" r:id="rId14"/>
  </p:sldLayoutIdLst>
  <p:hf sldNum="0" hdr="0" dt="0"/>
  <p:txStyles>
    <p:titleStyle>
      <a:lvl1pPr algn="l" defTabSz="778993" rtl="0" eaLnBrk="1" latinLnBrk="0" hangingPunct="1">
        <a:spcBef>
          <a:spcPct val="0"/>
        </a:spcBef>
        <a:buNone/>
        <a:defRPr sz="2000" b="1" kern="1200">
          <a:solidFill>
            <a:schemeClr val="bg1"/>
          </a:solidFill>
          <a:latin typeface="Arial" pitchFamily="34" charset="0"/>
          <a:ea typeface="+mj-ea"/>
          <a:cs typeface="Arial" pitchFamily="34" charset="0"/>
        </a:defRPr>
      </a:lvl1pPr>
    </p:titleStyle>
    <p:bodyStyle>
      <a:lvl1pPr marL="177800" indent="-177800" algn="l" defTabSz="778993" rtl="0" eaLnBrk="1" latinLnBrk="0" hangingPunct="1">
        <a:lnSpc>
          <a:spcPct val="100000"/>
        </a:lnSpc>
        <a:spcBef>
          <a:spcPts val="0"/>
        </a:spcBef>
        <a:buFont typeface="Symbol" pitchFamily="18" charset="2"/>
        <a:buChar char="-"/>
        <a:tabLst/>
        <a:defRPr sz="1600" kern="1200">
          <a:solidFill>
            <a:srgbClr val="012C59"/>
          </a:solidFill>
          <a:latin typeface="Arial" pitchFamily="34" charset="0"/>
          <a:ea typeface="+mn-ea"/>
          <a:cs typeface="Arial" pitchFamily="34" charset="0"/>
        </a:defRPr>
      </a:lvl1pPr>
      <a:lvl2pPr marL="450850" indent="-180975" algn="l" defTabSz="778993" rtl="0" eaLnBrk="1" latinLnBrk="0" hangingPunct="1">
        <a:lnSpc>
          <a:spcPct val="100000"/>
        </a:lnSpc>
        <a:spcBef>
          <a:spcPts val="0"/>
        </a:spcBef>
        <a:buFont typeface="Symbol" pitchFamily="18" charset="2"/>
        <a:buChar char="-"/>
        <a:tabLst/>
        <a:defRPr sz="1400" kern="1200">
          <a:solidFill>
            <a:srgbClr val="002C59"/>
          </a:solidFill>
          <a:latin typeface="+mn-lt"/>
          <a:ea typeface="+mn-ea"/>
          <a:cs typeface="Arial" pitchFamily="34" charset="0"/>
        </a:defRPr>
      </a:lvl2pPr>
      <a:lvl3pPr marL="717550" indent="-177800" algn="l" defTabSz="778993" rtl="0" eaLnBrk="1" latinLnBrk="0" hangingPunct="1">
        <a:lnSpc>
          <a:spcPct val="100000"/>
        </a:lnSpc>
        <a:spcBef>
          <a:spcPts val="0"/>
        </a:spcBef>
        <a:buFont typeface="Symbol" panose="05050102010706020507" pitchFamily="18" charset="2"/>
        <a:buChar char=""/>
        <a:defRPr sz="1400" kern="1200">
          <a:solidFill>
            <a:srgbClr val="002C59"/>
          </a:solidFill>
          <a:latin typeface="+mn-lt"/>
          <a:ea typeface="+mn-ea"/>
          <a:cs typeface="Arial" pitchFamily="34" charset="0"/>
        </a:defRPr>
      </a:lvl3pPr>
      <a:lvl4pPr marL="984250" indent="-174625" algn="l" defTabSz="778993" rtl="0" eaLnBrk="1" latinLnBrk="0" hangingPunct="1">
        <a:lnSpc>
          <a:spcPct val="100000"/>
        </a:lnSpc>
        <a:spcBef>
          <a:spcPts val="0"/>
        </a:spcBef>
        <a:buFont typeface="Symbol" panose="05050102010706020507" pitchFamily="18" charset="2"/>
        <a:buChar char=""/>
        <a:defRPr sz="1400" kern="1200">
          <a:solidFill>
            <a:schemeClr val="tx1"/>
          </a:solidFill>
          <a:latin typeface="+mn-lt"/>
          <a:ea typeface="+mn-ea"/>
          <a:cs typeface="+mn-cs"/>
        </a:defRPr>
      </a:lvl4pPr>
      <a:lvl5pPr marL="1257300" indent="-177800" algn="l" defTabSz="778993" rtl="0" eaLnBrk="1" latinLnBrk="0" hangingPunct="1">
        <a:lnSpc>
          <a:spcPct val="100000"/>
        </a:lnSpc>
        <a:spcBef>
          <a:spcPts val="0"/>
        </a:spcBef>
        <a:buFont typeface="Symbol" panose="05050102010706020507" pitchFamily="18" charset="2"/>
        <a:buChar char=""/>
        <a:defRPr sz="1400" kern="1200">
          <a:solidFill>
            <a:schemeClr val="tx1"/>
          </a:solidFill>
          <a:latin typeface="+mn-lt"/>
          <a:ea typeface="+mn-ea"/>
          <a:cs typeface="+mn-cs"/>
        </a:defRPr>
      </a:lvl5pPr>
      <a:lvl6pPr marL="2142231" indent="-194748" algn="l" defTabSz="778993" rtl="0" eaLnBrk="1" latinLnBrk="0" hangingPunct="1">
        <a:spcBef>
          <a:spcPct val="20000"/>
        </a:spcBef>
        <a:buFont typeface="Arial" pitchFamily="34" charset="0"/>
        <a:buChar char="•"/>
        <a:defRPr sz="1700" kern="1200">
          <a:solidFill>
            <a:schemeClr val="tx1"/>
          </a:solidFill>
          <a:latin typeface="+mn-lt"/>
          <a:ea typeface="+mn-ea"/>
          <a:cs typeface="+mn-cs"/>
        </a:defRPr>
      </a:lvl6pPr>
      <a:lvl7pPr marL="2531727" indent="-194748" algn="l" defTabSz="778993" rtl="0" eaLnBrk="1" latinLnBrk="0" hangingPunct="1">
        <a:spcBef>
          <a:spcPct val="20000"/>
        </a:spcBef>
        <a:buFont typeface="Arial" pitchFamily="34" charset="0"/>
        <a:buChar char="•"/>
        <a:defRPr sz="1700" kern="1200">
          <a:solidFill>
            <a:schemeClr val="tx1"/>
          </a:solidFill>
          <a:latin typeface="+mn-lt"/>
          <a:ea typeface="+mn-ea"/>
          <a:cs typeface="+mn-cs"/>
        </a:defRPr>
      </a:lvl7pPr>
      <a:lvl8pPr marL="2921224" indent="-194748" algn="l" defTabSz="778993" rtl="0" eaLnBrk="1" latinLnBrk="0" hangingPunct="1">
        <a:spcBef>
          <a:spcPct val="20000"/>
        </a:spcBef>
        <a:buFont typeface="Arial" pitchFamily="34" charset="0"/>
        <a:buChar char="•"/>
        <a:defRPr sz="1700" kern="1200">
          <a:solidFill>
            <a:schemeClr val="tx1"/>
          </a:solidFill>
          <a:latin typeface="+mn-lt"/>
          <a:ea typeface="+mn-ea"/>
          <a:cs typeface="+mn-cs"/>
        </a:defRPr>
      </a:lvl8pPr>
      <a:lvl9pPr marL="3310720" indent="-194748" algn="l" defTabSz="778993" rtl="0" eaLnBrk="1" latinLnBrk="0" hangingPunct="1">
        <a:spcBef>
          <a:spcPct val="20000"/>
        </a:spcBef>
        <a:buFont typeface="Arial" pitchFamily="34" charset="0"/>
        <a:buChar char="•"/>
        <a:defRPr sz="1700" kern="1200">
          <a:solidFill>
            <a:schemeClr val="tx1"/>
          </a:solidFill>
          <a:latin typeface="+mn-lt"/>
          <a:ea typeface="+mn-ea"/>
          <a:cs typeface="+mn-cs"/>
        </a:defRPr>
      </a:lvl9pPr>
    </p:bodyStyle>
    <p:otherStyle>
      <a:defPPr>
        <a:defRPr lang="fr-FR"/>
      </a:defPPr>
      <a:lvl1pPr marL="0" algn="l" defTabSz="778993" rtl="0" eaLnBrk="1" latinLnBrk="0" hangingPunct="1">
        <a:defRPr sz="1600" kern="1200">
          <a:solidFill>
            <a:schemeClr val="tx1"/>
          </a:solidFill>
          <a:latin typeface="+mn-lt"/>
          <a:ea typeface="+mn-ea"/>
          <a:cs typeface="+mn-cs"/>
        </a:defRPr>
      </a:lvl1pPr>
      <a:lvl2pPr marL="389496" algn="l" defTabSz="778993" rtl="0" eaLnBrk="1" latinLnBrk="0" hangingPunct="1">
        <a:defRPr sz="1600" kern="1200">
          <a:solidFill>
            <a:schemeClr val="tx1"/>
          </a:solidFill>
          <a:latin typeface="+mn-lt"/>
          <a:ea typeface="+mn-ea"/>
          <a:cs typeface="+mn-cs"/>
        </a:defRPr>
      </a:lvl2pPr>
      <a:lvl3pPr marL="778993" algn="l" defTabSz="778993" rtl="0" eaLnBrk="1" latinLnBrk="0" hangingPunct="1">
        <a:defRPr sz="1600" kern="1200">
          <a:solidFill>
            <a:schemeClr val="tx1"/>
          </a:solidFill>
          <a:latin typeface="+mn-lt"/>
          <a:ea typeface="+mn-ea"/>
          <a:cs typeface="+mn-cs"/>
        </a:defRPr>
      </a:lvl3pPr>
      <a:lvl4pPr marL="1168488" algn="l" defTabSz="778993" rtl="0" eaLnBrk="1" latinLnBrk="0" hangingPunct="1">
        <a:defRPr sz="1600" kern="1200">
          <a:solidFill>
            <a:schemeClr val="tx1"/>
          </a:solidFill>
          <a:latin typeface="+mn-lt"/>
          <a:ea typeface="+mn-ea"/>
          <a:cs typeface="+mn-cs"/>
        </a:defRPr>
      </a:lvl4pPr>
      <a:lvl5pPr marL="1557986" algn="l" defTabSz="778993" rtl="0" eaLnBrk="1" latinLnBrk="0" hangingPunct="1">
        <a:defRPr sz="1600" kern="1200">
          <a:solidFill>
            <a:schemeClr val="tx1"/>
          </a:solidFill>
          <a:latin typeface="+mn-lt"/>
          <a:ea typeface="+mn-ea"/>
          <a:cs typeface="+mn-cs"/>
        </a:defRPr>
      </a:lvl5pPr>
      <a:lvl6pPr marL="1947481" algn="l" defTabSz="778993" rtl="0" eaLnBrk="1" latinLnBrk="0" hangingPunct="1">
        <a:defRPr sz="1600" kern="1200">
          <a:solidFill>
            <a:schemeClr val="tx1"/>
          </a:solidFill>
          <a:latin typeface="+mn-lt"/>
          <a:ea typeface="+mn-ea"/>
          <a:cs typeface="+mn-cs"/>
        </a:defRPr>
      </a:lvl6pPr>
      <a:lvl7pPr marL="2336979" algn="l" defTabSz="778993" rtl="0" eaLnBrk="1" latinLnBrk="0" hangingPunct="1">
        <a:defRPr sz="1600" kern="1200">
          <a:solidFill>
            <a:schemeClr val="tx1"/>
          </a:solidFill>
          <a:latin typeface="+mn-lt"/>
          <a:ea typeface="+mn-ea"/>
          <a:cs typeface="+mn-cs"/>
        </a:defRPr>
      </a:lvl7pPr>
      <a:lvl8pPr marL="2726475" algn="l" defTabSz="778993" rtl="0" eaLnBrk="1" latinLnBrk="0" hangingPunct="1">
        <a:defRPr sz="1600" kern="1200">
          <a:solidFill>
            <a:schemeClr val="tx1"/>
          </a:solidFill>
          <a:latin typeface="+mn-lt"/>
          <a:ea typeface="+mn-ea"/>
          <a:cs typeface="+mn-cs"/>
        </a:defRPr>
      </a:lvl8pPr>
      <a:lvl9pPr marL="3115973" algn="l" defTabSz="778993" rtl="0" eaLnBrk="1" latinLnBrk="0" hangingPunct="1">
        <a:defRPr sz="16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13" userDrawn="1">
          <p15:clr>
            <a:srgbClr val="F26B43"/>
          </p15:clr>
        </p15:guide>
        <p15:guide id="2" pos="514" userDrawn="1">
          <p15:clr>
            <a:srgbClr val="F26B43"/>
          </p15:clr>
        </p15:guide>
        <p15:guide id="3" pos="5579" userDrawn="1">
          <p15:clr>
            <a:srgbClr val="F26B43"/>
          </p15:clr>
        </p15:guide>
        <p15:guide id="4" pos="5647" userDrawn="1">
          <p15:clr>
            <a:srgbClr val="F26B43"/>
          </p15:clr>
        </p15:guide>
        <p15:guide id="5" orient="horz" pos="719" userDrawn="1">
          <p15:clr>
            <a:srgbClr val="F26B43"/>
          </p15:clr>
        </p15:guide>
        <p15:guide id="6" orient="horz" pos="2839" userDrawn="1">
          <p15:clr>
            <a:srgbClr val="F26B43"/>
          </p15:clr>
        </p15:guide>
        <p15:guide id="7" orient="horz" pos="827" userDrawn="1">
          <p15:clr>
            <a:srgbClr val="5ACBF0"/>
          </p15:clr>
        </p15:guide>
        <p15:guide id="8" orient="horz" pos="178" userDrawn="1">
          <p15:clr>
            <a:srgbClr val="F26B43"/>
          </p15:clr>
        </p15:guide>
        <p15:guide id="9" orient="horz" pos="531" userDrawn="1">
          <p15:clr>
            <a:srgbClr val="F26B43"/>
          </p15:clr>
        </p15:guide>
        <p15:guide id="10" orient="horz" pos="2969" userDrawn="1">
          <p15:clr>
            <a:srgbClr val="F26B43"/>
          </p15:clr>
        </p15:guide>
        <p15:guide id="11" orient="horz" pos="316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5" Type="http://schemas.openxmlformats.org/officeDocument/2006/relationships/image" Target="../media/image1.emf"/><Relationship Id="rId4" Type="http://schemas.openxmlformats.org/officeDocument/2006/relationships/oleObject" Target="../embeddings/oleObject2.bin"/></Relationships>
</file>

<file path=ppt/slides/_rels/slide2.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18.jpg"/><Relationship Id="rId4" Type="http://schemas.openxmlformats.org/officeDocument/2006/relationships/image" Target="../media/image17.jpg"/></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chart" Target="../charts/chart3.xml"/></Relationships>
</file>

<file path=ppt/slides/_rels/slide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chart" Target="../charts/chart5.xml"/></Relationships>
</file>

<file path=ppt/slides/_rels/slide7.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9FE451CC-7206-A1B0-CD92-D72A377DDD45}"/>
              </a:ext>
            </a:extLst>
          </p:cNvPr>
          <p:cNvGraphicFramePr>
            <a:graphicFrameLocks noChangeAspect="1"/>
          </p:cNvGraphicFramePr>
          <p:nvPr>
            <p:custDataLst>
              <p:tags r:id="rId1"/>
            </p:custDataLst>
            <p:extLst>
              <p:ext uri="{D42A27DB-BD31-4B8C-83A1-F6EECF244321}">
                <p14:modId xmlns:p14="http://schemas.microsoft.com/office/powerpoint/2010/main" val="25011157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405" imgH="405" progId="TCLayout.ActiveDocument.1">
                  <p:embed/>
                </p:oleObj>
              </mc:Choice>
              <mc:Fallback>
                <p:oleObj name="think-cell Folie" r:id="rId4" imgW="405" imgH="405"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el 2">
            <a:extLst>
              <a:ext uri="{FF2B5EF4-FFF2-40B4-BE49-F238E27FC236}">
                <a16:creationId xmlns:a16="http://schemas.microsoft.com/office/drawing/2014/main" id="{6DB8D2CC-55F2-602E-C4A6-235C86679902}"/>
              </a:ext>
            </a:extLst>
          </p:cNvPr>
          <p:cNvSpPr>
            <a:spLocks noGrp="1"/>
          </p:cNvSpPr>
          <p:nvPr>
            <p:ph type="title"/>
          </p:nvPr>
        </p:nvSpPr>
        <p:spPr/>
        <p:txBody>
          <a:bodyPr vert="horz"/>
          <a:lstStyle/>
          <a:p>
            <a:pPr algn="ctr"/>
            <a:r>
              <a:rPr lang="de-CH" dirty="0"/>
              <a:t>Zahlungsbereitschaft für hochwertige Sanitärausstattung im Hotelzimmer</a:t>
            </a:r>
            <a:br>
              <a:rPr lang="de-CH" b="0" i="1" dirty="0"/>
            </a:br>
            <a:r>
              <a:rPr lang="de-CH" i="1" dirty="0"/>
              <a:t>Marilena Marraffino und Dominic Hüppi, Gruppe 2</a:t>
            </a:r>
            <a:br>
              <a:rPr lang="de-CH" dirty="0"/>
            </a:br>
            <a:br>
              <a:rPr lang="de-CH" b="0" i="1" dirty="0"/>
            </a:br>
            <a:endParaRPr lang="de-CH" b="0" i="1" dirty="0"/>
          </a:p>
        </p:txBody>
      </p:sp>
      <p:sp>
        <p:nvSpPr>
          <p:cNvPr id="8" name="Textplatzhalter 7">
            <a:extLst>
              <a:ext uri="{FF2B5EF4-FFF2-40B4-BE49-F238E27FC236}">
                <a16:creationId xmlns:a16="http://schemas.microsoft.com/office/drawing/2014/main" id="{8E344AF9-82B0-B7FA-E869-CBE2C29BF714}"/>
              </a:ext>
            </a:extLst>
          </p:cNvPr>
          <p:cNvSpPr>
            <a:spLocks noGrp="1"/>
          </p:cNvSpPr>
          <p:nvPr>
            <p:ph type="body" sz="quarter" idx="14"/>
          </p:nvPr>
        </p:nvSpPr>
        <p:spPr/>
        <p:txBody>
          <a:bodyPr/>
          <a:lstStyle/>
          <a:p>
            <a:r>
              <a:t>Abschlusspräsentation, 17.10.2026</a:t>
            </a:r>
          </a:p>
        </p:txBody>
      </p:sp>
      <p:sp>
        <p:nvSpPr>
          <p:cNvPr id="10" name="Textplatzhalter 9">
            <a:extLst>
              <a:ext uri="{FF2B5EF4-FFF2-40B4-BE49-F238E27FC236}">
                <a16:creationId xmlns:a16="http://schemas.microsoft.com/office/drawing/2014/main" id="{23FBA128-E703-A45C-366F-B7D91F736333}"/>
              </a:ext>
            </a:extLst>
          </p:cNvPr>
          <p:cNvSpPr>
            <a:spLocks noGrp="1"/>
          </p:cNvSpPr>
          <p:nvPr>
            <p:ph type="body" sz="quarter" idx="11"/>
          </p:nvPr>
        </p:nvSpPr>
        <p:spPr/>
        <p:txBody>
          <a:bodyPr/>
          <a:lstStyle/>
          <a:p>
            <a:r>
              <a:t>CAS Pricing | Leistungsnachweis 1 | Fiktiver Auftrag der Geberit AG</a:t>
            </a:r>
          </a:p>
        </p:txBody>
      </p:sp>
    </p:spTree>
    <p:extLst>
      <p:ext uri="{BB962C8B-B14F-4D97-AF65-F5344CB8AC3E}">
        <p14:creationId xmlns:p14="http://schemas.microsoft.com/office/powerpoint/2010/main" val="24981987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Wie viel Aufpreis zahlen Hotelgäste für ein besseres Bad?</a:t>
            </a:r>
          </a:p>
        </p:txBody>
      </p:sp>
      <p:sp>
        <p:nvSpPr>
          <p:cNvPr id="3" name="Fußzeilenplatzhalter"/>
          <p:cNvSpPr>
            <a:spLocks noGrp="1"/>
          </p:cNvSpPr>
          <p:nvPr>
            <p:ph type="ftr" sz="quarter" idx="3"/>
          </p:nvPr>
        </p:nvSpPr>
        <p:spPr/>
        <p:txBody>
          <a:bodyPr/>
          <a:lstStyle/>
          <a:p>
            <a:r>
              <a:rPr lang="de-CH">
                <a:solidFill>
                  <a:srgbClr val="012C59"/>
                </a:solidFill>
              </a:rPr>
              <a:t>CAS Pricing | Gruppe 2</a:t>
            </a:r>
          </a:p>
        </p:txBody>
      </p:sp>
      <p:sp>
        <p:nvSpPr>
          <p:cNvPr id="4" name="Foliennummernplatzhalter"/>
          <p:cNvSpPr>
            <a:spLocks noGrp="1"/>
          </p:cNvSpPr>
          <p:nvPr>
            <p:ph type="sldNum" sz="quarter" idx="4"/>
          </p:nvPr>
        </p:nvSpPr>
        <p:spPr/>
        <p:txBody>
          <a:bodyPr/>
          <a:lstStyle/>
          <a:p>
            <a:fld id="{05F9AC53-F790-4868-97E7-45E3866EE614}" type="slidenum">
              <a:rPr lang="de-CH"/>
              <a:t>2</a:t>
            </a:fld>
            <a:endParaRPr lang="de-CH"/>
          </a:p>
        </p:txBody>
      </p:sp>
      <p:pic>
        <p:nvPicPr>
          <p:cNvPr id="5" name="Bild Hotelzimmer" descr="hotelzimmer.jpg"/>
          <p:cNvPicPr>
            <a:picLocks noChangeAspect="1"/>
          </p:cNvPicPr>
          <p:nvPr/>
        </p:nvPicPr>
        <p:blipFill>
          <a:blip r:embed="rId3"/>
          <a:stretch>
            <a:fillRect/>
          </a:stretch>
        </p:blipFill>
        <p:spPr>
          <a:xfrm>
            <a:off x="365760" y="1280160"/>
            <a:ext cx="3246120" cy="3246120"/>
          </a:xfrm>
          <a:prstGeom prst="rect">
            <a:avLst/>
          </a:prstGeom>
        </p:spPr>
      </p:pic>
      <p:sp>
        <p:nvSpPr>
          <p:cNvPr id="6" name="Auftrag"/>
          <p:cNvSpPr txBox="1"/>
          <p:nvPr/>
        </p:nvSpPr>
        <p:spPr>
          <a:xfrm>
            <a:off x="3886200" y="1261872"/>
            <a:ext cx="4846320" cy="502920"/>
          </a:xfrm>
          <a:prstGeom prst="rect">
            <a:avLst/>
          </a:prstGeom>
          <a:noFill/>
        </p:spPr>
        <p:txBody>
          <a:bodyPr wrap="square" lIns="0" tIns="0" rIns="0" bIns="0" anchor="t">
            <a:spAutoFit/>
          </a:bodyPr>
          <a:lstStyle/>
          <a:p>
            <a:pPr algn="l"/>
            <a:r>
              <a:rPr sz="1400" b="1" i="0">
                <a:solidFill>
                  <a:srgbClr val="002C59"/>
                </a:solidFill>
                <a:latin typeface="Arial"/>
              </a:rPr>
              <a:t>Auftrag der Geberit AG: </a:t>
            </a:r>
            <a:r>
              <a:rPr sz="1400" b="0" i="0">
                <a:solidFill>
                  <a:srgbClr val="002C59"/>
                </a:solidFill>
                <a:latin typeface="Arial"/>
              </a:rPr>
              <a:t>Hoteliers investieren nur in hochwertige Bäder, wenn Gäste dafür mehr bezahlen.</a:t>
            </a:r>
          </a:p>
        </p:txBody>
      </p:sp>
      <p:sp>
        <p:nvSpPr>
          <p:cNvPr id="7" name="Rounded Rectangle 6"/>
          <p:cNvSpPr/>
          <p:nvPr/>
        </p:nvSpPr>
        <p:spPr>
          <a:xfrm>
            <a:off x="3886200" y="2011680"/>
            <a:ext cx="4846320" cy="804672"/>
          </a:xfrm>
          <a:prstGeom prst="roundRect">
            <a:avLst>
              <a:gd name="adj" fmla="val 6000"/>
            </a:avLst>
          </a:prstGeom>
          <a:solidFill>
            <a:srgbClr val="EAF1F8"/>
          </a:solidFill>
          <a:ln>
            <a:noFill/>
          </a:ln>
        </p:spPr>
        <p:txBody>
          <a:bodyPr rtlCol="0" anchor="ctr"/>
          <a:lstStyle/>
          <a:p>
            <a:pPr algn="ctr"/>
            <a:endParaRPr/>
          </a:p>
        </p:txBody>
      </p:sp>
      <p:sp>
        <p:nvSpPr>
          <p:cNvPr id="8" name="Oval 7"/>
          <p:cNvSpPr/>
          <p:nvPr/>
        </p:nvSpPr>
        <p:spPr>
          <a:xfrm>
            <a:off x="4023360" y="2185416"/>
            <a:ext cx="457200" cy="457200"/>
          </a:xfrm>
          <a:prstGeom prst="ellipse">
            <a:avLst/>
          </a:prstGeom>
          <a:solidFill>
            <a:srgbClr val="0064A6"/>
          </a:solidFill>
          <a:ln>
            <a:noFill/>
          </a:ln>
        </p:spPr>
        <p:txBody>
          <a:bodyPr lIns="0" tIns="0" rIns="0" bIns="0" rtlCol="0" anchor="ctr"/>
          <a:lstStyle/>
          <a:p>
            <a:pPr algn="ctr"/>
            <a:r>
              <a:rPr sz="1600" b="1">
                <a:solidFill>
                  <a:srgbClr val="FFFFFF"/>
                </a:solidFill>
                <a:latin typeface="Arial"/>
              </a:rPr>
              <a:t>1</a:t>
            </a:r>
          </a:p>
        </p:txBody>
      </p:sp>
      <p:sp>
        <p:nvSpPr>
          <p:cNvPr id="9" name="Frage 1"/>
          <p:cNvSpPr txBox="1"/>
          <p:nvPr/>
        </p:nvSpPr>
        <p:spPr>
          <a:xfrm>
            <a:off x="4663440" y="2066544"/>
            <a:ext cx="3977639" cy="694944"/>
          </a:xfrm>
          <a:prstGeom prst="rect">
            <a:avLst/>
          </a:prstGeom>
          <a:noFill/>
        </p:spPr>
        <p:txBody>
          <a:bodyPr wrap="square" lIns="0" tIns="0" rIns="0" bIns="0" anchor="ctr">
            <a:spAutoFit/>
          </a:bodyPr>
          <a:lstStyle/>
          <a:p>
            <a:pPr algn="l"/>
            <a:r>
              <a:rPr sz="1300" b="0" i="0">
                <a:solidFill>
                  <a:srgbClr val="002C59"/>
                </a:solidFill>
                <a:latin typeface="Arial"/>
              </a:rPr>
              <a:t>Wie hoch ist der akzeptierte Aufpreis pro Nacht für ein Premium-Bad?</a:t>
            </a:r>
          </a:p>
        </p:txBody>
      </p:sp>
      <p:sp>
        <p:nvSpPr>
          <p:cNvPr id="10" name="Rounded Rectangle 9"/>
          <p:cNvSpPr/>
          <p:nvPr/>
        </p:nvSpPr>
        <p:spPr>
          <a:xfrm>
            <a:off x="3886200" y="2926080"/>
            <a:ext cx="4846320" cy="804672"/>
          </a:xfrm>
          <a:prstGeom prst="roundRect">
            <a:avLst>
              <a:gd name="adj" fmla="val 6000"/>
            </a:avLst>
          </a:prstGeom>
          <a:solidFill>
            <a:srgbClr val="EAF1F8"/>
          </a:solidFill>
          <a:ln>
            <a:noFill/>
          </a:ln>
        </p:spPr>
        <p:txBody>
          <a:bodyPr rtlCol="0" anchor="ctr"/>
          <a:lstStyle/>
          <a:p>
            <a:pPr algn="ctr"/>
            <a:endParaRPr/>
          </a:p>
        </p:txBody>
      </p:sp>
      <p:sp>
        <p:nvSpPr>
          <p:cNvPr id="11" name="Oval 10"/>
          <p:cNvSpPr/>
          <p:nvPr/>
        </p:nvSpPr>
        <p:spPr>
          <a:xfrm>
            <a:off x="4023360" y="3099816"/>
            <a:ext cx="457200" cy="457200"/>
          </a:xfrm>
          <a:prstGeom prst="ellipse">
            <a:avLst/>
          </a:prstGeom>
          <a:solidFill>
            <a:srgbClr val="0064A6"/>
          </a:solidFill>
          <a:ln>
            <a:noFill/>
          </a:ln>
        </p:spPr>
        <p:txBody>
          <a:bodyPr lIns="0" tIns="0" rIns="0" bIns="0" rtlCol="0" anchor="ctr"/>
          <a:lstStyle/>
          <a:p>
            <a:pPr algn="ctr"/>
            <a:r>
              <a:rPr sz="1600" b="1">
                <a:solidFill>
                  <a:srgbClr val="FFFFFF"/>
                </a:solidFill>
                <a:latin typeface="Arial"/>
              </a:rPr>
              <a:t>2</a:t>
            </a:r>
          </a:p>
        </p:txBody>
      </p:sp>
      <p:sp>
        <p:nvSpPr>
          <p:cNvPr id="12" name="Frage 2"/>
          <p:cNvSpPr txBox="1"/>
          <p:nvPr/>
        </p:nvSpPr>
        <p:spPr>
          <a:xfrm>
            <a:off x="4663440" y="2980944"/>
            <a:ext cx="3977639" cy="694944"/>
          </a:xfrm>
          <a:prstGeom prst="rect">
            <a:avLst/>
          </a:prstGeom>
          <a:noFill/>
        </p:spPr>
        <p:txBody>
          <a:bodyPr wrap="square" lIns="0" tIns="0" rIns="0" bIns="0" anchor="ctr">
            <a:spAutoFit/>
          </a:bodyPr>
          <a:lstStyle/>
          <a:p>
            <a:pPr algn="l"/>
            <a:r>
              <a:rPr sz="1300" b="0" i="0">
                <a:solidFill>
                  <a:srgbClr val="002C59"/>
                </a:solidFill>
                <a:latin typeface="Arial"/>
              </a:rPr>
              <a:t>Wie wichtig sind Preis und einzelne Ausstattungsmerkmale, und welche Stufen sind am wertvollsten?</a:t>
            </a:r>
          </a:p>
        </p:txBody>
      </p:sp>
      <p:sp>
        <p:nvSpPr>
          <p:cNvPr id="13" name="Rounded Rectangle 12"/>
          <p:cNvSpPr/>
          <p:nvPr/>
        </p:nvSpPr>
        <p:spPr>
          <a:xfrm>
            <a:off x="3886200" y="3840480"/>
            <a:ext cx="4846320" cy="804672"/>
          </a:xfrm>
          <a:prstGeom prst="roundRect">
            <a:avLst>
              <a:gd name="adj" fmla="val 6000"/>
            </a:avLst>
          </a:prstGeom>
          <a:solidFill>
            <a:srgbClr val="EAF1F8"/>
          </a:solidFill>
          <a:ln>
            <a:noFill/>
          </a:ln>
        </p:spPr>
        <p:txBody>
          <a:bodyPr rtlCol="0" anchor="ctr"/>
          <a:lstStyle/>
          <a:p>
            <a:pPr algn="ctr"/>
            <a:endParaRPr/>
          </a:p>
        </p:txBody>
      </p:sp>
      <p:sp>
        <p:nvSpPr>
          <p:cNvPr id="14" name="Oval 13"/>
          <p:cNvSpPr/>
          <p:nvPr/>
        </p:nvSpPr>
        <p:spPr>
          <a:xfrm>
            <a:off x="4023360" y="4014216"/>
            <a:ext cx="457200" cy="457200"/>
          </a:xfrm>
          <a:prstGeom prst="ellipse">
            <a:avLst/>
          </a:prstGeom>
          <a:solidFill>
            <a:srgbClr val="0064A6"/>
          </a:solidFill>
          <a:ln>
            <a:noFill/>
          </a:ln>
        </p:spPr>
        <p:txBody>
          <a:bodyPr lIns="0" tIns="0" rIns="0" bIns="0" rtlCol="0" anchor="ctr"/>
          <a:lstStyle/>
          <a:p>
            <a:pPr algn="ctr"/>
            <a:r>
              <a:rPr sz="1600" b="1">
                <a:solidFill>
                  <a:srgbClr val="FFFFFF"/>
                </a:solidFill>
                <a:latin typeface="Arial"/>
              </a:rPr>
              <a:t>3</a:t>
            </a:r>
          </a:p>
        </p:txBody>
      </p:sp>
      <p:sp>
        <p:nvSpPr>
          <p:cNvPr id="15" name="Frage 3"/>
          <p:cNvSpPr txBox="1"/>
          <p:nvPr/>
        </p:nvSpPr>
        <p:spPr>
          <a:xfrm>
            <a:off x="4663440" y="3895344"/>
            <a:ext cx="3977639" cy="694944"/>
          </a:xfrm>
          <a:prstGeom prst="rect">
            <a:avLst/>
          </a:prstGeom>
          <a:noFill/>
        </p:spPr>
        <p:txBody>
          <a:bodyPr wrap="square" lIns="0" tIns="0" rIns="0" bIns="0" anchor="ctr">
            <a:spAutoFit/>
          </a:bodyPr>
          <a:lstStyle/>
          <a:p>
            <a:pPr algn="l"/>
            <a:r>
              <a:rPr sz="1300" b="0" i="0">
                <a:solidFill>
                  <a:srgbClr val="002C59"/>
                </a:solidFill>
                <a:latin typeface="Arial"/>
              </a:rPr>
              <a:t>Bei welchem Aufpreis ist der erwartete Umsatz am grössten?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Zwei Verfahren, zwei Online-Befragungen</a:t>
            </a:r>
          </a:p>
        </p:txBody>
      </p:sp>
      <p:sp>
        <p:nvSpPr>
          <p:cNvPr id="3" name="Fußzeilenplatzhalter"/>
          <p:cNvSpPr>
            <a:spLocks noGrp="1"/>
          </p:cNvSpPr>
          <p:nvPr>
            <p:ph type="ftr" sz="quarter" idx="3"/>
          </p:nvPr>
        </p:nvSpPr>
        <p:spPr/>
        <p:txBody>
          <a:bodyPr/>
          <a:lstStyle/>
          <a:p>
            <a:r>
              <a:rPr lang="de-CH">
                <a:solidFill>
                  <a:srgbClr val="012C59"/>
                </a:solidFill>
              </a:rPr>
              <a:t>CAS Pricing | Gruppe 2</a:t>
            </a:r>
          </a:p>
        </p:txBody>
      </p:sp>
      <p:sp>
        <p:nvSpPr>
          <p:cNvPr id="4" name="Foliennummernplatzhalter"/>
          <p:cNvSpPr>
            <a:spLocks noGrp="1"/>
          </p:cNvSpPr>
          <p:nvPr>
            <p:ph type="sldNum" sz="quarter" idx="4"/>
          </p:nvPr>
        </p:nvSpPr>
        <p:spPr/>
        <p:txBody>
          <a:bodyPr/>
          <a:lstStyle/>
          <a:p>
            <a:fld id="{05F9AC53-F790-4868-97E7-45E3866EE614}" type="slidenum">
              <a:rPr lang="de-CH"/>
              <a:t>3</a:t>
            </a:fld>
            <a:endParaRPr lang="de-CH"/>
          </a:p>
        </p:txBody>
      </p:sp>
      <p:sp>
        <p:nvSpPr>
          <p:cNvPr id="5" name="Rounded Rectangle 4"/>
          <p:cNvSpPr/>
          <p:nvPr/>
        </p:nvSpPr>
        <p:spPr>
          <a:xfrm>
            <a:off x="365760" y="1234440"/>
            <a:ext cx="4983480" cy="3520440"/>
          </a:xfrm>
          <a:prstGeom prst="roundRect">
            <a:avLst>
              <a:gd name="adj" fmla="val 6000"/>
            </a:avLst>
          </a:prstGeom>
          <a:solidFill>
            <a:srgbClr val="EAF1F8"/>
          </a:solidFill>
          <a:ln>
            <a:noFill/>
          </a:ln>
        </p:spPr>
        <p:txBody>
          <a:bodyPr rtlCol="0" anchor="ctr"/>
          <a:lstStyle/>
          <a:p>
            <a:pPr algn="ctr"/>
            <a:endParaRPr/>
          </a:p>
        </p:txBody>
      </p:sp>
      <p:sp>
        <p:nvSpPr>
          <p:cNvPr id="6" name="Kopf GG"/>
          <p:cNvSpPr txBox="1"/>
          <p:nvPr/>
        </p:nvSpPr>
        <p:spPr>
          <a:xfrm>
            <a:off x="502920" y="1298448"/>
            <a:ext cx="4754880" cy="320040"/>
          </a:xfrm>
          <a:prstGeom prst="rect">
            <a:avLst/>
          </a:prstGeom>
          <a:noFill/>
        </p:spPr>
        <p:txBody>
          <a:bodyPr wrap="square" lIns="0" tIns="0" rIns="0" bIns="0" anchor="t">
            <a:spAutoFit/>
          </a:bodyPr>
          <a:lstStyle/>
          <a:p>
            <a:pPr algn="l"/>
            <a:r>
              <a:rPr sz="1500" b="1" i="0">
                <a:solidFill>
                  <a:srgbClr val="002C59"/>
                </a:solidFill>
                <a:latin typeface="Arial"/>
              </a:rPr>
              <a:t>Gabor-Granger-Analyse</a:t>
            </a:r>
            <a:r>
              <a:rPr sz="1300" b="0" i="0">
                <a:solidFill>
                  <a:srgbClr val="0064A6"/>
                </a:solidFill>
                <a:latin typeface="Arial"/>
              </a:rPr>
              <a:t>  n = 20</a:t>
            </a:r>
          </a:p>
        </p:txBody>
      </p:sp>
      <p:pic>
        <p:nvPicPr>
          <p:cNvPr id="7" name="Bild Basis-Bad" descr="bad_basis.jpg"/>
          <p:cNvPicPr>
            <a:picLocks noChangeAspect="1"/>
          </p:cNvPicPr>
          <p:nvPr/>
        </p:nvPicPr>
        <p:blipFill>
          <a:blip r:embed="rId3"/>
          <a:stretch>
            <a:fillRect/>
          </a:stretch>
        </p:blipFill>
        <p:spPr>
          <a:xfrm>
            <a:off x="502920" y="1691640"/>
            <a:ext cx="1536192" cy="1536192"/>
          </a:xfrm>
          <a:prstGeom prst="rect">
            <a:avLst/>
          </a:prstGeom>
        </p:spPr>
      </p:pic>
      <p:sp>
        <p:nvSpPr>
          <p:cNvPr id="8" name="Label Basis-Bad"/>
          <p:cNvSpPr txBox="1"/>
          <p:nvPr/>
        </p:nvSpPr>
        <p:spPr>
          <a:xfrm>
            <a:off x="502920" y="3255264"/>
            <a:ext cx="1536192" cy="274320"/>
          </a:xfrm>
          <a:prstGeom prst="rect">
            <a:avLst/>
          </a:prstGeom>
          <a:noFill/>
        </p:spPr>
        <p:txBody>
          <a:bodyPr wrap="square" lIns="0" tIns="0" rIns="0" bIns="0" anchor="t">
            <a:spAutoFit/>
          </a:bodyPr>
          <a:lstStyle/>
          <a:p>
            <a:pPr algn="ctr"/>
            <a:r>
              <a:rPr sz="1200" b="1" i="0">
                <a:solidFill>
                  <a:srgbClr val="002C59"/>
                </a:solidFill>
                <a:latin typeface="Arial"/>
              </a:rPr>
              <a:t>Basis-Bad</a:t>
            </a:r>
          </a:p>
        </p:txBody>
      </p:sp>
      <p:pic>
        <p:nvPicPr>
          <p:cNvPr id="9" name="Bild Komfort-Bad" descr="bad_komfort.jpg"/>
          <p:cNvPicPr>
            <a:picLocks noChangeAspect="1"/>
          </p:cNvPicPr>
          <p:nvPr/>
        </p:nvPicPr>
        <p:blipFill>
          <a:blip r:embed="rId4"/>
          <a:stretch>
            <a:fillRect/>
          </a:stretch>
        </p:blipFill>
        <p:spPr>
          <a:xfrm>
            <a:off x="2130552" y="1691640"/>
            <a:ext cx="1536192" cy="1536192"/>
          </a:xfrm>
          <a:prstGeom prst="rect">
            <a:avLst/>
          </a:prstGeom>
        </p:spPr>
      </p:pic>
      <p:sp>
        <p:nvSpPr>
          <p:cNvPr id="10" name="Label Komfort-Bad"/>
          <p:cNvSpPr txBox="1"/>
          <p:nvPr/>
        </p:nvSpPr>
        <p:spPr>
          <a:xfrm>
            <a:off x="2130552" y="3255264"/>
            <a:ext cx="1536192" cy="274320"/>
          </a:xfrm>
          <a:prstGeom prst="rect">
            <a:avLst/>
          </a:prstGeom>
          <a:noFill/>
        </p:spPr>
        <p:txBody>
          <a:bodyPr wrap="square" lIns="0" tIns="0" rIns="0" bIns="0" anchor="t">
            <a:spAutoFit/>
          </a:bodyPr>
          <a:lstStyle/>
          <a:p>
            <a:pPr algn="ctr"/>
            <a:r>
              <a:rPr sz="1200" b="1" i="0">
                <a:solidFill>
                  <a:srgbClr val="002C59"/>
                </a:solidFill>
                <a:latin typeface="Arial"/>
              </a:rPr>
              <a:t>Komfort-Bad</a:t>
            </a:r>
          </a:p>
        </p:txBody>
      </p:sp>
      <p:pic>
        <p:nvPicPr>
          <p:cNvPr id="11" name="Bild Premium-Bad" descr="bad_premium.jpg"/>
          <p:cNvPicPr>
            <a:picLocks noChangeAspect="1"/>
          </p:cNvPicPr>
          <p:nvPr/>
        </p:nvPicPr>
        <p:blipFill>
          <a:blip r:embed="rId5"/>
          <a:stretch>
            <a:fillRect/>
          </a:stretch>
        </p:blipFill>
        <p:spPr>
          <a:xfrm>
            <a:off x="3758184" y="1691640"/>
            <a:ext cx="1536192" cy="1536192"/>
          </a:xfrm>
          <a:prstGeom prst="rect">
            <a:avLst/>
          </a:prstGeom>
        </p:spPr>
      </p:pic>
      <p:sp>
        <p:nvSpPr>
          <p:cNvPr id="12" name="Label Premium-Bad"/>
          <p:cNvSpPr txBox="1"/>
          <p:nvPr/>
        </p:nvSpPr>
        <p:spPr>
          <a:xfrm>
            <a:off x="3758184" y="3255264"/>
            <a:ext cx="1536192" cy="274320"/>
          </a:xfrm>
          <a:prstGeom prst="rect">
            <a:avLst/>
          </a:prstGeom>
          <a:noFill/>
        </p:spPr>
        <p:txBody>
          <a:bodyPr wrap="square" lIns="0" tIns="0" rIns="0" bIns="0" anchor="t">
            <a:spAutoFit/>
          </a:bodyPr>
          <a:lstStyle/>
          <a:p>
            <a:pPr algn="ctr"/>
            <a:r>
              <a:rPr sz="1200" b="1" i="0">
                <a:solidFill>
                  <a:srgbClr val="002C59"/>
                </a:solidFill>
                <a:latin typeface="Arial"/>
              </a:rPr>
              <a:t>Premium-Bad</a:t>
            </a:r>
          </a:p>
        </p:txBody>
      </p:sp>
      <p:sp>
        <p:nvSpPr>
          <p:cNvPr id="13" name="Text GG"/>
          <p:cNvSpPr txBox="1"/>
          <p:nvPr/>
        </p:nvSpPr>
        <p:spPr>
          <a:xfrm>
            <a:off x="502920" y="3611880"/>
            <a:ext cx="4754880" cy="1097280"/>
          </a:xfrm>
          <a:prstGeom prst="rect">
            <a:avLst/>
          </a:prstGeom>
          <a:noFill/>
        </p:spPr>
        <p:txBody>
          <a:bodyPr wrap="square" lIns="0" tIns="0" rIns="0" bIns="0" anchor="t">
            <a:spAutoFit/>
          </a:bodyPr>
          <a:lstStyle/>
          <a:p>
            <a:pPr marL="171450" indent="-171450" algn="l">
              <a:spcAft>
                <a:spcPts val="300"/>
              </a:spcAft>
              <a:buFont typeface="Arial"/>
              <a:buChar char="•"/>
            </a:pPr>
            <a:r>
              <a:rPr sz="1200" b="0" i="0">
                <a:solidFill>
                  <a:srgbClr val="002C59"/>
                </a:solidFill>
                <a:latin typeface="Arial"/>
              </a:rPr>
              <a:t>Ja/Nein-Frage je Bild: «Würden Sie diesen Aufpreis bezahlen?»</a:t>
            </a:r>
          </a:p>
          <a:p>
            <a:pPr marL="171450" indent="-171450" algn="l">
              <a:spcAft>
                <a:spcPts val="300"/>
              </a:spcAft>
              <a:buFont typeface="Arial"/>
              <a:buChar char="•"/>
            </a:pPr>
            <a:r>
              <a:rPr sz="1200" b="0" i="0">
                <a:solidFill>
                  <a:srgbClr val="002C59"/>
                </a:solidFill>
                <a:latin typeface="Arial"/>
              </a:rPr>
              <a:t>Preisleiter CHF 0 bis 70 in 5er-Schritten, adaptiv</a:t>
            </a:r>
          </a:p>
          <a:p>
            <a:pPr marL="171450" indent="-171450" algn="l">
              <a:buFont typeface="Arial"/>
              <a:buChar char="•"/>
            </a:pPr>
            <a:r>
              <a:rPr sz="1200" b="0" i="0">
                <a:solidFill>
                  <a:srgbClr val="002C59"/>
                </a:solidFill>
                <a:latin typeface="Arial"/>
              </a:rPr>
              <a:t>Ergebnis: Nachfrage- und Umsatzkurve je Bad</a:t>
            </a:r>
          </a:p>
        </p:txBody>
      </p:sp>
      <p:sp>
        <p:nvSpPr>
          <p:cNvPr id="14" name="Rounded Rectangle 13"/>
          <p:cNvSpPr/>
          <p:nvPr/>
        </p:nvSpPr>
        <p:spPr>
          <a:xfrm>
            <a:off x="5532120" y="1234440"/>
            <a:ext cx="3246120" cy="3520440"/>
          </a:xfrm>
          <a:prstGeom prst="roundRect">
            <a:avLst>
              <a:gd name="adj" fmla="val 6000"/>
            </a:avLst>
          </a:prstGeom>
          <a:solidFill>
            <a:srgbClr val="EAF1F8"/>
          </a:solidFill>
          <a:ln>
            <a:noFill/>
          </a:ln>
        </p:spPr>
        <p:txBody>
          <a:bodyPr rtlCol="0" anchor="ctr"/>
          <a:lstStyle/>
          <a:p>
            <a:pPr algn="ctr"/>
            <a:endParaRPr/>
          </a:p>
        </p:txBody>
      </p:sp>
      <p:sp>
        <p:nvSpPr>
          <p:cNvPr id="15" name="Kopf CBC"/>
          <p:cNvSpPr txBox="1"/>
          <p:nvPr/>
        </p:nvSpPr>
        <p:spPr>
          <a:xfrm>
            <a:off x="5669280" y="1298448"/>
            <a:ext cx="3017520" cy="320040"/>
          </a:xfrm>
          <a:prstGeom prst="rect">
            <a:avLst/>
          </a:prstGeom>
          <a:noFill/>
        </p:spPr>
        <p:txBody>
          <a:bodyPr wrap="square" lIns="0" tIns="0" rIns="0" bIns="0" anchor="t">
            <a:spAutoFit/>
          </a:bodyPr>
          <a:lstStyle/>
          <a:p>
            <a:pPr algn="l"/>
            <a:r>
              <a:rPr sz="1500" b="1" i="0">
                <a:solidFill>
                  <a:srgbClr val="002C59"/>
                </a:solidFill>
                <a:latin typeface="Arial"/>
              </a:rPr>
              <a:t>Choice-based Conjoint</a:t>
            </a:r>
          </a:p>
        </p:txBody>
      </p:sp>
      <p:sp>
        <p:nvSpPr>
          <p:cNvPr id="16" name="n CBC"/>
          <p:cNvSpPr txBox="1"/>
          <p:nvPr/>
        </p:nvSpPr>
        <p:spPr>
          <a:xfrm>
            <a:off x="5669280" y="1627632"/>
            <a:ext cx="3017520" cy="274320"/>
          </a:xfrm>
          <a:prstGeom prst="rect">
            <a:avLst/>
          </a:prstGeom>
          <a:noFill/>
        </p:spPr>
        <p:txBody>
          <a:bodyPr wrap="square" lIns="0" tIns="0" rIns="0" bIns="0" anchor="t">
            <a:spAutoFit/>
          </a:bodyPr>
          <a:lstStyle/>
          <a:p>
            <a:pPr algn="l"/>
            <a:r>
              <a:rPr sz="1300" b="0" i="0">
                <a:solidFill>
                  <a:srgbClr val="0064A6"/>
                </a:solidFill>
                <a:latin typeface="Arial"/>
              </a:rPr>
              <a:t>n = 28 (Nutzenwerte: n = 12)</a:t>
            </a:r>
          </a:p>
        </p:txBody>
      </p:sp>
      <p:sp>
        <p:nvSpPr>
          <p:cNvPr id="17" name="Rounded Rectangle 16"/>
          <p:cNvSpPr/>
          <p:nvPr/>
        </p:nvSpPr>
        <p:spPr>
          <a:xfrm>
            <a:off x="5669280" y="1993392"/>
            <a:ext cx="2971800" cy="365760"/>
          </a:xfrm>
          <a:prstGeom prst="roundRect">
            <a:avLst>
              <a:gd name="adj" fmla="val 15000"/>
            </a:avLst>
          </a:prstGeom>
          <a:solidFill>
            <a:srgbClr val="FFFFFF"/>
          </a:solidFill>
          <a:ln>
            <a:noFill/>
          </a:ln>
        </p:spPr>
        <p:txBody>
          <a:bodyPr rtlCol="0" anchor="ctr"/>
          <a:lstStyle/>
          <a:p>
            <a:pPr algn="ctr"/>
            <a:endParaRPr/>
          </a:p>
        </p:txBody>
      </p:sp>
      <p:sp>
        <p:nvSpPr>
          <p:cNvPr id="18" name="TextBox 17"/>
          <p:cNvSpPr txBox="1"/>
          <p:nvPr/>
        </p:nvSpPr>
        <p:spPr>
          <a:xfrm>
            <a:off x="5760720" y="1993392"/>
            <a:ext cx="1554480" cy="365760"/>
          </a:xfrm>
          <a:prstGeom prst="rect">
            <a:avLst/>
          </a:prstGeom>
          <a:noFill/>
        </p:spPr>
        <p:txBody>
          <a:bodyPr wrap="square" lIns="0" tIns="0" rIns="0" bIns="0" anchor="ctr">
            <a:spAutoFit/>
          </a:bodyPr>
          <a:lstStyle/>
          <a:p>
            <a:pPr algn="l"/>
            <a:r>
              <a:rPr sz="1200" b="1" i="0">
                <a:solidFill>
                  <a:srgbClr val="002C59"/>
                </a:solidFill>
                <a:latin typeface="Arial"/>
              </a:rPr>
              <a:t>Aufpreis</a:t>
            </a:r>
          </a:p>
        </p:txBody>
      </p:sp>
      <p:sp>
        <p:nvSpPr>
          <p:cNvPr id="19" name="TextBox 18"/>
          <p:cNvSpPr txBox="1"/>
          <p:nvPr/>
        </p:nvSpPr>
        <p:spPr>
          <a:xfrm>
            <a:off x="7223760" y="1993392"/>
            <a:ext cx="1371600" cy="365760"/>
          </a:xfrm>
          <a:prstGeom prst="rect">
            <a:avLst/>
          </a:prstGeom>
          <a:noFill/>
        </p:spPr>
        <p:txBody>
          <a:bodyPr wrap="square" lIns="0" tIns="0" rIns="0" bIns="0" anchor="ctr">
            <a:spAutoFit/>
          </a:bodyPr>
          <a:lstStyle/>
          <a:p>
            <a:pPr algn="r"/>
            <a:r>
              <a:rPr sz="1200" b="0" i="0">
                <a:solidFill>
                  <a:srgbClr val="002C59"/>
                </a:solidFill>
                <a:latin typeface="Arial"/>
              </a:rPr>
              <a:t>CHF 0 / 15 / 45</a:t>
            </a:r>
          </a:p>
        </p:txBody>
      </p:sp>
      <p:sp>
        <p:nvSpPr>
          <p:cNvPr id="20" name="Rounded Rectangle 19"/>
          <p:cNvSpPr/>
          <p:nvPr/>
        </p:nvSpPr>
        <p:spPr>
          <a:xfrm>
            <a:off x="5669280" y="2414016"/>
            <a:ext cx="2971800" cy="365760"/>
          </a:xfrm>
          <a:prstGeom prst="roundRect">
            <a:avLst>
              <a:gd name="adj" fmla="val 15000"/>
            </a:avLst>
          </a:prstGeom>
          <a:solidFill>
            <a:srgbClr val="FFFFFF"/>
          </a:solidFill>
          <a:ln>
            <a:noFill/>
          </a:ln>
        </p:spPr>
        <p:txBody>
          <a:bodyPr rtlCol="0" anchor="ctr"/>
          <a:lstStyle/>
          <a:p>
            <a:pPr algn="ctr"/>
            <a:endParaRPr/>
          </a:p>
        </p:txBody>
      </p:sp>
      <p:sp>
        <p:nvSpPr>
          <p:cNvPr id="21" name="TextBox 20"/>
          <p:cNvSpPr txBox="1"/>
          <p:nvPr/>
        </p:nvSpPr>
        <p:spPr>
          <a:xfrm>
            <a:off x="5760720" y="2414016"/>
            <a:ext cx="1554480" cy="365760"/>
          </a:xfrm>
          <a:prstGeom prst="rect">
            <a:avLst/>
          </a:prstGeom>
          <a:noFill/>
        </p:spPr>
        <p:txBody>
          <a:bodyPr wrap="square" lIns="0" tIns="0" rIns="0" bIns="0" anchor="ctr">
            <a:spAutoFit/>
          </a:bodyPr>
          <a:lstStyle/>
          <a:p>
            <a:pPr algn="l"/>
            <a:r>
              <a:rPr sz="1200" b="1" i="0">
                <a:solidFill>
                  <a:srgbClr val="002C59"/>
                </a:solidFill>
                <a:latin typeface="Arial"/>
              </a:rPr>
              <a:t>Toilette</a:t>
            </a:r>
          </a:p>
        </p:txBody>
      </p:sp>
      <p:sp>
        <p:nvSpPr>
          <p:cNvPr id="22" name="TextBox 21"/>
          <p:cNvSpPr txBox="1"/>
          <p:nvPr/>
        </p:nvSpPr>
        <p:spPr>
          <a:xfrm>
            <a:off x="7223760" y="2414016"/>
            <a:ext cx="1371600" cy="365760"/>
          </a:xfrm>
          <a:prstGeom prst="rect">
            <a:avLst/>
          </a:prstGeom>
          <a:noFill/>
        </p:spPr>
        <p:txBody>
          <a:bodyPr wrap="square" lIns="0" tIns="0" rIns="0" bIns="0" anchor="ctr">
            <a:spAutoFit/>
          </a:bodyPr>
          <a:lstStyle/>
          <a:p>
            <a:pPr algn="r"/>
            <a:r>
              <a:rPr sz="1200" b="0" i="0">
                <a:solidFill>
                  <a:srgbClr val="002C59"/>
                </a:solidFill>
                <a:latin typeface="Arial"/>
              </a:rPr>
              <a:t>3 Stufen</a:t>
            </a:r>
          </a:p>
        </p:txBody>
      </p:sp>
      <p:sp>
        <p:nvSpPr>
          <p:cNvPr id="23" name="Rounded Rectangle 22"/>
          <p:cNvSpPr/>
          <p:nvPr/>
        </p:nvSpPr>
        <p:spPr>
          <a:xfrm>
            <a:off x="5669280" y="2834640"/>
            <a:ext cx="2971800" cy="365760"/>
          </a:xfrm>
          <a:prstGeom prst="roundRect">
            <a:avLst>
              <a:gd name="adj" fmla="val 15000"/>
            </a:avLst>
          </a:prstGeom>
          <a:solidFill>
            <a:srgbClr val="FFFFFF"/>
          </a:solidFill>
          <a:ln>
            <a:noFill/>
          </a:ln>
        </p:spPr>
        <p:txBody>
          <a:bodyPr rtlCol="0" anchor="ctr"/>
          <a:lstStyle/>
          <a:p>
            <a:pPr algn="ctr"/>
            <a:endParaRPr/>
          </a:p>
        </p:txBody>
      </p:sp>
      <p:sp>
        <p:nvSpPr>
          <p:cNvPr id="24" name="TextBox 23"/>
          <p:cNvSpPr txBox="1"/>
          <p:nvPr/>
        </p:nvSpPr>
        <p:spPr>
          <a:xfrm>
            <a:off x="5760720" y="2834640"/>
            <a:ext cx="1554480" cy="365760"/>
          </a:xfrm>
          <a:prstGeom prst="rect">
            <a:avLst/>
          </a:prstGeom>
          <a:noFill/>
        </p:spPr>
        <p:txBody>
          <a:bodyPr wrap="square" lIns="0" tIns="0" rIns="0" bIns="0" anchor="ctr">
            <a:spAutoFit/>
          </a:bodyPr>
          <a:lstStyle/>
          <a:p>
            <a:pPr algn="l"/>
            <a:r>
              <a:rPr sz="1200" b="1" i="0">
                <a:solidFill>
                  <a:srgbClr val="002C59"/>
                </a:solidFill>
                <a:latin typeface="Arial"/>
              </a:rPr>
              <a:t>Dusche</a:t>
            </a:r>
          </a:p>
        </p:txBody>
      </p:sp>
      <p:sp>
        <p:nvSpPr>
          <p:cNvPr id="25" name="TextBox 24"/>
          <p:cNvSpPr txBox="1"/>
          <p:nvPr/>
        </p:nvSpPr>
        <p:spPr>
          <a:xfrm>
            <a:off x="7223760" y="2834640"/>
            <a:ext cx="1371600" cy="365760"/>
          </a:xfrm>
          <a:prstGeom prst="rect">
            <a:avLst/>
          </a:prstGeom>
          <a:noFill/>
        </p:spPr>
        <p:txBody>
          <a:bodyPr wrap="square" lIns="0" tIns="0" rIns="0" bIns="0" anchor="ctr">
            <a:spAutoFit/>
          </a:bodyPr>
          <a:lstStyle/>
          <a:p>
            <a:pPr algn="r"/>
            <a:r>
              <a:rPr sz="1200" b="0" i="0">
                <a:solidFill>
                  <a:srgbClr val="002C59"/>
                </a:solidFill>
                <a:latin typeface="Arial"/>
              </a:rPr>
              <a:t>3 Stufen</a:t>
            </a:r>
          </a:p>
        </p:txBody>
      </p:sp>
      <p:sp>
        <p:nvSpPr>
          <p:cNvPr id="26" name="Rounded Rectangle 25"/>
          <p:cNvSpPr/>
          <p:nvPr/>
        </p:nvSpPr>
        <p:spPr>
          <a:xfrm>
            <a:off x="5669280" y="3255264"/>
            <a:ext cx="2971800" cy="365760"/>
          </a:xfrm>
          <a:prstGeom prst="roundRect">
            <a:avLst>
              <a:gd name="adj" fmla="val 15000"/>
            </a:avLst>
          </a:prstGeom>
          <a:solidFill>
            <a:srgbClr val="FFFFFF"/>
          </a:solidFill>
          <a:ln>
            <a:noFill/>
          </a:ln>
        </p:spPr>
        <p:txBody>
          <a:bodyPr rtlCol="0" anchor="ctr"/>
          <a:lstStyle/>
          <a:p>
            <a:pPr algn="ctr"/>
            <a:endParaRPr/>
          </a:p>
        </p:txBody>
      </p:sp>
      <p:sp>
        <p:nvSpPr>
          <p:cNvPr id="27" name="TextBox 26"/>
          <p:cNvSpPr txBox="1"/>
          <p:nvPr/>
        </p:nvSpPr>
        <p:spPr>
          <a:xfrm>
            <a:off x="5760720" y="3255264"/>
            <a:ext cx="1554480" cy="365760"/>
          </a:xfrm>
          <a:prstGeom prst="rect">
            <a:avLst/>
          </a:prstGeom>
          <a:noFill/>
        </p:spPr>
        <p:txBody>
          <a:bodyPr wrap="square" lIns="0" tIns="0" rIns="0" bIns="0" anchor="ctr">
            <a:spAutoFit/>
          </a:bodyPr>
          <a:lstStyle/>
          <a:p>
            <a:pPr algn="l"/>
            <a:r>
              <a:rPr sz="1200" b="1" i="0">
                <a:solidFill>
                  <a:srgbClr val="002C59"/>
                </a:solidFill>
                <a:latin typeface="Arial"/>
              </a:rPr>
              <a:t>Waschtisch</a:t>
            </a:r>
          </a:p>
        </p:txBody>
      </p:sp>
      <p:sp>
        <p:nvSpPr>
          <p:cNvPr id="28" name="TextBox 27"/>
          <p:cNvSpPr txBox="1"/>
          <p:nvPr/>
        </p:nvSpPr>
        <p:spPr>
          <a:xfrm>
            <a:off x="7223760" y="3255264"/>
            <a:ext cx="1371600" cy="365760"/>
          </a:xfrm>
          <a:prstGeom prst="rect">
            <a:avLst/>
          </a:prstGeom>
          <a:noFill/>
        </p:spPr>
        <p:txBody>
          <a:bodyPr wrap="square" lIns="0" tIns="0" rIns="0" bIns="0" anchor="ctr">
            <a:spAutoFit/>
          </a:bodyPr>
          <a:lstStyle/>
          <a:p>
            <a:pPr algn="r"/>
            <a:r>
              <a:rPr sz="1200" b="0" i="0">
                <a:solidFill>
                  <a:srgbClr val="002C59"/>
                </a:solidFill>
                <a:latin typeface="Arial"/>
              </a:rPr>
              <a:t>3 Stufen</a:t>
            </a:r>
          </a:p>
        </p:txBody>
      </p:sp>
      <p:sp>
        <p:nvSpPr>
          <p:cNvPr id="29" name="Rounded Rectangle 28"/>
          <p:cNvSpPr/>
          <p:nvPr/>
        </p:nvSpPr>
        <p:spPr>
          <a:xfrm>
            <a:off x="5669280" y="3675888"/>
            <a:ext cx="2971800" cy="365760"/>
          </a:xfrm>
          <a:prstGeom prst="roundRect">
            <a:avLst>
              <a:gd name="adj" fmla="val 15000"/>
            </a:avLst>
          </a:prstGeom>
          <a:solidFill>
            <a:srgbClr val="FFFFFF"/>
          </a:solidFill>
          <a:ln>
            <a:noFill/>
          </a:ln>
        </p:spPr>
        <p:txBody>
          <a:bodyPr rtlCol="0" anchor="ctr"/>
          <a:lstStyle/>
          <a:p>
            <a:pPr algn="ctr"/>
            <a:endParaRPr/>
          </a:p>
        </p:txBody>
      </p:sp>
      <p:sp>
        <p:nvSpPr>
          <p:cNvPr id="30" name="TextBox 29"/>
          <p:cNvSpPr txBox="1"/>
          <p:nvPr/>
        </p:nvSpPr>
        <p:spPr>
          <a:xfrm>
            <a:off x="5760720" y="3675888"/>
            <a:ext cx="1554480" cy="365760"/>
          </a:xfrm>
          <a:prstGeom prst="rect">
            <a:avLst/>
          </a:prstGeom>
          <a:noFill/>
        </p:spPr>
        <p:txBody>
          <a:bodyPr wrap="square" lIns="0" tIns="0" rIns="0" bIns="0" anchor="ctr">
            <a:spAutoFit/>
          </a:bodyPr>
          <a:lstStyle/>
          <a:p>
            <a:pPr algn="l"/>
            <a:r>
              <a:rPr sz="1200" b="1" i="0">
                <a:solidFill>
                  <a:srgbClr val="002C59"/>
                </a:solidFill>
                <a:latin typeface="Arial"/>
              </a:rPr>
              <a:t>Spiegel und Ablage</a:t>
            </a:r>
          </a:p>
        </p:txBody>
      </p:sp>
      <p:sp>
        <p:nvSpPr>
          <p:cNvPr id="31" name="TextBox 30"/>
          <p:cNvSpPr txBox="1"/>
          <p:nvPr/>
        </p:nvSpPr>
        <p:spPr>
          <a:xfrm>
            <a:off x="7223760" y="3675888"/>
            <a:ext cx="1371600" cy="365760"/>
          </a:xfrm>
          <a:prstGeom prst="rect">
            <a:avLst/>
          </a:prstGeom>
          <a:noFill/>
        </p:spPr>
        <p:txBody>
          <a:bodyPr wrap="square" lIns="0" tIns="0" rIns="0" bIns="0" anchor="ctr">
            <a:spAutoFit/>
          </a:bodyPr>
          <a:lstStyle/>
          <a:p>
            <a:pPr algn="r"/>
            <a:r>
              <a:rPr sz="1200" b="0" i="0">
                <a:solidFill>
                  <a:srgbClr val="002C59"/>
                </a:solidFill>
                <a:latin typeface="Arial"/>
              </a:rPr>
              <a:t>3 Stufen</a:t>
            </a:r>
          </a:p>
        </p:txBody>
      </p:sp>
      <p:sp>
        <p:nvSpPr>
          <p:cNvPr id="32" name="Text CBC"/>
          <p:cNvSpPr txBox="1"/>
          <p:nvPr/>
        </p:nvSpPr>
        <p:spPr>
          <a:xfrm>
            <a:off x="5669280" y="4133087"/>
            <a:ext cx="3017520" cy="594360"/>
          </a:xfrm>
          <a:prstGeom prst="rect">
            <a:avLst/>
          </a:prstGeom>
          <a:noFill/>
        </p:spPr>
        <p:txBody>
          <a:bodyPr wrap="square" lIns="0" tIns="0" rIns="0" bIns="0" anchor="t">
            <a:spAutoFit/>
          </a:bodyPr>
          <a:lstStyle/>
          <a:p>
            <a:pPr algn="l"/>
            <a:r>
              <a:rPr sz="1200" b="0" i="0">
                <a:solidFill>
                  <a:srgbClr val="002C59"/>
                </a:solidFill>
                <a:latin typeface="Arial"/>
              </a:rPr>
              <a:t>7 Wahlaufgaben: 3 Bäder oder «keines»; Referenz: Zimmer à CHF 150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Gabor-Granger: Das Premium-Bad hält die Zustimmung am längsten</a:t>
            </a:r>
          </a:p>
        </p:txBody>
      </p:sp>
      <p:sp>
        <p:nvSpPr>
          <p:cNvPr id="3" name="Fußzeilenplatzhalter"/>
          <p:cNvSpPr>
            <a:spLocks noGrp="1"/>
          </p:cNvSpPr>
          <p:nvPr>
            <p:ph type="ftr" sz="quarter" idx="3"/>
          </p:nvPr>
        </p:nvSpPr>
        <p:spPr/>
        <p:txBody>
          <a:bodyPr/>
          <a:lstStyle/>
          <a:p>
            <a:r>
              <a:rPr lang="de-CH">
                <a:solidFill>
                  <a:srgbClr val="012C59"/>
                </a:solidFill>
              </a:rPr>
              <a:t>CAS Pricing | Gruppe 2</a:t>
            </a:r>
          </a:p>
        </p:txBody>
      </p:sp>
      <p:sp>
        <p:nvSpPr>
          <p:cNvPr id="4" name="Foliennummernplatzhalter"/>
          <p:cNvSpPr>
            <a:spLocks noGrp="1"/>
          </p:cNvSpPr>
          <p:nvPr>
            <p:ph type="sldNum" sz="quarter" idx="4"/>
          </p:nvPr>
        </p:nvSpPr>
        <p:spPr/>
        <p:txBody>
          <a:bodyPr/>
          <a:lstStyle/>
          <a:p>
            <a:fld id="{05F9AC53-F790-4868-97E7-45E3866EE614}" type="slidenum">
              <a:rPr lang="de-CH"/>
              <a:t>4</a:t>
            </a:fld>
            <a:endParaRPr lang="de-CH"/>
          </a:p>
        </p:txBody>
      </p:sp>
      <p:graphicFrame>
        <p:nvGraphicFramePr>
          <p:cNvPr id="5" name="Chart Nachfragekurven"/>
          <p:cNvGraphicFramePr>
            <a:graphicFrameLocks noGrp="1"/>
          </p:cNvGraphicFramePr>
          <p:nvPr/>
        </p:nvGraphicFramePr>
        <p:xfrm>
          <a:off x="320040" y="1234440"/>
          <a:ext cx="5486400" cy="352044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p:cNvSpPr txBox="1"/>
          <p:nvPr/>
        </p:nvSpPr>
        <p:spPr>
          <a:xfrm>
            <a:off x="6080760" y="1261872"/>
            <a:ext cx="2697480" cy="274320"/>
          </a:xfrm>
          <a:prstGeom prst="rect">
            <a:avLst/>
          </a:prstGeom>
          <a:noFill/>
        </p:spPr>
        <p:txBody>
          <a:bodyPr wrap="square" lIns="0" tIns="0" rIns="0" bIns="0" anchor="t">
            <a:spAutoFit/>
          </a:bodyPr>
          <a:lstStyle/>
          <a:p>
            <a:pPr algn="l"/>
            <a:r>
              <a:rPr sz="1300" b="1" i="0">
                <a:solidFill>
                  <a:srgbClr val="002C59"/>
                </a:solidFill>
                <a:latin typeface="Arial"/>
              </a:rPr>
              <a:t>Mittlerer Schwellenpreis (CHF)</a:t>
            </a:r>
          </a:p>
        </p:txBody>
      </p:sp>
      <p:sp>
        <p:nvSpPr>
          <p:cNvPr id="7" name="Rounded Rectangle 6"/>
          <p:cNvSpPr/>
          <p:nvPr/>
        </p:nvSpPr>
        <p:spPr>
          <a:xfrm>
            <a:off x="6080760" y="1627632"/>
            <a:ext cx="2697480" cy="896112"/>
          </a:xfrm>
          <a:prstGeom prst="roundRect">
            <a:avLst>
              <a:gd name="adj" fmla="val 6000"/>
            </a:avLst>
          </a:prstGeom>
          <a:solidFill>
            <a:srgbClr val="EAF1F8"/>
          </a:solidFill>
          <a:ln>
            <a:noFill/>
          </a:ln>
        </p:spPr>
        <p:txBody>
          <a:bodyPr rtlCol="0" anchor="ctr"/>
          <a:lstStyle/>
          <a:p>
            <a:pPr algn="ctr"/>
            <a:endParaRPr/>
          </a:p>
        </p:txBody>
      </p:sp>
      <p:sp>
        <p:nvSpPr>
          <p:cNvPr id="8" name="Zahl Basis"/>
          <p:cNvSpPr txBox="1"/>
          <p:nvPr/>
        </p:nvSpPr>
        <p:spPr>
          <a:xfrm>
            <a:off x="6217920" y="1673352"/>
            <a:ext cx="1280160" cy="804672"/>
          </a:xfrm>
          <a:prstGeom prst="rect">
            <a:avLst/>
          </a:prstGeom>
          <a:noFill/>
        </p:spPr>
        <p:txBody>
          <a:bodyPr wrap="square" lIns="0" tIns="0" rIns="0" bIns="0" anchor="ctr">
            <a:spAutoFit/>
          </a:bodyPr>
          <a:lstStyle/>
          <a:p>
            <a:pPr algn="l"/>
            <a:r>
              <a:rPr sz="3000" b="1" i="0">
                <a:solidFill>
                  <a:srgbClr val="0064A6"/>
                </a:solidFill>
                <a:latin typeface="Arial"/>
              </a:rPr>
              <a:t>12.8</a:t>
            </a:r>
          </a:p>
        </p:txBody>
      </p:sp>
      <p:sp>
        <p:nvSpPr>
          <p:cNvPr id="9" name="TextBox 8"/>
          <p:cNvSpPr txBox="1"/>
          <p:nvPr/>
        </p:nvSpPr>
        <p:spPr>
          <a:xfrm>
            <a:off x="7360920" y="1673352"/>
            <a:ext cx="1371600" cy="804672"/>
          </a:xfrm>
          <a:prstGeom prst="rect">
            <a:avLst/>
          </a:prstGeom>
          <a:noFill/>
        </p:spPr>
        <p:txBody>
          <a:bodyPr wrap="square" lIns="0" tIns="0" rIns="0" bIns="0" anchor="ctr">
            <a:spAutoFit/>
          </a:bodyPr>
          <a:lstStyle/>
          <a:p>
            <a:pPr algn="l"/>
            <a:r>
              <a:rPr sz="1300" b="1" i="0">
                <a:solidFill>
                  <a:srgbClr val="002C59"/>
                </a:solidFill>
                <a:latin typeface="Arial"/>
              </a:rPr>
              <a:t>Basis-Bad</a:t>
            </a:r>
          </a:p>
          <a:p>
            <a:pPr algn="l"/>
            <a:r>
              <a:rPr sz="1200" b="0" i="0">
                <a:solidFill>
                  <a:srgbClr val="646464"/>
                </a:solidFill>
                <a:latin typeface="Arial"/>
              </a:rPr>
              <a:t>Median 2.5</a:t>
            </a:r>
          </a:p>
        </p:txBody>
      </p:sp>
      <p:sp>
        <p:nvSpPr>
          <p:cNvPr id="10" name="Rounded Rectangle 9"/>
          <p:cNvSpPr/>
          <p:nvPr/>
        </p:nvSpPr>
        <p:spPr>
          <a:xfrm>
            <a:off x="6080760" y="2615184"/>
            <a:ext cx="2697480" cy="896112"/>
          </a:xfrm>
          <a:prstGeom prst="roundRect">
            <a:avLst>
              <a:gd name="adj" fmla="val 6000"/>
            </a:avLst>
          </a:prstGeom>
          <a:solidFill>
            <a:srgbClr val="EAF1F8"/>
          </a:solidFill>
          <a:ln>
            <a:noFill/>
          </a:ln>
        </p:spPr>
        <p:txBody>
          <a:bodyPr rtlCol="0" anchor="ctr"/>
          <a:lstStyle/>
          <a:p>
            <a:pPr algn="ctr"/>
            <a:endParaRPr/>
          </a:p>
        </p:txBody>
      </p:sp>
      <p:sp>
        <p:nvSpPr>
          <p:cNvPr id="11" name="Zahl Komfort"/>
          <p:cNvSpPr txBox="1"/>
          <p:nvPr/>
        </p:nvSpPr>
        <p:spPr>
          <a:xfrm>
            <a:off x="6217920" y="2660904"/>
            <a:ext cx="1280160" cy="804672"/>
          </a:xfrm>
          <a:prstGeom prst="rect">
            <a:avLst/>
          </a:prstGeom>
          <a:noFill/>
        </p:spPr>
        <p:txBody>
          <a:bodyPr wrap="square" lIns="0" tIns="0" rIns="0" bIns="0" anchor="ctr">
            <a:spAutoFit/>
          </a:bodyPr>
          <a:lstStyle/>
          <a:p>
            <a:pPr algn="l"/>
            <a:r>
              <a:rPr sz="3000" b="1" i="0">
                <a:solidFill>
                  <a:srgbClr val="0064A6"/>
                </a:solidFill>
                <a:latin typeface="Arial"/>
              </a:rPr>
              <a:t>17.8</a:t>
            </a:r>
          </a:p>
        </p:txBody>
      </p:sp>
      <p:sp>
        <p:nvSpPr>
          <p:cNvPr id="12" name="TextBox 11"/>
          <p:cNvSpPr txBox="1"/>
          <p:nvPr/>
        </p:nvSpPr>
        <p:spPr>
          <a:xfrm>
            <a:off x="7360920" y="2660904"/>
            <a:ext cx="1371600" cy="804672"/>
          </a:xfrm>
          <a:prstGeom prst="rect">
            <a:avLst/>
          </a:prstGeom>
          <a:noFill/>
        </p:spPr>
        <p:txBody>
          <a:bodyPr wrap="square" lIns="0" tIns="0" rIns="0" bIns="0" anchor="ctr">
            <a:spAutoFit/>
          </a:bodyPr>
          <a:lstStyle/>
          <a:p>
            <a:pPr algn="l"/>
            <a:r>
              <a:rPr sz="1300" b="1" i="0">
                <a:solidFill>
                  <a:srgbClr val="002C59"/>
                </a:solidFill>
                <a:latin typeface="Arial"/>
              </a:rPr>
              <a:t>Komfort-Bad</a:t>
            </a:r>
          </a:p>
          <a:p>
            <a:pPr algn="l"/>
            <a:r>
              <a:rPr sz="1200" b="0" i="0">
                <a:solidFill>
                  <a:srgbClr val="646464"/>
                </a:solidFill>
                <a:latin typeface="Arial"/>
              </a:rPr>
              <a:t>Median 10.0</a:t>
            </a:r>
          </a:p>
        </p:txBody>
      </p:sp>
      <p:sp>
        <p:nvSpPr>
          <p:cNvPr id="13" name="Rounded Rectangle 12"/>
          <p:cNvSpPr/>
          <p:nvPr/>
        </p:nvSpPr>
        <p:spPr>
          <a:xfrm>
            <a:off x="6080760" y="3602736"/>
            <a:ext cx="2697480" cy="896112"/>
          </a:xfrm>
          <a:prstGeom prst="roundRect">
            <a:avLst>
              <a:gd name="adj" fmla="val 6000"/>
            </a:avLst>
          </a:prstGeom>
          <a:solidFill>
            <a:srgbClr val="EAF1F8"/>
          </a:solidFill>
          <a:ln>
            <a:noFill/>
          </a:ln>
        </p:spPr>
        <p:txBody>
          <a:bodyPr rtlCol="0" anchor="ctr"/>
          <a:lstStyle/>
          <a:p>
            <a:pPr algn="ctr"/>
            <a:endParaRPr/>
          </a:p>
        </p:txBody>
      </p:sp>
      <p:sp>
        <p:nvSpPr>
          <p:cNvPr id="14" name="Zahl Premium"/>
          <p:cNvSpPr txBox="1"/>
          <p:nvPr/>
        </p:nvSpPr>
        <p:spPr>
          <a:xfrm>
            <a:off x="6217920" y="3648456"/>
            <a:ext cx="1280160" cy="804672"/>
          </a:xfrm>
          <a:prstGeom prst="rect">
            <a:avLst/>
          </a:prstGeom>
          <a:noFill/>
        </p:spPr>
        <p:txBody>
          <a:bodyPr wrap="square" lIns="0" tIns="0" rIns="0" bIns="0" anchor="ctr">
            <a:spAutoFit/>
          </a:bodyPr>
          <a:lstStyle/>
          <a:p>
            <a:pPr algn="l"/>
            <a:r>
              <a:rPr sz="3000" b="1" i="0">
                <a:solidFill>
                  <a:srgbClr val="EA5B0C"/>
                </a:solidFill>
                <a:latin typeface="Arial"/>
              </a:rPr>
              <a:t>21.8</a:t>
            </a:r>
          </a:p>
        </p:txBody>
      </p:sp>
      <p:sp>
        <p:nvSpPr>
          <p:cNvPr id="15" name="TextBox 14"/>
          <p:cNvSpPr txBox="1"/>
          <p:nvPr/>
        </p:nvSpPr>
        <p:spPr>
          <a:xfrm>
            <a:off x="7360920" y="3648456"/>
            <a:ext cx="1371600" cy="804672"/>
          </a:xfrm>
          <a:prstGeom prst="rect">
            <a:avLst/>
          </a:prstGeom>
          <a:noFill/>
        </p:spPr>
        <p:txBody>
          <a:bodyPr wrap="square" lIns="0" tIns="0" rIns="0" bIns="0" anchor="ctr">
            <a:spAutoFit/>
          </a:bodyPr>
          <a:lstStyle/>
          <a:p>
            <a:pPr algn="l"/>
            <a:r>
              <a:rPr sz="1300" b="1" i="0">
                <a:solidFill>
                  <a:srgbClr val="002C59"/>
                </a:solidFill>
                <a:latin typeface="Arial"/>
              </a:rPr>
              <a:t>Premium-Bad</a:t>
            </a:r>
          </a:p>
          <a:p>
            <a:pPr algn="l"/>
            <a:r>
              <a:rPr sz="1200" b="0" i="0">
                <a:solidFill>
                  <a:srgbClr val="646464"/>
                </a:solidFill>
                <a:latin typeface="Arial"/>
              </a:rPr>
              <a:t>Median 20.0</a:t>
            </a:r>
          </a:p>
        </p:txBody>
      </p:sp>
      <p:sp>
        <p:nvSpPr>
          <p:cNvPr id="16" name="TextBox 15"/>
          <p:cNvSpPr txBox="1"/>
          <p:nvPr/>
        </p:nvSpPr>
        <p:spPr>
          <a:xfrm>
            <a:off x="6080760" y="4572000"/>
            <a:ext cx="2697480" cy="228600"/>
          </a:xfrm>
          <a:prstGeom prst="rect">
            <a:avLst/>
          </a:prstGeom>
          <a:noFill/>
        </p:spPr>
        <p:txBody>
          <a:bodyPr wrap="square" lIns="0" tIns="0" rIns="0" bIns="0" anchor="t">
            <a:spAutoFit/>
          </a:bodyPr>
          <a:lstStyle/>
          <a:p>
            <a:pPr algn="l"/>
            <a:r>
              <a:rPr sz="1100" b="0" i="0">
                <a:solidFill>
                  <a:srgbClr val="646464"/>
                </a:solidFill>
                <a:latin typeface="Arial"/>
              </a:rPr>
              <a:t>Friedman-Test p &lt; .001</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Nur das Premium-Optimum von CHF 20 ist robust</a:t>
            </a:r>
          </a:p>
        </p:txBody>
      </p:sp>
      <p:sp>
        <p:nvSpPr>
          <p:cNvPr id="3" name="Fußzeilenplatzhalter"/>
          <p:cNvSpPr>
            <a:spLocks noGrp="1"/>
          </p:cNvSpPr>
          <p:nvPr>
            <p:ph type="ftr" sz="quarter" idx="3"/>
          </p:nvPr>
        </p:nvSpPr>
        <p:spPr/>
        <p:txBody>
          <a:bodyPr/>
          <a:lstStyle/>
          <a:p>
            <a:r>
              <a:rPr lang="de-CH">
                <a:solidFill>
                  <a:srgbClr val="012C59"/>
                </a:solidFill>
              </a:rPr>
              <a:t>CAS Pricing | Gruppe 2</a:t>
            </a:r>
          </a:p>
        </p:txBody>
      </p:sp>
      <p:sp>
        <p:nvSpPr>
          <p:cNvPr id="4" name="Foliennummernplatzhalter"/>
          <p:cNvSpPr>
            <a:spLocks noGrp="1"/>
          </p:cNvSpPr>
          <p:nvPr>
            <p:ph type="sldNum" sz="quarter" idx="4"/>
          </p:nvPr>
        </p:nvSpPr>
        <p:spPr/>
        <p:txBody>
          <a:bodyPr/>
          <a:lstStyle/>
          <a:p>
            <a:fld id="{05F9AC53-F790-4868-97E7-45E3866EE614}" type="slidenum">
              <a:rPr lang="de-CH"/>
              <a:t>5</a:t>
            </a:fld>
            <a:endParaRPr lang="de-CH"/>
          </a:p>
        </p:txBody>
      </p:sp>
      <p:sp>
        <p:nvSpPr>
          <p:cNvPr id="5" name="TextBox 4"/>
          <p:cNvSpPr txBox="1"/>
          <p:nvPr/>
        </p:nvSpPr>
        <p:spPr>
          <a:xfrm>
            <a:off x="365760" y="1234440"/>
            <a:ext cx="4754880" cy="274320"/>
          </a:xfrm>
          <a:prstGeom prst="rect">
            <a:avLst/>
          </a:prstGeom>
          <a:noFill/>
        </p:spPr>
        <p:txBody>
          <a:bodyPr wrap="square" lIns="0" tIns="0" rIns="0" bIns="0" anchor="t">
            <a:spAutoFit/>
          </a:bodyPr>
          <a:lstStyle/>
          <a:p>
            <a:pPr algn="l"/>
            <a:r>
              <a:rPr sz="1300" b="1" i="0">
                <a:solidFill>
                  <a:srgbClr val="002C59"/>
                </a:solidFill>
                <a:latin typeface="Arial"/>
              </a:rPr>
              <a:t>Umsatzindex Premium-Bad (Preis × Zustimmung)</a:t>
            </a:r>
          </a:p>
        </p:txBody>
      </p:sp>
      <p:graphicFrame>
        <p:nvGraphicFramePr>
          <p:cNvPr id="6" name="Chart Umsatzindex"/>
          <p:cNvGraphicFramePr>
            <a:graphicFrameLocks noGrp="1"/>
          </p:cNvGraphicFramePr>
          <p:nvPr/>
        </p:nvGraphicFramePr>
        <p:xfrm>
          <a:off x="320040" y="1554480"/>
          <a:ext cx="489204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7" name="Rounded Rectangle 6"/>
          <p:cNvSpPr/>
          <p:nvPr/>
        </p:nvSpPr>
        <p:spPr>
          <a:xfrm>
            <a:off x="5440680" y="1234440"/>
            <a:ext cx="3337560" cy="1417320"/>
          </a:xfrm>
          <a:prstGeom prst="roundRect">
            <a:avLst>
              <a:gd name="adj" fmla="val 6000"/>
            </a:avLst>
          </a:prstGeom>
          <a:solidFill>
            <a:srgbClr val="EAF1F8"/>
          </a:solidFill>
          <a:ln>
            <a:noFill/>
          </a:ln>
        </p:spPr>
        <p:txBody>
          <a:bodyPr rtlCol="0" anchor="ctr"/>
          <a:lstStyle/>
          <a:p>
            <a:pPr algn="ctr"/>
            <a:endParaRPr/>
          </a:p>
        </p:txBody>
      </p:sp>
      <p:sp>
        <p:nvSpPr>
          <p:cNvPr id="8" name="Zahl Stabilität"/>
          <p:cNvSpPr txBox="1"/>
          <p:nvPr/>
        </p:nvSpPr>
        <p:spPr>
          <a:xfrm>
            <a:off x="5577840" y="1280160"/>
            <a:ext cx="1371600" cy="1325880"/>
          </a:xfrm>
          <a:prstGeom prst="rect">
            <a:avLst/>
          </a:prstGeom>
          <a:noFill/>
        </p:spPr>
        <p:txBody>
          <a:bodyPr wrap="square" lIns="0" tIns="0" rIns="0" bIns="0" anchor="ctr">
            <a:spAutoFit/>
          </a:bodyPr>
          <a:lstStyle/>
          <a:p>
            <a:pPr algn="l"/>
            <a:r>
              <a:rPr sz="3200" b="1" i="0">
                <a:solidFill>
                  <a:srgbClr val="EA5B0C"/>
                </a:solidFill>
                <a:latin typeface="Arial"/>
              </a:rPr>
              <a:t>72 %</a:t>
            </a:r>
          </a:p>
        </p:txBody>
      </p:sp>
      <p:sp>
        <p:nvSpPr>
          <p:cNvPr id="9" name="TextBox 8"/>
          <p:cNvSpPr txBox="1"/>
          <p:nvPr/>
        </p:nvSpPr>
        <p:spPr>
          <a:xfrm>
            <a:off x="6858000" y="1280160"/>
            <a:ext cx="1828800" cy="1325880"/>
          </a:xfrm>
          <a:prstGeom prst="rect">
            <a:avLst/>
          </a:prstGeom>
          <a:noFill/>
        </p:spPr>
        <p:txBody>
          <a:bodyPr wrap="square" lIns="0" tIns="0" rIns="0" bIns="0" anchor="ctr">
            <a:spAutoFit/>
          </a:bodyPr>
          <a:lstStyle/>
          <a:p>
            <a:pPr algn="l"/>
            <a:r>
              <a:rPr sz="1200" b="0" i="0">
                <a:solidFill>
                  <a:srgbClr val="002C59"/>
                </a:solidFill>
                <a:latin typeface="Arial"/>
              </a:rPr>
              <a:t>der 5'000 Bootstrap-Stichproben ergeben CHF 20</a:t>
            </a:r>
          </a:p>
          <a:p>
            <a:pPr algn="l">
              <a:spcBef>
                <a:spcPts val="300"/>
              </a:spcBef>
            </a:pPr>
            <a:r>
              <a:rPr sz="1200" b="0" i="0">
                <a:solidFill>
                  <a:srgbClr val="646464"/>
                </a:solidFill>
                <a:latin typeface="Arial"/>
              </a:rPr>
              <a:t>96 % ohne Hochpreis-Segment</a:t>
            </a:r>
          </a:p>
        </p:txBody>
      </p:sp>
      <p:sp>
        <p:nvSpPr>
          <p:cNvPr id="10" name="Rounded Rectangle 9"/>
          <p:cNvSpPr/>
          <p:nvPr/>
        </p:nvSpPr>
        <p:spPr>
          <a:xfrm>
            <a:off x="5440680" y="2788920"/>
            <a:ext cx="3337560" cy="1965960"/>
          </a:xfrm>
          <a:prstGeom prst="roundRect">
            <a:avLst>
              <a:gd name="adj" fmla="val 6000"/>
            </a:avLst>
          </a:prstGeom>
          <a:solidFill>
            <a:srgbClr val="EAF1F8"/>
          </a:solidFill>
          <a:ln>
            <a:noFill/>
          </a:ln>
        </p:spPr>
        <p:txBody>
          <a:bodyPr rtlCol="0" anchor="ctr"/>
          <a:lstStyle/>
          <a:p>
            <a:pPr algn="ctr"/>
            <a:endParaRPr/>
          </a:p>
        </p:txBody>
      </p:sp>
      <p:sp>
        <p:nvSpPr>
          <p:cNvPr id="11" name="TextBox 10"/>
          <p:cNvSpPr txBox="1"/>
          <p:nvPr/>
        </p:nvSpPr>
        <p:spPr>
          <a:xfrm>
            <a:off x="5577840" y="2834640"/>
            <a:ext cx="3108960" cy="274320"/>
          </a:xfrm>
          <a:prstGeom prst="rect">
            <a:avLst/>
          </a:prstGeom>
          <a:noFill/>
        </p:spPr>
        <p:txBody>
          <a:bodyPr wrap="square" lIns="0" tIns="0" rIns="0" bIns="0" anchor="t">
            <a:spAutoFit/>
          </a:bodyPr>
          <a:lstStyle/>
          <a:p>
            <a:pPr algn="l"/>
            <a:r>
              <a:rPr sz="1300" b="1" i="0">
                <a:solidFill>
                  <a:srgbClr val="002C59"/>
                </a:solidFill>
                <a:latin typeface="Arial"/>
              </a:rPr>
              <a:t>Drei Gruppen (GG, n = 20)</a:t>
            </a:r>
          </a:p>
        </p:txBody>
      </p:sp>
      <p:graphicFrame>
        <p:nvGraphicFramePr>
          <p:cNvPr id="12" name="Chart Segmente"/>
          <p:cNvGraphicFramePr>
            <a:graphicFrameLocks noGrp="1"/>
          </p:cNvGraphicFramePr>
          <p:nvPr/>
        </p:nvGraphicFramePr>
        <p:xfrm>
          <a:off x="5486400" y="3108960"/>
          <a:ext cx="1600200" cy="1600200"/>
        </p:xfrm>
        <a:graphic>
          <a:graphicData uri="http://schemas.openxmlformats.org/drawingml/2006/chart">
            <c:chart xmlns:c="http://schemas.openxmlformats.org/drawingml/2006/chart" xmlns:r="http://schemas.openxmlformats.org/officeDocument/2006/relationships" r:id="rId4"/>
          </a:graphicData>
        </a:graphic>
      </p:graphicFrame>
      <p:sp>
        <p:nvSpPr>
          <p:cNvPr id="13" name="Oval 12"/>
          <p:cNvSpPr/>
          <p:nvPr/>
        </p:nvSpPr>
        <p:spPr>
          <a:xfrm>
            <a:off x="7178040" y="3374136"/>
            <a:ext cx="146304" cy="146304"/>
          </a:xfrm>
          <a:prstGeom prst="ellipse">
            <a:avLst/>
          </a:prstGeom>
          <a:solidFill>
            <a:srgbClr val="9DB9DD"/>
          </a:solidFill>
          <a:ln>
            <a:noFill/>
          </a:ln>
        </p:spPr>
        <p:txBody>
          <a:bodyPr lIns="0" tIns="0" rIns="0" bIns="0" rtlCol="0" anchor="ctr"/>
          <a:lstStyle/>
          <a:p>
            <a:pPr algn="ctr"/>
            <a:endParaRPr/>
          </a:p>
        </p:txBody>
      </p:sp>
      <p:sp>
        <p:nvSpPr>
          <p:cNvPr id="14" name="TextBox 13"/>
          <p:cNvSpPr txBox="1"/>
          <p:nvPr/>
        </p:nvSpPr>
        <p:spPr>
          <a:xfrm>
            <a:off x="7406640" y="3310128"/>
            <a:ext cx="1325880" cy="274320"/>
          </a:xfrm>
          <a:prstGeom prst="rect">
            <a:avLst/>
          </a:prstGeom>
          <a:noFill/>
        </p:spPr>
        <p:txBody>
          <a:bodyPr wrap="square" lIns="0" tIns="0" rIns="0" bIns="0" anchor="ctr">
            <a:spAutoFit/>
          </a:bodyPr>
          <a:lstStyle/>
          <a:p>
            <a:pPr algn="l"/>
            <a:r>
              <a:rPr sz="1200" b="1" i="0">
                <a:solidFill>
                  <a:srgbClr val="002C59"/>
                </a:solidFill>
                <a:latin typeface="Arial"/>
              </a:rPr>
              <a:t>30 % </a:t>
            </a:r>
            <a:r>
              <a:rPr sz="1200" b="0" i="0">
                <a:solidFill>
                  <a:srgbClr val="002C59"/>
                </a:solidFill>
                <a:latin typeface="Arial"/>
              </a:rPr>
              <a:t>Nullzahler</a:t>
            </a:r>
          </a:p>
        </p:txBody>
      </p:sp>
      <p:sp>
        <p:nvSpPr>
          <p:cNvPr id="15" name="Oval 14"/>
          <p:cNvSpPr/>
          <p:nvPr/>
        </p:nvSpPr>
        <p:spPr>
          <a:xfrm>
            <a:off x="7178040" y="3785616"/>
            <a:ext cx="146304" cy="146304"/>
          </a:xfrm>
          <a:prstGeom prst="ellipse">
            <a:avLst/>
          </a:prstGeom>
          <a:solidFill>
            <a:srgbClr val="0064A6"/>
          </a:solidFill>
          <a:ln>
            <a:noFill/>
          </a:ln>
        </p:spPr>
        <p:txBody>
          <a:bodyPr lIns="0" tIns="0" rIns="0" bIns="0" rtlCol="0" anchor="ctr"/>
          <a:lstStyle/>
          <a:p>
            <a:pPr algn="ctr"/>
            <a:endParaRPr/>
          </a:p>
        </p:txBody>
      </p:sp>
      <p:sp>
        <p:nvSpPr>
          <p:cNvPr id="16" name="TextBox 15"/>
          <p:cNvSpPr txBox="1"/>
          <p:nvPr/>
        </p:nvSpPr>
        <p:spPr>
          <a:xfrm>
            <a:off x="7406640" y="3721608"/>
            <a:ext cx="1325880" cy="274320"/>
          </a:xfrm>
          <a:prstGeom prst="rect">
            <a:avLst/>
          </a:prstGeom>
          <a:noFill/>
        </p:spPr>
        <p:txBody>
          <a:bodyPr wrap="square" lIns="0" tIns="0" rIns="0" bIns="0" anchor="ctr">
            <a:spAutoFit/>
          </a:bodyPr>
          <a:lstStyle/>
          <a:p>
            <a:pPr algn="l"/>
            <a:r>
              <a:rPr sz="1200" b="1" i="0">
                <a:solidFill>
                  <a:srgbClr val="002C59"/>
                </a:solidFill>
                <a:latin typeface="Arial"/>
              </a:rPr>
              <a:t>55 % </a:t>
            </a:r>
            <a:r>
              <a:rPr sz="1200" b="0" i="0">
                <a:solidFill>
                  <a:srgbClr val="002C59"/>
                </a:solidFill>
                <a:latin typeface="Arial"/>
              </a:rPr>
              <a:t>Mittelfeld</a:t>
            </a:r>
          </a:p>
        </p:txBody>
      </p:sp>
      <p:sp>
        <p:nvSpPr>
          <p:cNvPr id="17" name="Oval 16"/>
          <p:cNvSpPr/>
          <p:nvPr/>
        </p:nvSpPr>
        <p:spPr>
          <a:xfrm>
            <a:off x="7178040" y="4197096"/>
            <a:ext cx="146304" cy="146304"/>
          </a:xfrm>
          <a:prstGeom prst="ellipse">
            <a:avLst/>
          </a:prstGeom>
          <a:solidFill>
            <a:srgbClr val="002C59"/>
          </a:solidFill>
          <a:ln>
            <a:noFill/>
          </a:ln>
        </p:spPr>
        <p:txBody>
          <a:bodyPr lIns="0" tIns="0" rIns="0" bIns="0" rtlCol="0" anchor="ctr"/>
          <a:lstStyle/>
          <a:p>
            <a:pPr algn="ctr"/>
            <a:endParaRPr/>
          </a:p>
        </p:txBody>
      </p:sp>
      <p:sp>
        <p:nvSpPr>
          <p:cNvPr id="18" name="TextBox 17"/>
          <p:cNvSpPr txBox="1"/>
          <p:nvPr/>
        </p:nvSpPr>
        <p:spPr>
          <a:xfrm>
            <a:off x="7406640" y="4133088"/>
            <a:ext cx="1325880" cy="274320"/>
          </a:xfrm>
          <a:prstGeom prst="rect">
            <a:avLst/>
          </a:prstGeom>
          <a:noFill/>
        </p:spPr>
        <p:txBody>
          <a:bodyPr wrap="square" lIns="0" tIns="0" rIns="0" bIns="0" anchor="ctr">
            <a:spAutoFit/>
          </a:bodyPr>
          <a:lstStyle/>
          <a:p>
            <a:pPr algn="l"/>
            <a:r>
              <a:rPr sz="1200" b="1" i="0">
                <a:solidFill>
                  <a:srgbClr val="002C59"/>
                </a:solidFill>
                <a:latin typeface="Arial"/>
              </a:rPr>
              <a:t>15 % </a:t>
            </a:r>
            <a:r>
              <a:rPr sz="1200" b="0" i="0">
                <a:solidFill>
                  <a:srgbClr val="002C59"/>
                </a:solidFill>
                <a:latin typeface="Arial"/>
              </a:rPr>
              <a:t>Hochpreis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CBC: Der Preis dominiert, die Dusche ist der Werthebel</a:t>
            </a:r>
          </a:p>
        </p:txBody>
      </p:sp>
      <p:sp>
        <p:nvSpPr>
          <p:cNvPr id="3" name="Fußzeilenplatzhalter"/>
          <p:cNvSpPr>
            <a:spLocks noGrp="1"/>
          </p:cNvSpPr>
          <p:nvPr>
            <p:ph type="ftr" sz="quarter" idx="3"/>
          </p:nvPr>
        </p:nvSpPr>
        <p:spPr/>
        <p:txBody>
          <a:bodyPr/>
          <a:lstStyle/>
          <a:p>
            <a:r>
              <a:rPr lang="de-CH">
                <a:solidFill>
                  <a:srgbClr val="012C59"/>
                </a:solidFill>
              </a:rPr>
              <a:t>CAS Pricing | Gruppe 2</a:t>
            </a:r>
          </a:p>
        </p:txBody>
      </p:sp>
      <p:sp>
        <p:nvSpPr>
          <p:cNvPr id="4" name="Foliennummernplatzhalter"/>
          <p:cNvSpPr>
            <a:spLocks noGrp="1"/>
          </p:cNvSpPr>
          <p:nvPr>
            <p:ph type="sldNum" sz="quarter" idx="4"/>
          </p:nvPr>
        </p:nvSpPr>
        <p:spPr/>
        <p:txBody>
          <a:bodyPr/>
          <a:lstStyle/>
          <a:p>
            <a:fld id="{05F9AC53-F790-4868-97E7-45E3866EE614}" type="slidenum">
              <a:rPr lang="de-CH"/>
              <a:t>6</a:t>
            </a:fld>
            <a:endParaRPr lang="de-CH"/>
          </a:p>
        </p:txBody>
      </p:sp>
      <p:sp>
        <p:nvSpPr>
          <p:cNvPr id="5" name="TextBox 4"/>
          <p:cNvSpPr txBox="1"/>
          <p:nvPr/>
        </p:nvSpPr>
        <p:spPr>
          <a:xfrm>
            <a:off x="365760" y="1234440"/>
            <a:ext cx="3931920" cy="274320"/>
          </a:xfrm>
          <a:prstGeom prst="rect">
            <a:avLst/>
          </a:prstGeom>
          <a:noFill/>
        </p:spPr>
        <p:txBody>
          <a:bodyPr wrap="square" lIns="0" tIns="0" rIns="0" bIns="0" anchor="t">
            <a:spAutoFit/>
          </a:bodyPr>
          <a:lstStyle/>
          <a:p>
            <a:pPr algn="l"/>
            <a:r>
              <a:rPr sz="1300" b="1" i="0">
                <a:solidFill>
                  <a:srgbClr val="002C59"/>
                </a:solidFill>
                <a:latin typeface="Arial"/>
              </a:rPr>
              <a:t>Relative Wichtigkeit (%)</a:t>
            </a:r>
          </a:p>
        </p:txBody>
      </p:sp>
      <p:graphicFrame>
        <p:nvGraphicFramePr>
          <p:cNvPr id="6" name="Chart Wichtigkeit"/>
          <p:cNvGraphicFramePr>
            <a:graphicFrameLocks noGrp="1"/>
          </p:cNvGraphicFramePr>
          <p:nvPr/>
        </p:nvGraphicFramePr>
        <p:xfrm>
          <a:off x="320040" y="1554480"/>
          <a:ext cx="3977639" cy="315468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p:cNvSpPr txBox="1"/>
          <p:nvPr/>
        </p:nvSpPr>
        <p:spPr>
          <a:xfrm>
            <a:off x="4526280" y="1234440"/>
            <a:ext cx="4251960" cy="274320"/>
          </a:xfrm>
          <a:prstGeom prst="rect">
            <a:avLst/>
          </a:prstGeom>
          <a:noFill/>
        </p:spPr>
        <p:txBody>
          <a:bodyPr wrap="square" lIns="0" tIns="0" rIns="0" bIns="0" anchor="t">
            <a:spAutoFit/>
          </a:bodyPr>
          <a:lstStyle/>
          <a:p>
            <a:pPr algn="l"/>
            <a:r>
              <a:rPr sz="1300" b="1" i="0">
                <a:solidFill>
                  <a:srgbClr val="002C59"/>
                </a:solidFill>
                <a:latin typeface="Arial"/>
              </a:rPr>
              <a:t>Zahlungsbereitschaft je Stufe (CHF pro Nacht)</a:t>
            </a:r>
          </a:p>
        </p:txBody>
      </p:sp>
      <p:graphicFrame>
        <p:nvGraphicFramePr>
          <p:cNvPr id="8" name="Chart Zahlungsbereitschaft"/>
          <p:cNvGraphicFramePr>
            <a:graphicFrameLocks noGrp="1"/>
          </p:cNvGraphicFramePr>
          <p:nvPr/>
        </p:nvGraphicFramePr>
        <p:xfrm>
          <a:off x="4480560" y="1554480"/>
          <a:ext cx="4343400" cy="3154680"/>
        </p:xfrm>
        <a:graphic>
          <a:graphicData uri="http://schemas.openxmlformats.org/drawingml/2006/chart">
            <c:chart xmlns:c="http://schemas.openxmlformats.org/drawingml/2006/chart" xmlns:r="http://schemas.openxmlformats.org/officeDocument/2006/relationships" r:id="rId4"/>
          </a:graphicData>
        </a:graphic>
      </p:graphicFrame>
      <p:sp>
        <p:nvSpPr>
          <p:cNvPr id="9" name="Fussnote"/>
          <p:cNvSpPr txBox="1"/>
          <p:nvPr/>
        </p:nvSpPr>
        <p:spPr>
          <a:xfrm>
            <a:off x="365760" y="4681728"/>
            <a:ext cx="8412480" cy="201168"/>
          </a:xfrm>
          <a:prstGeom prst="rect">
            <a:avLst/>
          </a:prstGeom>
          <a:noFill/>
        </p:spPr>
        <p:txBody>
          <a:bodyPr wrap="square" lIns="0" tIns="0" rIns="0" bIns="0" anchor="t">
            <a:spAutoFit/>
          </a:bodyPr>
          <a:lstStyle/>
          <a:p>
            <a:pPr algn="l"/>
            <a:r>
              <a:rPr sz="1000" b="0" i="0">
                <a:solidFill>
                  <a:srgbClr val="646464"/>
                </a:solidFill>
                <a:latin typeface="Arial"/>
              </a:rPr>
              <a:t>Nutzenwerte liegen nur für 12 der 28 Personen vor. Stufen gegenüber der jeweiligen Basisstufe.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Marktsimulation: Der Preisabstand entscheidet über die Wahl</a:t>
            </a:r>
          </a:p>
        </p:txBody>
      </p:sp>
      <p:sp>
        <p:nvSpPr>
          <p:cNvPr id="3" name="Fußzeilenplatzhalter"/>
          <p:cNvSpPr>
            <a:spLocks noGrp="1"/>
          </p:cNvSpPr>
          <p:nvPr>
            <p:ph type="ftr" sz="quarter" idx="3"/>
          </p:nvPr>
        </p:nvSpPr>
        <p:spPr/>
        <p:txBody>
          <a:bodyPr/>
          <a:lstStyle/>
          <a:p>
            <a:r>
              <a:rPr lang="de-CH">
                <a:solidFill>
                  <a:srgbClr val="012C59"/>
                </a:solidFill>
              </a:rPr>
              <a:t>CAS Pricing | Gruppe 2</a:t>
            </a:r>
          </a:p>
        </p:txBody>
      </p:sp>
      <p:sp>
        <p:nvSpPr>
          <p:cNvPr id="4" name="Foliennummernplatzhalter"/>
          <p:cNvSpPr>
            <a:spLocks noGrp="1"/>
          </p:cNvSpPr>
          <p:nvPr>
            <p:ph type="sldNum" sz="quarter" idx="4"/>
          </p:nvPr>
        </p:nvSpPr>
        <p:spPr/>
        <p:txBody>
          <a:bodyPr/>
          <a:lstStyle/>
          <a:p>
            <a:fld id="{05F9AC53-F790-4868-97E7-45E3866EE614}" type="slidenum">
              <a:rPr lang="de-CH"/>
              <a:t>7</a:t>
            </a:fld>
            <a:endParaRPr lang="de-CH"/>
          </a:p>
        </p:txBody>
      </p:sp>
      <p:sp>
        <p:nvSpPr>
          <p:cNvPr id="5" name="TextBox 4"/>
          <p:cNvSpPr txBox="1"/>
          <p:nvPr/>
        </p:nvSpPr>
        <p:spPr>
          <a:xfrm>
            <a:off x="365760" y="1234440"/>
            <a:ext cx="5303520" cy="274320"/>
          </a:xfrm>
          <a:prstGeom prst="rect">
            <a:avLst/>
          </a:prstGeom>
          <a:noFill/>
        </p:spPr>
        <p:txBody>
          <a:bodyPr wrap="square" lIns="0" tIns="0" rIns="0" bIns="0" anchor="t">
            <a:spAutoFit/>
          </a:bodyPr>
          <a:lstStyle/>
          <a:p>
            <a:pPr algn="l"/>
            <a:r>
              <a:rPr sz="1300" b="1" i="0">
                <a:solidFill>
                  <a:srgbClr val="002C59"/>
                </a:solidFill>
                <a:latin typeface="Arial"/>
              </a:rPr>
              <a:t>Share of Preference (%) bei Preisen Basis / Komfort / Premium</a:t>
            </a:r>
          </a:p>
        </p:txBody>
      </p:sp>
      <p:graphicFrame>
        <p:nvGraphicFramePr>
          <p:cNvPr id="6" name="Chart Marktsimulation"/>
          <p:cNvGraphicFramePr>
            <a:graphicFrameLocks noGrp="1"/>
          </p:cNvGraphicFramePr>
          <p:nvPr/>
        </p:nvGraphicFramePr>
        <p:xfrm>
          <a:off x="320040" y="1554480"/>
          <a:ext cx="5394960" cy="3154680"/>
        </p:xfrm>
        <a:graphic>
          <a:graphicData uri="http://schemas.openxmlformats.org/drawingml/2006/chart">
            <c:chart xmlns:c="http://schemas.openxmlformats.org/drawingml/2006/chart" xmlns:r="http://schemas.openxmlformats.org/officeDocument/2006/relationships" r:id="rId3"/>
          </a:graphicData>
        </a:graphic>
      </p:graphicFrame>
      <p:sp>
        <p:nvSpPr>
          <p:cNvPr id="7" name="Rounded Rectangle 6"/>
          <p:cNvSpPr/>
          <p:nvPr/>
        </p:nvSpPr>
        <p:spPr>
          <a:xfrm>
            <a:off x="5943600" y="1280160"/>
            <a:ext cx="2834640" cy="1005840"/>
          </a:xfrm>
          <a:prstGeom prst="roundRect">
            <a:avLst>
              <a:gd name="adj" fmla="val 6000"/>
            </a:avLst>
          </a:prstGeom>
          <a:solidFill>
            <a:srgbClr val="EAF1F8"/>
          </a:solidFill>
          <a:ln>
            <a:noFill/>
          </a:ln>
        </p:spPr>
        <p:txBody>
          <a:bodyPr rtlCol="0" anchor="ctr"/>
          <a:lstStyle/>
          <a:p>
            <a:pPr algn="ctr"/>
            <a:endParaRPr/>
          </a:p>
        </p:txBody>
      </p:sp>
      <p:sp>
        <p:nvSpPr>
          <p:cNvPr id="8" name="TextBox 7"/>
          <p:cNvSpPr txBox="1"/>
          <p:nvPr/>
        </p:nvSpPr>
        <p:spPr>
          <a:xfrm>
            <a:off x="6080760" y="1344168"/>
            <a:ext cx="2606040" cy="868680"/>
          </a:xfrm>
          <a:prstGeom prst="rect">
            <a:avLst/>
          </a:prstGeom>
          <a:noFill/>
        </p:spPr>
        <p:txBody>
          <a:bodyPr wrap="square" lIns="0" tIns="0" rIns="0" bIns="0" anchor="ctr">
            <a:spAutoFit/>
          </a:bodyPr>
          <a:lstStyle/>
          <a:p>
            <a:pPr algn="l">
              <a:spcAft>
                <a:spcPts val="200"/>
              </a:spcAft>
            </a:pPr>
            <a:r>
              <a:rPr sz="1300" b="1" i="0">
                <a:solidFill>
                  <a:srgbClr val="002C59"/>
                </a:solidFill>
                <a:latin typeface="Arial"/>
              </a:rPr>
              <a:t>Gleicher Preis</a:t>
            </a:r>
          </a:p>
          <a:p>
            <a:pPr algn="l"/>
            <a:r>
              <a:rPr sz="1200" b="0" i="0">
                <a:solidFill>
                  <a:srgbClr val="002C59"/>
                </a:solidFill>
                <a:latin typeface="Arial"/>
              </a:rPr>
              <a:t>Bei CHF 0 und CHF 15 wählen 58 % das Premium-Bad.</a:t>
            </a:r>
          </a:p>
        </p:txBody>
      </p:sp>
      <p:sp>
        <p:nvSpPr>
          <p:cNvPr id="9" name="Rounded Rectangle 8"/>
          <p:cNvSpPr/>
          <p:nvPr/>
        </p:nvSpPr>
        <p:spPr>
          <a:xfrm>
            <a:off x="5943600" y="2377439"/>
            <a:ext cx="2834640" cy="1005840"/>
          </a:xfrm>
          <a:prstGeom prst="roundRect">
            <a:avLst>
              <a:gd name="adj" fmla="val 6000"/>
            </a:avLst>
          </a:prstGeom>
          <a:solidFill>
            <a:srgbClr val="EAF1F8"/>
          </a:solidFill>
          <a:ln>
            <a:noFill/>
          </a:ln>
        </p:spPr>
        <p:txBody>
          <a:bodyPr rtlCol="0" anchor="ctr"/>
          <a:lstStyle/>
          <a:p>
            <a:pPr algn="ctr"/>
            <a:endParaRPr/>
          </a:p>
        </p:txBody>
      </p:sp>
      <p:sp>
        <p:nvSpPr>
          <p:cNvPr id="10" name="TextBox 9"/>
          <p:cNvSpPr txBox="1"/>
          <p:nvPr/>
        </p:nvSpPr>
        <p:spPr>
          <a:xfrm>
            <a:off x="6080760" y="2441447"/>
            <a:ext cx="2606040" cy="868680"/>
          </a:xfrm>
          <a:prstGeom prst="rect">
            <a:avLst/>
          </a:prstGeom>
          <a:noFill/>
        </p:spPr>
        <p:txBody>
          <a:bodyPr wrap="square" lIns="0" tIns="0" rIns="0" bIns="0" anchor="ctr">
            <a:spAutoFit/>
          </a:bodyPr>
          <a:lstStyle/>
          <a:p>
            <a:pPr algn="l">
              <a:spcAft>
                <a:spcPts val="200"/>
              </a:spcAft>
            </a:pPr>
            <a:r>
              <a:rPr sz="1300" b="1" i="0">
                <a:solidFill>
                  <a:srgbClr val="002C59"/>
                </a:solidFill>
                <a:latin typeface="Arial"/>
              </a:rPr>
              <a:t>Grosser Abstand</a:t>
            </a:r>
          </a:p>
          <a:p>
            <a:pPr algn="l"/>
            <a:r>
              <a:rPr sz="1200" b="0" i="0">
                <a:solidFill>
                  <a:srgbClr val="002C59"/>
                </a:solidFill>
                <a:latin typeface="Arial"/>
              </a:rPr>
              <a:t>Bei CHF 45 wählt niemand das Premium-Bad.</a:t>
            </a:r>
          </a:p>
        </p:txBody>
      </p:sp>
      <p:sp>
        <p:nvSpPr>
          <p:cNvPr id="11" name="Rounded Rectangle 10"/>
          <p:cNvSpPr/>
          <p:nvPr/>
        </p:nvSpPr>
        <p:spPr>
          <a:xfrm>
            <a:off x="5943600" y="3474720"/>
            <a:ext cx="2834640" cy="1005840"/>
          </a:xfrm>
          <a:prstGeom prst="roundRect">
            <a:avLst>
              <a:gd name="adj" fmla="val 6000"/>
            </a:avLst>
          </a:prstGeom>
          <a:solidFill>
            <a:srgbClr val="EAF1F8"/>
          </a:solidFill>
          <a:ln>
            <a:noFill/>
          </a:ln>
        </p:spPr>
        <p:txBody>
          <a:bodyPr rtlCol="0" anchor="ctr"/>
          <a:lstStyle/>
          <a:p>
            <a:pPr algn="ctr"/>
            <a:endParaRPr/>
          </a:p>
        </p:txBody>
      </p:sp>
      <p:sp>
        <p:nvSpPr>
          <p:cNvPr id="12" name="TextBox 11"/>
          <p:cNvSpPr txBox="1"/>
          <p:nvPr/>
        </p:nvSpPr>
        <p:spPr>
          <a:xfrm>
            <a:off x="6080760" y="3538727"/>
            <a:ext cx="2606040" cy="868680"/>
          </a:xfrm>
          <a:prstGeom prst="rect">
            <a:avLst/>
          </a:prstGeom>
          <a:noFill/>
        </p:spPr>
        <p:txBody>
          <a:bodyPr wrap="square" lIns="0" tIns="0" rIns="0" bIns="0" anchor="ctr">
            <a:spAutoFit/>
          </a:bodyPr>
          <a:lstStyle/>
          <a:p>
            <a:pPr algn="l">
              <a:spcAft>
                <a:spcPts val="200"/>
              </a:spcAft>
            </a:pPr>
            <a:r>
              <a:rPr sz="1300" b="1" i="0">
                <a:solidFill>
                  <a:srgbClr val="002C59"/>
                </a:solidFill>
                <a:latin typeface="Arial"/>
              </a:rPr>
              <a:t>Kleiner Mehrwert</a:t>
            </a:r>
          </a:p>
          <a:p>
            <a:pPr algn="l"/>
            <a:r>
              <a:rPr sz="1200" b="0" i="0">
                <a:solidFill>
                  <a:srgbClr val="002C59"/>
                </a:solidFill>
                <a:latin typeface="Arial"/>
              </a:rPr>
              <a:t>Kostet nur Premium CHF 15, nehmen 83 % das Komfort-Bad.</a:t>
            </a:r>
          </a:p>
        </p:txBody>
      </p:sp>
      <p:sp>
        <p:nvSpPr>
          <p:cNvPr id="13" name="TextBox 12"/>
          <p:cNvSpPr txBox="1"/>
          <p:nvPr/>
        </p:nvSpPr>
        <p:spPr>
          <a:xfrm>
            <a:off x="5943600" y="4572000"/>
            <a:ext cx="2834640" cy="274320"/>
          </a:xfrm>
          <a:prstGeom prst="rect">
            <a:avLst/>
          </a:prstGeom>
          <a:noFill/>
        </p:spPr>
        <p:txBody>
          <a:bodyPr wrap="square" lIns="0" tIns="0" rIns="0" bIns="0" anchor="t">
            <a:spAutoFit/>
          </a:bodyPr>
          <a:lstStyle/>
          <a:p>
            <a:pPr algn="l"/>
            <a:r>
              <a:rPr sz="1100" b="0" i="0">
                <a:solidFill>
                  <a:srgbClr val="646464"/>
                </a:solidFill>
                <a:latin typeface="Arial"/>
              </a:rPr>
              <a:t>n = 12, Szenarien statt Prognose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Beide Verfahren stützen CHF 15 bis 20 Aufpreis pro Nacht</a:t>
            </a:r>
          </a:p>
        </p:txBody>
      </p:sp>
      <p:sp>
        <p:nvSpPr>
          <p:cNvPr id="3" name="Fußzeilenplatzhalter"/>
          <p:cNvSpPr>
            <a:spLocks noGrp="1"/>
          </p:cNvSpPr>
          <p:nvPr>
            <p:ph type="ftr" sz="quarter" idx="3"/>
          </p:nvPr>
        </p:nvSpPr>
        <p:spPr/>
        <p:txBody>
          <a:bodyPr/>
          <a:lstStyle/>
          <a:p>
            <a:r>
              <a:rPr lang="de-CH">
                <a:solidFill>
                  <a:srgbClr val="012C59"/>
                </a:solidFill>
              </a:rPr>
              <a:t>CAS Pricing | Gruppe 2</a:t>
            </a:r>
          </a:p>
        </p:txBody>
      </p:sp>
      <p:sp>
        <p:nvSpPr>
          <p:cNvPr id="4" name="Foliennummernplatzhalter"/>
          <p:cNvSpPr>
            <a:spLocks noGrp="1"/>
          </p:cNvSpPr>
          <p:nvPr>
            <p:ph type="sldNum" sz="quarter" idx="4"/>
          </p:nvPr>
        </p:nvSpPr>
        <p:spPr/>
        <p:txBody>
          <a:bodyPr/>
          <a:lstStyle/>
          <a:p>
            <a:fld id="{05F9AC53-F790-4868-97E7-45E3866EE614}" type="slidenum">
              <a:rPr lang="de-CH"/>
              <a:t>8</a:t>
            </a:fld>
            <a:endParaRPr lang="de-CH"/>
          </a:p>
        </p:txBody>
      </p:sp>
      <p:sp>
        <p:nvSpPr>
          <p:cNvPr id="5" name="TextBox 4"/>
          <p:cNvSpPr txBox="1"/>
          <p:nvPr/>
        </p:nvSpPr>
        <p:spPr>
          <a:xfrm>
            <a:off x="365760" y="1234440"/>
            <a:ext cx="4937760" cy="274320"/>
          </a:xfrm>
          <a:prstGeom prst="rect">
            <a:avLst/>
          </a:prstGeom>
          <a:noFill/>
        </p:spPr>
        <p:txBody>
          <a:bodyPr wrap="square" lIns="0" tIns="0" rIns="0" bIns="0" anchor="t">
            <a:spAutoFit/>
          </a:bodyPr>
          <a:lstStyle/>
          <a:p>
            <a:pPr algn="l"/>
            <a:r>
              <a:rPr sz="1300" b="1" i="0">
                <a:solidFill>
                  <a:srgbClr val="002C59"/>
                </a:solidFill>
                <a:latin typeface="Arial"/>
              </a:rPr>
              <a:t>Mittlerer akzeptierter Aufpreis (CHF pro Nacht)</a:t>
            </a:r>
          </a:p>
        </p:txBody>
      </p:sp>
      <p:graphicFrame>
        <p:nvGraphicFramePr>
          <p:cNvPr id="6" name="Chart Triangulation"/>
          <p:cNvGraphicFramePr>
            <a:graphicFrameLocks noGrp="1"/>
          </p:cNvGraphicFramePr>
          <p:nvPr/>
        </p:nvGraphicFramePr>
        <p:xfrm>
          <a:off x="320040" y="1554480"/>
          <a:ext cx="502920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7" name="Rounded Rectangle 6"/>
          <p:cNvSpPr/>
          <p:nvPr/>
        </p:nvSpPr>
        <p:spPr>
          <a:xfrm>
            <a:off x="5577840" y="1280160"/>
            <a:ext cx="3200400" cy="804672"/>
          </a:xfrm>
          <a:prstGeom prst="roundRect">
            <a:avLst>
              <a:gd name="adj" fmla="val 6000"/>
            </a:avLst>
          </a:prstGeom>
          <a:solidFill>
            <a:srgbClr val="EAF1F8"/>
          </a:solidFill>
          <a:ln>
            <a:noFill/>
          </a:ln>
        </p:spPr>
        <p:txBody>
          <a:bodyPr rtlCol="0" anchor="ctr"/>
          <a:lstStyle/>
          <a:p>
            <a:pPr algn="ctr"/>
            <a:endParaRPr/>
          </a:p>
        </p:txBody>
      </p:sp>
      <p:sp>
        <p:nvSpPr>
          <p:cNvPr id="8" name="TextBox 7"/>
          <p:cNvSpPr txBox="1"/>
          <p:nvPr/>
        </p:nvSpPr>
        <p:spPr>
          <a:xfrm>
            <a:off x="5715000" y="1316736"/>
            <a:ext cx="2971800" cy="731520"/>
          </a:xfrm>
          <a:prstGeom prst="rect">
            <a:avLst/>
          </a:prstGeom>
          <a:noFill/>
        </p:spPr>
        <p:txBody>
          <a:bodyPr wrap="square" lIns="0" tIns="0" rIns="0" bIns="0" anchor="ctr">
            <a:spAutoFit/>
          </a:bodyPr>
          <a:lstStyle/>
          <a:p>
            <a:pPr algn="l">
              <a:spcAft>
                <a:spcPts val="100"/>
              </a:spcAft>
            </a:pPr>
            <a:r>
              <a:rPr sz="1200" b="1" i="0">
                <a:solidFill>
                  <a:srgbClr val="002C59"/>
                </a:solidFill>
                <a:latin typeface="Arial"/>
              </a:rPr>
              <a:t>Gleiche Rangfolge</a:t>
            </a:r>
          </a:p>
          <a:p>
            <a:pPr algn="l"/>
            <a:r>
              <a:rPr sz="1100" b="0" i="0">
                <a:solidFill>
                  <a:srgbClr val="002C59"/>
                </a:solidFill>
                <a:latin typeface="Arial"/>
              </a:rPr>
              <a:t>Basis &lt; Komfort &lt; Premium in beiden Verfahren.</a:t>
            </a:r>
          </a:p>
        </p:txBody>
      </p:sp>
      <p:sp>
        <p:nvSpPr>
          <p:cNvPr id="9" name="Rounded Rectangle 8"/>
          <p:cNvSpPr/>
          <p:nvPr/>
        </p:nvSpPr>
        <p:spPr>
          <a:xfrm>
            <a:off x="5577840" y="2157984"/>
            <a:ext cx="3200400" cy="804672"/>
          </a:xfrm>
          <a:prstGeom prst="roundRect">
            <a:avLst>
              <a:gd name="adj" fmla="val 6000"/>
            </a:avLst>
          </a:prstGeom>
          <a:solidFill>
            <a:srgbClr val="EAF1F8"/>
          </a:solidFill>
          <a:ln>
            <a:noFill/>
          </a:ln>
        </p:spPr>
        <p:txBody>
          <a:bodyPr rtlCol="0" anchor="ctr"/>
          <a:lstStyle/>
          <a:p>
            <a:pPr algn="ctr"/>
            <a:endParaRPr/>
          </a:p>
        </p:txBody>
      </p:sp>
      <p:sp>
        <p:nvSpPr>
          <p:cNvPr id="10" name="TextBox 9"/>
          <p:cNvSpPr txBox="1"/>
          <p:nvPr/>
        </p:nvSpPr>
        <p:spPr>
          <a:xfrm>
            <a:off x="5715000" y="2194560"/>
            <a:ext cx="2971800" cy="731520"/>
          </a:xfrm>
          <a:prstGeom prst="rect">
            <a:avLst/>
          </a:prstGeom>
          <a:noFill/>
        </p:spPr>
        <p:txBody>
          <a:bodyPr wrap="square" lIns="0" tIns="0" rIns="0" bIns="0" anchor="ctr">
            <a:spAutoFit/>
          </a:bodyPr>
          <a:lstStyle/>
          <a:p>
            <a:pPr algn="l">
              <a:spcAft>
                <a:spcPts val="100"/>
              </a:spcAft>
            </a:pPr>
            <a:r>
              <a:rPr sz="1200" b="1" i="0">
                <a:solidFill>
                  <a:srgbClr val="002C59"/>
                </a:solidFill>
                <a:latin typeface="Arial"/>
              </a:rPr>
              <a:t>Kein Unterschied der Lage nachweisbar</a:t>
            </a:r>
          </a:p>
          <a:p>
            <a:pPr algn="l"/>
            <a:r>
              <a:rPr sz="1100" b="0" i="0">
                <a:solidFill>
                  <a:srgbClr val="002C59"/>
                </a:solidFill>
                <a:latin typeface="Arial"/>
              </a:rPr>
              <a:t>Mann-Whitney p &gt; .30, aber kein Beleg für Gleichheit.</a:t>
            </a:r>
          </a:p>
        </p:txBody>
      </p:sp>
      <p:sp>
        <p:nvSpPr>
          <p:cNvPr id="11" name="Rounded Rectangle 10"/>
          <p:cNvSpPr/>
          <p:nvPr/>
        </p:nvSpPr>
        <p:spPr>
          <a:xfrm>
            <a:off x="5577840" y="3035808"/>
            <a:ext cx="3200400" cy="804672"/>
          </a:xfrm>
          <a:prstGeom prst="roundRect">
            <a:avLst>
              <a:gd name="adj" fmla="val 6000"/>
            </a:avLst>
          </a:prstGeom>
          <a:solidFill>
            <a:srgbClr val="EAF1F8"/>
          </a:solidFill>
          <a:ln>
            <a:noFill/>
          </a:ln>
        </p:spPr>
        <p:txBody>
          <a:bodyPr rtlCol="0" anchor="ctr"/>
          <a:lstStyle/>
          <a:p>
            <a:pPr algn="ctr"/>
            <a:endParaRPr/>
          </a:p>
        </p:txBody>
      </p:sp>
      <p:sp>
        <p:nvSpPr>
          <p:cNvPr id="12" name="TextBox 11"/>
          <p:cNvSpPr txBox="1"/>
          <p:nvPr/>
        </p:nvSpPr>
        <p:spPr>
          <a:xfrm>
            <a:off x="5715000" y="3072384"/>
            <a:ext cx="2971800" cy="731520"/>
          </a:xfrm>
          <a:prstGeom prst="rect">
            <a:avLst/>
          </a:prstGeom>
          <a:noFill/>
        </p:spPr>
        <p:txBody>
          <a:bodyPr wrap="square" lIns="0" tIns="0" rIns="0" bIns="0" anchor="ctr">
            <a:spAutoFit/>
          </a:bodyPr>
          <a:lstStyle/>
          <a:p>
            <a:pPr algn="l">
              <a:spcAft>
                <a:spcPts val="100"/>
              </a:spcAft>
            </a:pPr>
            <a:r>
              <a:rPr sz="1200" b="1" i="0">
                <a:solidFill>
                  <a:srgbClr val="002C59"/>
                </a:solidFill>
                <a:latin typeface="Arial"/>
              </a:rPr>
              <a:t>Verschiedene Streuung</a:t>
            </a:r>
          </a:p>
          <a:p>
            <a:pPr algn="l"/>
            <a:r>
              <a:rPr sz="1100" b="0" i="0">
                <a:solidFill>
                  <a:srgbClr val="002C59"/>
                </a:solidFill>
                <a:latin typeface="Arial"/>
              </a:rPr>
              <a:t>SD CHF 18 bis 20 (GG) gegen 5 bis 8 (CBC).</a:t>
            </a:r>
          </a:p>
        </p:txBody>
      </p:sp>
      <p:sp>
        <p:nvSpPr>
          <p:cNvPr id="13" name="Rounded Rectangle 12"/>
          <p:cNvSpPr/>
          <p:nvPr/>
        </p:nvSpPr>
        <p:spPr>
          <a:xfrm>
            <a:off x="5577840" y="3913631"/>
            <a:ext cx="3200400" cy="804672"/>
          </a:xfrm>
          <a:prstGeom prst="roundRect">
            <a:avLst>
              <a:gd name="adj" fmla="val 6000"/>
            </a:avLst>
          </a:prstGeom>
          <a:solidFill>
            <a:srgbClr val="EAF1F8"/>
          </a:solidFill>
          <a:ln>
            <a:noFill/>
          </a:ln>
        </p:spPr>
        <p:txBody>
          <a:bodyPr rtlCol="0" anchor="ctr"/>
          <a:lstStyle/>
          <a:p>
            <a:pPr algn="ctr"/>
            <a:endParaRPr/>
          </a:p>
        </p:txBody>
      </p:sp>
      <p:sp>
        <p:nvSpPr>
          <p:cNvPr id="14" name="TextBox 13"/>
          <p:cNvSpPr txBox="1"/>
          <p:nvPr/>
        </p:nvSpPr>
        <p:spPr>
          <a:xfrm>
            <a:off x="5715000" y="3950207"/>
            <a:ext cx="2971800" cy="731520"/>
          </a:xfrm>
          <a:prstGeom prst="rect">
            <a:avLst/>
          </a:prstGeom>
          <a:noFill/>
        </p:spPr>
        <p:txBody>
          <a:bodyPr wrap="square" lIns="0" tIns="0" rIns="0" bIns="0" anchor="ctr">
            <a:spAutoFit/>
          </a:bodyPr>
          <a:lstStyle/>
          <a:p>
            <a:pPr algn="l">
              <a:spcAft>
                <a:spcPts val="100"/>
              </a:spcAft>
            </a:pPr>
            <a:r>
              <a:rPr sz="1200" b="1" i="0">
                <a:solidFill>
                  <a:srgbClr val="002C59"/>
                </a:solidFill>
                <a:latin typeface="Arial"/>
              </a:rPr>
              <a:t>Vorsichtiger Richtwert</a:t>
            </a:r>
          </a:p>
          <a:p>
            <a:pPr algn="l"/>
            <a:r>
              <a:rPr sz="1100" b="0" i="0">
                <a:solidFill>
                  <a:srgbClr val="002C59"/>
                </a:solidFill>
                <a:latin typeface="Arial"/>
              </a:rPr>
              <a:t>Nach Abzug von ca. 21 % Bias: CHF 16 bis 17.</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Vier Empfehlungen für die Geberit AG</a:t>
            </a:r>
          </a:p>
        </p:txBody>
      </p:sp>
      <p:sp>
        <p:nvSpPr>
          <p:cNvPr id="3" name="Fußzeilenplatzhalter"/>
          <p:cNvSpPr>
            <a:spLocks noGrp="1"/>
          </p:cNvSpPr>
          <p:nvPr>
            <p:ph type="ftr" sz="quarter" idx="3"/>
          </p:nvPr>
        </p:nvSpPr>
        <p:spPr/>
        <p:txBody>
          <a:bodyPr/>
          <a:lstStyle/>
          <a:p>
            <a:r>
              <a:rPr lang="de-CH">
                <a:solidFill>
                  <a:srgbClr val="012C59"/>
                </a:solidFill>
              </a:rPr>
              <a:t>CAS Pricing | Gruppe 2</a:t>
            </a:r>
          </a:p>
        </p:txBody>
      </p:sp>
      <p:sp>
        <p:nvSpPr>
          <p:cNvPr id="4" name="Foliennummernplatzhalter"/>
          <p:cNvSpPr>
            <a:spLocks noGrp="1"/>
          </p:cNvSpPr>
          <p:nvPr>
            <p:ph type="sldNum" sz="quarter" idx="4"/>
          </p:nvPr>
        </p:nvSpPr>
        <p:spPr/>
        <p:txBody>
          <a:bodyPr/>
          <a:lstStyle/>
          <a:p>
            <a:fld id="{05F9AC53-F790-4868-97E7-45E3866EE614}" type="slidenum">
              <a:rPr lang="de-CH"/>
              <a:t>9</a:t>
            </a:fld>
            <a:endParaRPr lang="de-CH"/>
          </a:p>
        </p:txBody>
      </p:sp>
      <p:sp>
        <p:nvSpPr>
          <p:cNvPr id="5" name="Rounded Rectangle 4"/>
          <p:cNvSpPr/>
          <p:nvPr/>
        </p:nvSpPr>
        <p:spPr>
          <a:xfrm>
            <a:off x="365760" y="1280160"/>
            <a:ext cx="4160520" cy="1600200"/>
          </a:xfrm>
          <a:prstGeom prst="roundRect">
            <a:avLst>
              <a:gd name="adj" fmla="val 6000"/>
            </a:avLst>
          </a:prstGeom>
          <a:solidFill>
            <a:srgbClr val="EAF1F8"/>
          </a:solidFill>
          <a:ln>
            <a:noFill/>
          </a:ln>
        </p:spPr>
        <p:txBody>
          <a:bodyPr rtlCol="0" anchor="ctr"/>
          <a:lstStyle/>
          <a:p>
            <a:pPr algn="ctr"/>
            <a:endParaRPr/>
          </a:p>
        </p:txBody>
      </p:sp>
      <p:sp>
        <p:nvSpPr>
          <p:cNvPr id="6" name="Oval 5"/>
          <p:cNvSpPr/>
          <p:nvPr/>
        </p:nvSpPr>
        <p:spPr>
          <a:xfrm>
            <a:off x="548640" y="1463039"/>
            <a:ext cx="502920" cy="502920"/>
          </a:xfrm>
          <a:prstGeom prst="ellipse">
            <a:avLst/>
          </a:prstGeom>
          <a:solidFill>
            <a:srgbClr val="0064A6"/>
          </a:solidFill>
          <a:ln>
            <a:noFill/>
          </a:ln>
        </p:spPr>
        <p:txBody>
          <a:bodyPr lIns="0" tIns="0" rIns="0" bIns="0" rtlCol="0" anchor="ctr"/>
          <a:lstStyle/>
          <a:p>
            <a:pPr algn="ctr"/>
            <a:r>
              <a:rPr sz="1800" b="1">
                <a:solidFill>
                  <a:srgbClr val="FFFFFF"/>
                </a:solidFill>
                <a:latin typeface="Arial"/>
              </a:rPr>
              <a:t>1</a:t>
            </a:r>
          </a:p>
        </p:txBody>
      </p:sp>
      <p:sp>
        <p:nvSpPr>
          <p:cNvPr id="7" name="TextBox 6"/>
          <p:cNvSpPr txBox="1"/>
          <p:nvPr/>
        </p:nvSpPr>
        <p:spPr>
          <a:xfrm>
            <a:off x="1234440" y="1417319"/>
            <a:ext cx="3154680" cy="594360"/>
          </a:xfrm>
          <a:prstGeom prst="rect">
            <a:avLst/>
          </a:prstGeom>
          <a:noFill/>
        </p:spPr>
        <p:txBody>
          <a:bodyPr wrap="square" lIns="0" tIns="0" rIns="0" bIns="0" anchor="ctr">
            <a:spAutoFit/>
          </a:bodyPr>
          <a:lstStyle/>
          <a:p>
            <a:pPr algn="l"/>
            <a:r>
              <a:rPr sz="1500" b="1" i="0">
                <a:solidFill>
                  <a:srgbClr val="002C59"/>
                </a:solidFill>
                <a:latin typeface="Arial"/>
              </a:rPr>
              <a:t>Preisrahmen CHF 15 bis 20</a:t>
            </a:r>
          </a:p>
        </p:txBody>
      </p:sp>
      <p:sp>
        <p:nvSpPr>
          <p:cNvPr id="8" name="TextBox 7"/>
          <p:cNvSpPr txBox="1"/>
          <p:nvPr/>
        </p:nvSpPr>
        <p:spPr>
          <a:xfrm>
            <a:off x="548640" y="2103120"/>
            <a:ext cx="3840480" cy="731520"/>
          </a:xfrm>
          <a:prstGeom prst="rect">
            <a:avLst/>
          </a:prstGeom>
          <a:noFill/>
        </p:spPr>
        <p:txBody>
          <a:bodyPr wrap="square" lIns="0" tIns="0" rIns="0" bIns="0" anchor="t">
            <a:spAutoFit/>
          </a:bodyPr>
          <a:lstStyle/>
          <a:p>
            <a:pPr algn="l"/>
            <a:r>
              <a:rPr sz="1300" b="0" i="0">
                <a:solidFill>
                  <a:srgbClr val="002C59"/>
                </a:solidFill>
                <a:latin typeface="Arial"/>
              </a:rPr>
              <a:t>10 bis 13 % des Zimmerpreises von CHF 150. Preise über CHF 25 vermeiden.</a:t>
            </a:r>
          </a:p>
        </p:txBody>
      </p:sp>
      <p:sp>
        <p:nvSpPr>
          <p:cNvPr id="9" name="Rounded Rectangle 8"/>
          <p:cNvSpPr/>
          <p:nvPr/>
        </p:nvSpPr>
        <p:spPr>
          <a:xfrm>
            <a:off x="4617720" y="1280160"/>
            <a:ext cx="4160520" cy="1600200"/>
          </a:xfrm>
          <a:prstGeom prst="roundRect">
            <a:avLst>
              <a:gd name="adj" fmla="val 6000"/>
            </a:avLst>
          </a:prstGeom>
          <a:solidFill>
            <a:srgbClr val="EAF1F8"/>
          </a:solidFill>
          <a:ln>
            <a:noFill/>
          </a:ln>
        </p:spPr>
        <p:txBody>
          <a:bodyPr rtlCol="0" anchor="ctr"/>
          <a:lstStyle/>
          <a:p>
            <a:pPr algn="ctr"/>
            <a:endParaRPr/>
          </a:p>
        </p:txBody>
      </p:sp>
      <p:sp>
        <p:nvSpPr>
          <p:cNvPr id="10" name="Oval 9"/>
          <p:cNvSpPr/>
          <p:nvPr/>
        </p:nvSpPr>
        <p:spPr>
          <a:xfrm>
            <a:off x="4800600" y="1463039"/>
            <a:ext cx="502920" cy="502920"/>
          </a:xfrm>
          <a:prstGeom prst="ellipse">
            <a:avLst/>
          </a:prstGeom>
          <a:solidFill>
            <a:srgbClr val="0064A6"/>
          </a:solidFill>
          <a:ln>
            <a:noFill/>
          </a:ln>
        </p:spPr>
        <p:txBody>
          <a:bodyPr lIns="0" tIns="0" rIns="0" bIns="0" rtlCol="0" anchor="ctr"/>
          <a:lstStyle/>
          <a:p>
            <a:pPr algn="ctr"/>
            <a:r>
              <a:rPr sz="1800" b="1">
                <a:solidFill>
                  <a:srgbClr val="FFFFFF"/>
                </a:solidFill>
                <a:latin typeface="Arial"/>
              </a:rPr>
              <a:t>2</a:t>
            </a:r>
          </a:p>
        </p:txBody>
      </p:sp>
      <p:sp>
        <p:nvSpPr>
          <p:cNvPr id="11" name="TextBox 10"/>
          <p:cNvSpPr txBox="1"/>
          <p:nvPr/>
        </p:nvSpPr>
        <p:spPr>
          <a:xfrm>
            <a:off x="5486400" y="1417319"/>
            <a:ext cx="3154680" cy="594360"/>
          </a:xfrm>
          <a:prstGeom prst="rect">
            <a:avLst/>
          </a:prstGeom>
          <a:noFill/>
        </p:spPr>
        <p:txBody>
          <a:bodyPr wrap="square" lIns="0" tIns="0" rIns="0" bIns="0" anchor="ctr">
            <a:spAutoFit/>
          </a:bodyPr>
          <a:lstStyle/>
          <a:p>
            <a:pPr algn="l"/>
            <a:r>
              <a:rPr sz="1500" b="1" i="0">
                <a:solidFill>
                  <a:srgbClr val="002C59"/>
                </a:solidFill>
                <a:latin typeface="Arial"/>
              </a:rPr>
              <a:t>Dusche als Werthebel</a:t>
            </a:r>
          </a:p>
        </p:txBody>
      </p:sp>
      <p:sp>
        <p:nvSpPr>
          <p:cNvPr id="12" name="TextBox 11"/>
          <p:cNvSpPr txBox="1"/>
          <p:nvPr/>
        </p:nvSpPr>
        <p:spPr>
          <a:xfrm>
            <a:off x="4800600" y="2103120"/>
            <a:ext cx="3840480" cy="731520"/>
          </a:xfrm>
          <a:prstGeom prst="rect">
            <a:avLst/>
          </a:prstGeom>
          <a:noFill/>
        </p:spPr>
        <p:txBody>
          <a:bodyPr wrap="square" lIns="0" tIns="0" rIns="0" bIns="0" anchor="t">
            <a:spAutoFit/>
          </a:bodyPr>
          <a:lstStyle/>
          <a:p>
            <a:pPr algn="l"/>
            <a:r>
              <a:rPr sz="1300" b="0" i="0">
                <a:solidFill>
                  <a:srgbClr val="002C59"/>
                </a:solidFill>
                <a:latin typeface="Arial"/>
              </a:rPr>
              <a:t>Bodenebene Dusche mit Regendusche in den Mittelpunkt stellen (ca. CHF 11 pro Nacht).</a:t>
            </a:r>
          </a:p>
        </p:txBody>
      </p:sp>
      <p:sp>
        <p:nvSpPr>
          <p:cNvPr id="13" name="Rounded Rectangle 12"/>
          <p:cNvSpPr/>
          <p:nvPr/>
        </p:nvSpPr>
        <p:spPr>
          <a:xfrm>
            <a:off x="365760" y="3017520"/>
            <a:ext cx="4160520" cy="1600200"/>
          </a:xfrm>
          <a:prstGeom prst="roundRect">
            <a:avLst>
              <a:gd name="adj" fmla="val 6000"/>
            </a:avLst>
          </a:prstGeom>
          <a:solidFill>
            <a:srgbClr val="EAF1F8"/>
          </a:solidFill>
          <a:ln>
            <a:noFill/>
          </a:ln>
        </p:spPr>
        <p:txBody>
          <a:bodyPr rtlCol="0" anchor="ctr"/>
          <a:lstStyle/>
          <a:p>
            <a:pPr algn="ctr"/>
            <a:endParaRPr/>
          </a:p>
        </p:txBody>
      </p:sp>
      <p:sp>
        <p:nvSpPr>
          <p:cNvPr id="14" name="Oval 13"/>
          <p:cNvSpPr/>
          <p:nvPr/>
        </p:nvSpPr>
        <p:spPr>
          <a:xfrm>
            <a:off x="548640" y="3200400"/>
            <a:ext cx="502920" cy="502920"/>
          </a:xfrm>
          <a:prstGeom prst="ellipse">
            <a:avLst/>
          </a:prstGeom>
          <a:solidFill>
            <a:srgbClr val="0064A6"/>
          </a:solidFill>
          <a:ln>
            <a:noFill/>
          </a:ln>
        </p:spPr>
        <p:txBody>
          <a:bodyPr lIns="0" tIns="0" rIns="0" bIns="0" rtlCol="0" anchor="ctr"/>
          <a:lstStyle/>
          <a:p>
            <a:pPr algn="ctr"/>
            <a:r>
              <a:rPr sz="1800" b="1">
                <a:solidFill>
                  <a:srgbClr val="FFFFFF"/>
                </a:solidFill>
                <a:latin typeface="Arial"/>
              </a:rPr>
              <a:t>3</a:t>
            </a:r>
          </a:p>
        </p:txBody>
      </p:sp>
      <p:sp>
        <p:nvSpPr>
          <p:cNvPr id="15" name="TextBox 14"/>
          <p:cNvSpPr txBox="1"/>
          <p:nvPr/>
        </p:nvSpPr>
        <p:spPr>
          <a:xfrm>
            <a:off x="1234440" y="3154679"/>
            <a:ext cx="3154680" cy="594360"/>
          </a:xfrm>
          <a:prstGeom prst="rect">
            <a:avLst/>
          </a:prstGeom>
          <a:noFill/>
        </p:spPr>
        <p:txBody>
          <a:bodyPr wrap="square" lIns="0" tIns="0" rIns="0" bIns="0" anchor="ctr">
            <a:spAutoFit/>
          </a:bodyPr>
          <a:lstStyle/>
          <a:p>
            <a:pPr algn="l"/>
            <a:r>
              <a:rPr sz="1500" b="1" i="0">
                <a:solidFill>
                  <a:srgbClr val="002C59"/>
                </a:solidFill>
                <a:latin typeface="Arial"/>
              </a:rPr>
              <a:t>Komfort-Paket als Kern</a:t>
            </a:r>
          </a:p>
        </p:txBody>
      </p:sp>
      <p:sp>
        <p:nvSpPr>
          <p:cNvPr id="16" name="TextBox 15"/>
          <p:cNvSpPr txBox="1"/>
          <p:nvPr/>
        </p:nvSpPr>
        <p:spPr>
          <a:xfrm>
            <a:off x="548640" y="3840480"/>
            <a:ext cx="3840480" cy="731520"/>
          </a:xfrm>
          <a:prstGeom prst="rect">
            <a:avLst/>
          </a:prstGeom>
          <a:noFill/>
        </p:spPr>
        <p:txBody>
          <a:bodyPr wrap="square" lIns="0" tIns="0" rIns="0" bIns="0" anchor="t">
            <a:spAutoFit/>
          </a:bodyPr>
          <a:lstStyle/>
          <a:p>
            <a:pPr algn="l"/>
            <a:r>
              <a:rPr sz="1300" b="0" i="0">
                <a:solidFill>
                  <a:srgbClr val="002C59"/>
                </a:solidFill>
                <a:latin typeface="Arial"/>
              </a:rPr>
              <a:t>Premium-Elemente als Option. Dusch-WC als Zusatzmodul, nicht als Hauptargument.</a:t>
            </a:r>
          </a:p>
        </p:txBody>
      </p:sp>
      <p:sp>
        <p:nvSpPr>
          <p:cNvPr id="17" name="Rounded Rectangle 16"/>
          <p:cNvSpPr/>
          <p:nvPr/>
        </p:nvSpPr>
        <p:spPr>
          <a:xfrm>
            <a:off x="4617720" y="3017520"/>
            <a:ext cx="4160520" cy="1600200"/>
          </a:xfrm>
          <a:prstGeom prst="roundRect">
            <a:avLst>
              <a:gd name="adj" fmla="val 6000"/>
            </a:avLst>
          </a:prstGeom>
          <a:solidFill>
            <a:srgbClr val="EAF1F8"/>
          </a:solidFill>
          <a:ln>
            <a:noFill/>
          </a:ln>
        </p:spPr>
        <p:txBody>
          <a:bodyPr rtlCol="0" anchor="ctr"/>
          <a:lstStyle/>
          <a:p>
            <a:pPr algn="ctr"/>
            <a:endParaRPr/>
          </a:p>
        </p:txBody>
      </p:sp>
      <p:sp>
        <p:nvSpPr>
          <p:cNvPr id="18" name="Oval 17"/>
          <p:cNvSpPr/>
          <p:nvPr/>
        </p:nvSpPr>
        <p:spPr>
          <a:xfrm>
            <a:off x="4800600" y="3200400"/>
            <a:ext cx="502920" cy="502920"/>
          </a:xfrm>
          <a:prstGeom prst="ellipse">
            <a:avLst/>
          </a:prstGeom>
          <a:solidFill>
            <a:srgbClr val="EA5B0C"/>
          </a:solidFill>
          <a:ln>
            <a:noFill/>
          </a:ln>
        </p:spPr>
        <p:txBody>
          <a:bodyPr lIns="0" tIns="0" rIns="0" bIns="0" rtlCol="0" anchor="ctr"/>
          <a:lstStyle/>
          <a:p>
            <a:pPr algn="ctr"/>
            <a:r>
              <a:rPr sz="1800" b="1">
                <a:solidFill>
                  <a:srgbClr val="FFFFFF"/>
                </a:solidFill>
                <a:latin typeface="Arial"/>
              </a:rPr>
              <a:t>4</a:t>
            </a:r>
          </a:p>
        </p:txBody>
      </p:sp>
      <p:sp>
        <p:nvSpPr>
          <p:cNvPr id="19" name="TextBox 18"/>
          <p:cNvSpPr txBox="1"/>
          <p:nvPr/>
        </p:nvSpPr>
        <p:spPr>
          <a:xfrm>
            <a:off x="5486400" y="3154679"/>
            <a:ext cx="3154680" cy="594360"/>
          </a:xfrm>
          <a:prstGeom prst="rect">
            <a:avLst/>
          </a:prstGeom>
          <a:noFill/>
        </p:spPr>
        <p:txBody>
          <a:bodyPr wrap="square" lIns="0" tIns="0" rIns="0" bIns="0" anchor="ctr">
            <a:spAutoFit/>
          </a:bodyPr>
          <a:lstStyle/>
          <a:p>
            <a:pPr algn="l"/>
            <a:r>
              <a:rPr sz="1500" b="1" i="0">
                <a:solidFill>
                  <a:srgbClr val="002C59"/>
                </a:solidFill>
                <a:latin typeface="Arial"/>
              </a:rPr>
              <a:t>Vor Markteinführung absichern</a:t>
            </a:r>
          </a:p>
        </p:txBody>
      </p:sp>
      <p:sp>
        <p:nvSpPr>
          <p:cNvPr id="20" name="TextBox 19"/>
          <p:cNvSpPr txBox="1"/>
          <p:nvPr/>
        </p:nvSpPr>
        <p:spPr>
          <a:xfrm>
            <a:off x="4800600" y="3840480"/>
            <a:ext cx="3840480" cy="731520"/>
          </a:xfrm>
          <a:prstGeom prst="rect">
            <a:avLst/>
          </a:prstGeom>
          <a:noFill/>
        </p:spPr>
        <p:txBody>
          <a:bodyPr wrap="square" lIns="0" tIns="0" rIns="0" bIns="0" anchor="t">
            <a:spAutoFit/>
          </a:bodyPr>
          <a:lstStyle/>
          <a:p>
            <a:pPr algn="l"/>
            <a:r>
              <a:rPr sz="1300" b="0" i="0">
                <a:solidFill>
                  <a:srgbClr val="002C59"/>
                </a:solidFill>
                <a:latin typeface="Arial"/>
              </a:rPr>
              <a:t>Pilotversuch im Hotel, Folgestudie mit mindestens 72 Befragten und feineren Preisstufen.</a:t>
            </a:r>
          </a:p>
        </p:txBody>
      </p:sp>
      <p:sp>
        <p:nvSpPr>
          <p:cNvPr id="21" name="TextBox 20"/>
          <p:cNvSpPr txBox="1"/>
          <p:nvPr/>
        </p:nvSpPr>
        <p:spPr>
          <a:xfrm>
            <a:off x="365760" y="4663440"/>
            <a:ext cx="8412480" cy="201168"/>
          </a:xfrm>
          <a:prstGeom prst="rect">
            <a:avLst/>
          </a:prstGeom>
          <a:noFill/>
        </p:spPr>
        <p:txBody>
          <a:bodyPr wrap="square" lIns="0" tIns="0" rIns="0" bIns="0" anchor="t">
            <a:spAutoFit/>
          </a:bodyPr>
          <a:lstStyle/>
          <a:p>
            <a:pPr algn="l"/>
            <a:r>
              <a:rPr sz="1000" b="0" i="0">
                <a:solidFill>
                  <a:srgbClr val="646464"/>
                </a:solidFill>
                <a:latin typeface="Arial"/>
              </a:rPr>
              <a:t>Empfehlungen sind Hypothesen auf Basis einer kleinen Stichprobe, keine gesicherte Prognose.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Fazit und Grenzen</a:t>
            </a:r>
          </a:p>
        </p:txBody>
      </p:sp>
      <p:sp>
        <p:nvSpPr>
          <p:cNvPr id="3" name="Fußzeilenplatzhalter"/>
          <p:cNvSpPr>
            <a:spLocks noGrp="1"/>
          </p:cNvSpPr>
          <p:nvPr>
            <p:ph type="ftr" sz="quarter" idx="3"/>
          </p:nvPr>
        </p:nvSpPr>
        <p:spPr/>
        <p:txBody>
          <a:bodyPr/>
          <a:lstStyle/>
          <a:p>
            <a:r>
              <a:rPr lang="de-CH">
                <a:solidFill>
                  <a:srgbClr val="012C59"/>
                </a:solidFill>
              </a:rPr>
              <a:t>CAS Pricing | Gruppe 2</a:t>
            </a:r>
          </a:p>
        </p:txBody>
      </p:sp>
      <p:sp>
        <p:nvSpPr>
          <p:cNvPr id="4" name="Foliennummernplatzhalter"/>
          <p:cNvSpPr>
            <a:spLocks noGrp="1"/>
          </p:cNvSpPr>
          <p:nvPr>
            <p:ph type="sldNum" sz="quarter" idx="4"/>
          </p:nvPr>
        </p:nvSpPr>
        <p:spPr/>
        <p:txBody>
          <a:bodyPr/>
          <a:lstStyle/>
          <a:p>
            <a:fld id="{05F9AC53-F790-4868-97E7-45E3866EE614}" type="slidenum">
              <a:rPr lang="de-CH"/>
              <a:t>10</a:t>
            </a:fld>
            <a:endParaRPr lang="de-CH"/>
          </a:p>
        </p:txBody>
      </p:sp>
      <p:sp>
        <p:nvSpPr>
          <p:cNvPr id="5" name="Rounded Rectangle 4"/>
          <p:cNvSpPr/>
          <p:nvPr/>
        </p:nvSpPr>
        <p:spPr>
          <a:xfrm>
            <a:off x="365760" y="1280160"/>
            <a:ext cx="4160520" cy="3429000"/>
          </a:xfrm>
          <a:prstGeom prst="roundRect">
            <a:avLst>
              <a:gd name="adj" fmla="val 6000"/>
            </a:avLst>
          </a:prstGeom>
          <a:solidFill>
            <a:srgbClr val="002C59"/>
          </a:solidFill>
          <a:ln>
            <a:noFill/>
          </a:ln>
        </p:spPr>
        <p:txBody>
          <a:bodyPr rtlCol="0" anchor="ctr"/>
          <a:lstStyle/>
          <a:p>
            <a:pPr algn="ctr"/>
            <a:endParaRPr/>
          </a:p>
        </p:txBody>
      </p:sp>
      <p:sp>
        <p:nvSpPr>
          <p:cNvPr id="6" name="TextBox 5"/>
          <p:cNvSpPr txBox="1"/>
          <p:nvPr/>
        </p:nvSpPr>
        <p:spPr>
          <a:xfrm>
            <a:off x="548640" y="1371600"/>
            <a:ext cx="3840480" cy="365760"/>
          </a:xfrm>
          <a:prstGeom prst="rect">
            <a:avLst/>
          </a:prstGeom>
          <a:noFill/>
        </p:spPr>
        <p:txBody>
          <a:bodyPr wrap="square" lIns="0" tIns="0" rIns="0" bIns="0" anchor="t">
            <a:spAutoFit/>
          </a:bodyPr>
          <a:lstStyle/>
          <a:p>
            <a:pPr algn="l"/>
            <a:r>
              <a:rPr sz="1800" b="1" i="0">
                <a:solidFill>
                  <a:srgbClr val="FFFFFF"/>
                </a:solidFill>
                <a:latin typeface="Arial"/>
              </a:rPr>
              <a:t>Fazit</a:t>
            </a:r>
          </a:p>
        </p:txBody>
      </p:sp>
      <p:sp>
        <p:nvSpPr>
          <p:cNvPr id="7" name="Text Fazit"/>
          <p:cNvSpPr txBox="1"/>
          <p:nvPr/>
        </p:nvSpPr>
        <p:spPr>
          <a:xfrm>
            <a:off x="548640" y="1874519"/>
            <a:ext cx="3840480" cy="2743200"/>
          </a:xfrm>
          <a:prstGeom prst="rect">
            <a:avLst/>
          </a:prstGeom>
          <a:noFill/>
        </p:spPr>
        <p:txBody>
          <a:bodyPr wrap="square" lIns="0" tIns="0" rIns="0" bIns="0" anchor="t">
            <a:spAutoFit/>
          </a:bodyPr>
          <a:lstStyle/>
          <a:p>
            <a:pPr marL="171450" indent="-171450" algn="l">
              <a:spcAft>
                <a:spcPts val="800"/>
              </a:spcAft>
              <a:buFont typeface="Arial"/>
              <a:buChar char="•"/>
            </a:pPr>
            <a:r>
              <a:rPr sz="1500" b="1" i="0">
                <a:solidFill>
                  <a:srgbClr val="6FBAED"/>
                </a:solidFill>
                <a:latin typeface="Arial"/>
              </a:rPr>
              <a:t>CHF 15 bis 20 </a:t>
            </a:r>
            <a:r>
              <a:rPr sz="1500" b="0" i="0">
                <a:solidFill>
                  <a:srgbClr val="FFFFFF"/>
                </a:solidFill>
                <a:latin typeface="Arial"/>
              </a:rPr>
              <a:t>Aufpreis pro Nacht akzeptieren die Befragten für ein hochwertiges Bad.</a:t>
            </a:r>
          </a:p>
          <a:p>
            <a:pPr marL="171450" indent="-171450" algn="l">
              <a:spcAft>
                <a:spcPts val="800"/>
              </a:spcAft>
              <a:buFont typeface="Arial"/>
              <a:buChar char="•"/>
            </a:pPr>
            <a:r>
              <a:rPr sz="1500" b="1" i="0">
                <a:solidFill>
                  <a:srgbClr val="6FBAED"/>
                </a:solidFill>
                <a:latin typeface="Arial"/>
              </a:rPr>
              <a:t>Die Dusche </a:t>
            </a:r>
            <a:r>
              <a:rPr sz="1500" b="0" i="0">
                <a:solidFill>
                  <a:srgbClr val="FFFFFF"/>
                </a:solidFill>
                <a:latin typeface="Arial"/>
              </a:rPr>
              <a:t>ist der grösste Werthebel, das Dusch-WC bringt im Mittel keinen Mehrwert.</a:t>
            </a:r>
          </a:p>
          <a:p>
            <a:pPr marL="171450" indent="-171450" algn="l">
              <a:buFont typeface="Arial"/>
              <a:buChar char="•"/>
            </a:pPr>
            <a:r>
              <a:rPr sz="1500" b="1" i="0">
                <a:solidFill>
                  <a:srgbClr val="6FBAED"/>
                </a:solidFill>
                <a:latin typeface="Arial"/>
              </a:rPr>
              <a:t>Beide Verfahren </a:t>
            </a:r>
            <a:r>
              <a:rPr sz="1500" b="0" i="0">
                <a:solidFill>
                  <a:srgbClr val="FFFFFF"/>
                </a:solidFill>
                <a:latin typeface="Arial"/>
              </a:rPr>
              <a:t>stimmen in Rangfolge und Grössenordnung überein.</a:t>
            </a:r>
          </a:p>
        </p:txBody>
      </p:sp>
      <p:sp>
        <p:nvSpPr>
          <p:cNvPr id="8" name="Rounded Rectangle 7"/>
          <p:cNvSpPr/>
          <p:nvPr/>
        </p:nvSpPr>
        <p:spPr>
          <a:xfrm>
            <a:off x="4709160" y="1280160"/>
            <a:ext cx="4069080" cy="3429000"/>
          </a:xfrm>
          <a:prstGeom prst="roundRect">
            <a:avLst>
              <a:gd name="adj" fmla="val 6000"/>
            </a:avLst>
          </a:prstGeom>
          <a:solidFill>
            <a:srgbClr val="EAF1F8"/>
          </a:solidFill>
          <a:ln>
            <a:noFill/>
          </a:ln>
        </p:spPr>
        <p:txBody>
          <a:bodyPr rtlCol="0" anchor="ctr"/>
          <a:lstStyle/>
          <a:p>
            <a:pPr algn="ctr"/>
            <a:endParaRPr/>
          </a:p>
        </p:txBody>
      </p:sp>
      <p:sp>
        <p:nvSpPr>
          <p:cNvPr id="9" name="TextBox 8"/>
          <p:cNvSpPr txBox="1"/>
          <p:nvPr/>
        </p:nvSpPr>
        <p:spPr>
          <a:xfrm>
            <a:off x="4892040" y="1371600"/>
            <a:ext cx="3749039" cy="365760"/>
          </a:xfrm>
          <a:prstGeom prst="rect">
            <a:avLst/>
          </a:prstGeom>
          <a:noFill/>
        </p:spPr>
        <p:txBody>
          <a:bodyPr wrap="square" lIns="0" tIns="0" rIns="0" bIns="0" anchor="t">
            <a:spAutoFit/>
          </a:bodyPr>
          <a:lstStyle/>
          <a:p>
            <a:pPr algn="l"/>
            <a:r>
              <a:rPr sz="1800" b="1" i="0">
                <a:solidFill>
                  <a:srgbClr val="002C59"/>
                </a:solidFill>
                <a:latin typeface="Arial"/>
              </a:rPr>
              <a:t>Grenzen</a:t>
            </a:r>
          </a:p>
        </p:txBody>
      </p:sp>
      <p:sp>
        <p:nvSpPr>
          <p:cNvPr id="10" name="Text Grenzen"/>
          <p:cNvSpPr txBox="1"/>
          <p:nvPr/>
        </p:nvSpPr>
        <p:spPr>
          <a:xfrm>
            <a:off x="4892040" y="1874519"/>
            <a:ext cx="3749039" cy="2743200"/>
          </a:xfrm>
          <a:prstGeom prst="rect">
            <a:avLst/>
          </a:prstGeom>
          <a:noFill/>
        </p:spPr>
        <p:txBody>
          <a:bodyPr wrap="square" lIns="0" tIns="0" rIns="0" bIns="0" anchor="t">
            <a:spAutoFit/>
          </a:bodyPr>
          <a:lstStyle/>
          <a:p>
            <a:pPr marL="171450" indent="-171450" algn="l">
              <a:spcAft>
                <a:spcPts val="700"/>
              </a:spcAft>
              <a:buFont typeface="Arial"/>
              <a:buChar char="•"/>
            </a:pPr>
            <a:r>
              <a:rPr sz="1500" b="0" i="0">
                <a:solidFill>
                  <a:srgbClr val="002C59"/>
                </a:solidFill>
                <a:latin typeface="Arial"/>
              </a:rPr>
              <a:t>Kleine Gelegenheitsstichprobe: n = 20 und n = 28 (Nutzenwerte: 12)</a:t>
            </a:r>
          </a:p>
          <a:p>
            <a:pPr marL="171450" indent="-171450" algn="l">
              <a:spcAft>
                <a:spcPts val="700"/>
              </a:spcAft>
              <a:buFont typeface="Arial"/>
              <a:buChar char="•"/>
            </a:pPr>
            <a:r>
              <a:rPr sz="1500" b="0" i="0">
                <a:solidFill>
                  <a:srgbClr val="002C59"/>
                </a:solidFill>
                <a:latin typeface="Arial"/>
              </a:rPr>
              <a:t>Hypothetische Abfrage, im Mittel ca. 21 % zu hoch</a:t>
            </a:r>
          </a:p>
          <a:p>
            <a:pPr marL="171450" indent="-171450" algn="l">
              <a:spcAft>
                <a:spcPts val="700"/>
              </a:spcAft>
              <a:buFont typeface="Arial"/>
              <a:buChar char="•"/>
            </a:pPr>
            <a:r>
              <a:rPr sz="1500" b="0" i="0">
                <a:solidFill>
                  <a:srgbClr val="002C59"/>
                </a:solidFill>
                <a:latin typeface="Arial"/>
              </a:rPr>
              <a:t>Verschiedene Personen in beiden Verfahren</a:t>
            </a:r>
          </a:p>
          <a:p>
            <a:pPr marL="171450" indent="-171450" algn="l">
              <a:buFont typeface="Arial"/>
              <a:buChar char="•"/>
            </a:pPr>
            <a:r>
              <a:rPr sz="1500" b="0" i="0">
                <a:solidFill>
                  <a:srgbClr val="002C59"/>
                </a:solidFill>
                <a:latin typeface="Arial"/>
              </a:rPr>
              <a:t>Optima von Basis- und Komfort-Bad hängen an 3 Personen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pPr marL="0" indent="0">
              <a:buNone/>
            </a:pPr>
            <a:r>
              <a:t>Vielen Dank für Ihre Aufmerksamkeit</a:t>
            </a:r>
          </a:p>
        </p:txBody>
      </p:sp>
      <p:sp>
        <p:nvSpPr>
          <p:cNvPr id="3" name="Title 2"/>
          <p:cNvSpPr>
            <a:spLocks noGrp="1"/>
          </p:cNvSpPr>
          <p:nvPr>
            <p:ph type="title"/>
          </p:nvPr>
        </p:nvSpPr>
        <p:spPr/>
        <p:txBody>
          <a:bodyPr/>
          <a:lstStyle/>
          <a:p>
            <a:r>
              <a:t>Fragen und Diskussion</a:t>
            </a:r>
          </a:p>
        </p:txBody>
      </p:sp>
      <p:sp>
        <p:nvSpPr>
          <p:cNvPr id="4" name="Fußzeilenplatzhalter"/>
          <p:cNvSpPr>
            <a:spLocks noGrp="1"/>
          </p:cNvSpPr>
          <p:nvPr>
            <p:ph type="ftr" sz="quarter" idx="3"/>
          </p:nvPr>
        </p:nvSpPr>
        <p:spPr/>
        <p:txBody>
          <a:bodyPr/>
          <a:lstStyle/>
          <a:p>
            <a:r>
              <a:rPr lang="de-CH">
                <a:solidFill>
                  <a:srgbClr val="FFFFFF"/>
                </a:solidFill>
              </a:rPr>
              <a:t>CAS Pricing | Gruppe 2</a:t>
            </a:r>
          </a:p>
        </p:txBody>
      </p:sp>
      <p:sp>
        <p:nvSpPr>
          <p:cNvPr id="5" name="Foliennummernplatzhalter"/>
          <p:cNvSpPr>
            <a:spLocks noGrp="1"/>
          </p:cNvSpPr>
          <p:nvPr>
            <p:ph type="sldNum" sz="quarter" idx="4"/>
          </p:nvPr>
        </p:nvSpPr>
        <p:spPr/>
        <p:txBody>
          <a:bodyPr/>
          <a:lstStyle/>
          <a:p>
            <a:fld id="{05F9AC53-F790-4868-97E7-45E3866EE614}" type="slidenum">
              <a:rPr lang="de-CH"/>
              <a:t>11</a:t>
            </a:fld>
            <a:endParaRPr lang="de-CH"/>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pPr marL="0" indent="0">
              <a:buNone/>
            </a:pPr>
            <a:r>
              <a:t>A1 Kennzahlen Gabor-Granger | A2 Statistische Absicherung | A3 Teilnutzenwerte | A4 Segmente | A5 Szenarien der Marktsimulation | A6 Design der CBC | A7 Quellen</a:t>
            </a:r>
          </a:p>
        </p:txBody>
      </p:sp>
      <p:sp>
        <p:nvSpPr>
          <p:cNvPr id="3" name="Title 2"/>
          <p:cNvSpPr>
            <a:spLocks noGrp="1"/>
          </p:cNvSpPr>
          <p:nvPr>
            <p:ph type="title"/>
          </p:nvPr>
        </p:nvSpPr>
        <p:spPr/>
        <p:txBody>
          <a:bodyPr/>
          <a:lstStyle/>
          <a:p>
            <a:r>
              <a:t>Anhang</a:t>
            </a:r>
          </a:p>
        </p:txBody>
      </p:sp>
      <p:sp>
        <p:nvSpPr>
          <p:cNvPr id="4" name="Fußzeilenplatzhalter"/>
          <p:cNvSpPr>
            <a:spLocks noGrp="1"/>
          </p:cNvSpPr>
          <p:nvPr>
            <p:ph type="ftr" sz="quarter" idx="3"/>
          </p:nvPr>
        </p:nvSpPr>
        <p:spPr/>
        <p:txBody>
          <a:bodyPr/>
          <a:lstStyle/>
          <a:p>
            <a:r>
              <a:rPr lang="de-CH">
                <a:solidFill>
                  <a:srgbClr val="FFFFFF"/>
                </a:solidFill>
              </a:rPr>
              <a:t>CAS Pricing | Gruppe 2</a:t>
            </a:r>
          </a:p>
        </p:txBody>
      </p:sp>
      <p:sp>
        <p:nvSpPr>
          <p:cNvPr id="5" name="Foliennummernplatzhalter"/>
          <p:cNvSpPr>
            <a:spLocks noGrp="1"/>
          </p:cNvSpPr>
          <p:nvPr>
            <p:ph type="sldNum" sz="quarter" idx="4"/>
          </p:nvPr>
        </p:nvSpPr>
        <p:spPr/>
        <p:txBody>
          <a:bodyPr/>
          <a:lstStyle/>
          <a:p>
            <a:fld id="{05F9AC53-F790-4868-97E7-45E3866EE614}" type="slidenum">
              <a:rPr lang="de-CH"/>
              <a:t>12</a:t>
            </a:fld>
            <a:endParaRPr lang="de-CH"/>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A1: Kennzahlen der Gabor-Granger-Analyse (n = 20)</a:t>
            </a:r>
          </a:p>
        </p:txBody>
      </p:sp>
      <p:sp>
        <p:nvSpPr>
          <p:cNvPr id="3" name="Fußzeilenplatzhalter"/>
          <p:cNvSpPr>
            <a:spLocks noGrp="1"/>
          </p:cNvSpPr>
          <p:nvPr>
            <p:ph type="ftr" sz="quarter" idx="3"/>
          </p:nvPr>
        </p:nvSpPr>
        <p:spPr/>
        <p:txBody>
          <a:bodyPr/>
          <a:lstStyle/>
          <a:p>
            <a:r>
              <a:rPr lang="de-CH">
                <a:solidFill>
                  <a:srgbClr val="012C59"/>
                </a:solidFill>
              </a:rPr>
              <a:t>CAS Pricing | Gruppe 2</a:t>
            </a:r>
          </a:p>
        </p:txBody>
      </p:sp>
      <p:sp>
        <p:nvSpPr>
          <p:cNvPr id="4" name="Foliennummernplatzhalter"/>
          <p:cNvSpPr>
            <a:spLocks noGrp="1"/>
          </p:cNvSpPr>
          <p:nvPr>
            <p:ph type="sldNum" sz="quarter" idx="4"/>
          </p:nvPr>
        </p:nvSpPr>
        <p:spPr/>
        <p:txBody>
          <a:bodyPr/>
          <a:lstStyle/>
          <a:p>
            <a:fld id="{05F9AC53-F790-4868-97E7-45E3866EE614}" type="slidenum">
              <a:rPr lang="de-CH"/>
              <a:t>13</a:t>
            </a:fld>
            <a:endParaRPr lang="de-CH"/>
          </a:p>
        </p:txBody>
      </p:sp>
      <p:graphicFrame>
        <p:nvGraphicFramePr>
          <p:cNvPr id="5" name="Tabelle GG"/>
          <p:cNvGraphicFramePr>
            <a:graphicFrameLocks noGrp="1"/>
          </p:cNvGraphicFramePr>
          <p:nvPr/>
        </p:nvGraphicFramePr>
        <p:xfrm>
          <a:off x="365760" y="1280160"/>
          <a:ext cx="8412478" cy="3291840"/>
        </p:xfrm>
        <a:graphic>
          <a:graphicData uri="http://schemas.openxmlformats.org/drawingml/2006/table">
            <a:tbl>
              <a:tblPr>
                <a:tableStyleId>{2D5ABB26-0587-4C30-8999-92F81FD0307C}</a:tableStyleId>
              </a:tblPr>
              <a:tblGrid>
                <a:gridCol w="3579778">
                  <a:extLst>
                    <a:ext uri="{9D8B030D-6E8A-4147-A177-3AD203B41FA5}">
                      <a16:colId xmlns:a16="http://schemas.microsoft.com/office/drawing/2014/main" val="20000"/>
                    </a:ext>
                  </a:extLst>
                </a:gridCol>
                <a:gridCol w="1610900">
                  <a:extLst>
                    <a:ext uri="{9D8B030D-6E8A-4147-A177-3AD203B41FA5}">
                      <a16:colId xmlns:a16="http://schemas.microsoft.com/office/drawing/2014/main" val="20001"/>
                    </a:ext>
                  </a:extLst>
                </a:gridCol>
                <a:gridCol w="1610900">
                  <a:extLst>
                    <a:ext uri="{9D8B030D-6E8A-4147-A177-3AD203B41FA5}">
                      <a16:colId xmlns:a16="http://schemas.microsoft.com/office/drawing/2014/main" val="20002"/>
                    </a:ext>
                  </a:extLst>
                </a:gridCol>
                <a:gridCol w="1610900">
                  <a:extLst>
                    <a:ext uri="{9D8B030D-6E8A-4147-A177-3AD203B41FA5}">
                      <a16:colId xmlns:a16="http://schemas.microsoft.com/office/drawing/2014/main" val="20003"/>
                    </a:ext>
                  </a:extLst>
                </a:gridCol>
              </a:tblGrid>
              <a:tr h="365760">
                <a:tc>
                  <a:txBody>
                    <a:bodyPr/>
                    <a:lstStyle/>
                    <a:p>
                      <a:pPr algn="l"/>
                      <a:r>
                        <a:rPr sz="1200" b="1">
                          <a:solidFill>
                            <a:srgbClr val="FFFFFF"/>
                          </a:solidFill>
                          <a:latin typeface="Arial"/>
                        </a:rPr>
                        <a:t>Kennzahl</a:t>
                      </a:r>
                    </a:p>
                  </a:txBody>
                  <a:tcPr marL="73152" marR="73152" marT="27432" marB="27432" anchor="ctr">
                    <a:solidFill>
                      <a:srgbClr val="002C59"/>
                    </a:solidFill>
                  </a:tcPr>
                </a:tc>
                <a:tc>
                  <a:txBody>
                    <a:bodyPr/>
                    <a:lstStyle/>
                    <a:p>
                      <a:pPr algn="ctr"/>
                      <a:r>
                        <a:rPr sz="1200" b="1">
                          <a:solidFill>
                            <a:srgbClr val="FFFFFF"/>
                          </a:solidFill>
                          <a:latin typeface="Arial"/>
                        </a:rPr>
                        <a:t>Basis-Bad</a:t>
                      </a:r>
                    </a:p>
                  </a:txBody>
                  <a:tcPr marL="73152" marR="73152" marT="27432" marB="27432" anchor="ctr">
                    <a:solidFill>
                      <a:srgbClr val="002C59"/>
                    </a:solidFill>
                  </a:tcPr>
                </a:tc>
                <a:tc>
                  <a:txBody>
                    <a:bodyPr/>
                    <a:lstStyle/>
                    <a:p>
                      <a:pPr algn="ctr"/>
                      <a:r>
                        <a:rPr sz="1200" b="1">
                          <a:solidFill>
                            <a:srgbClr val="FFFFFF"/>
                          </a:solidFill>
                          <a:latin typeface="Arial"/>
                        </a:rPr>
                        <a:t>Komfort-Bad</a:t>
                      </a:r>
                    </a:p>
                  </a:txBody>
                  <a:tcPr marL="73152" marR="73152" marT="27432" marB="27432" anchor="ctr">
                    <a:solidFill>
                      <a:srgbClr val="002C59"/>
                    </a:solidFill>
                  </a:tcPr>
                </a:tc>
                <a:tc>
                  <a:txBody>
                    <a:bodyPr/>
                    <a:lstStyle/>
                    <a:p>
                      <a:pPr algn="ctr"/>
                      <a:r>
                        <a:rPr sz="1200" b="1">
                          <a:solidFill>
                            <a:srgbClr val="FFFFFF"/>
                          </a:solidFill>
                          <a:latin typeface="Arial"/>
                        </a:rPr>
                        <a:t>Premium-Bad</a:t>
                      </a:r>
                    </a:p>
                  </a:txBody>
                  <a:tcPr marL="73152" marR="73152" marT="27432" marB="27432" anchor="ctr">
                    <a:solidFill>
                      <a:srgbClr val="002C59"/>
                    </a:solidFill>
                  </a:tcPr>
                </a:tc>
                <a:extLst>
                  <a:ext uri="{0D108BD9-81ED-4DB2-BD59-A6C34878D82A}">
                    <a16:rowId xmlns:a16="http://schemas.microsoft.com/office/drawing/2014/main" val="10000"/>
                  </a:ext>
                </a:extLst>
              </a:tr>
              <a:tr h="365760">
                <a:tc>
                  <a:txBody>
                    <a:bodyPr/>
                    <a:lstStyle/>
                    <a:p>
                      <a:pPr algn="l"/>
                      <a:r>
                        <a:rPr sz="1200" b="1">
                          <a:solidFill>
                            <a:srgbClr val="002C59"/>
                          </a:solidFill>
                          <a:latin typeface="Arial"/>
                        </a:rPr>
                        <a:t>Mittelwert Schwellenpreis, CHF (95-%-KI)</a:t>
                      </a:r>
                    </a:p>
                  </a:txBody>
                  <a:tcPr marL="73152" marR="73152" marT="27432" marB="27432" anchor="ctr">
                    <a:solidFill>
                      <a:srgbClr val="EAF1F8"/>
                    </a:solidFill>
                  </a:tcPr>
                </a:tc>
                <a:tc>
                  <a:txBody>
                    <a:bodyPr/>
                    <a:lstStyle/>
                    <a:p>
                      <a:pPr algn="ctr"/>
                      <a:r>
                        <a:rPr sz="1200" b="0">
                          <a:solidFill>
                            <a:srgbClr val="002C59"/>
                          </a:solidFill>
                          <a:latin typeface="Arial"/>
                        </a:rPr>
                        <a:t>12.8 (5.5–21.0)</a:t>
                      </a:r>
                    </a:p>
                  </a:txBody>
                  <a:tcPr marL="73152" marR="73152" marT="27432" marB="27432" anchor="ctr">
                    <a:solidFill>
                      <a:srgbClr val="EAF1F8"/>
                    </a:solidFill>
                  </a:tcPr>
                </a:tc>
                <a:tc>
                  <a:txBody>
                    <a:bodyPr/>
                    <a:lstStyle/>
                    <a:p>
                      <a:pPr algn="ctr"/>
                      <a:r>
                        <a:rPr sz="1200" b="0">
                          <a:solidFill>
                            <a:srgbClr val="002C59"/>
                          </a:solidFill>
                          <a:latin typeface="Arial"/>
                        </a:rPr>
                        <a:t>17.8 (9.5–26.8)</a:t>
                      </a:r>
                    </a:p>
                  </a:txBody>
                  <a:tcPr marL="73152" marR="73152" marT="27432" marB="27432" anchor="ctr">
                    <a:solidFill>
                      <a:srgbClr val="EAF1F8"/>
                    </a:solidFill>
                  </a:tcPr>
                </a:tc>
                <a:tc>
                  <a:txBody>
                    <a:bodyPr/>
                    <a:lstStyle/>
                    <a:p>
                      <a:pPr algn="ctr"/>
                      <a:r>
                        <a:rPr sz="1200" b="0">
                          <a:solidFill>
                            <a:srgbClr val="002C59"/>
                          </a:solidFill>
                          <a:latin typeface="Arial"/>
                        </a:rPr>
                        <a:t>21.8 (13.8–30.3)</a:t>
                      </a:r>
                    </a:p>
                  </a:txBody>
                  <a:tcPr marL="73152" marR="73152" marT="27432" marB="27432" anchor="ctr">
                    <a:solidFill>
                      <a:srgbClr val="EAF1F8"/>
                    </a:solidFill>
                  </a:tcPr>
                </a:tc>
                <a:extLst>
                  <a:ext uri="{0D108BD9-81ED-4DB2-BD59-A6C34878D82A}">
                    <a16:rowId xmlns:a16="http://schemas.microsoft.com/office/drawing/2014/main" val="10001"/>
                  </a:ext>
                </a:extLst>
              </a:tr>
              <a:tr h="365760">
                <a:tc>
                  <a:txBody>
                    <a:bodyPr/>
                    <a:lstStyle/>
                    <a:p>
                      <a:pPr algn="l"/>
                      <a:r>
                        <a:rPr sz="1200" b="1">
                          <a:solidFill>
                            <a:srgbClr val="002C59"/>
                          </a:solidFill>
                          <a:latin typeface="Arial"/>
                        </a:rPr>
                        <a:t>Median, CHF</a:t>
                      </a:r>
                    </a:p>
                  </a:txBody>
                  <a:tcPr marL="73152" marR="73152" marT="27432" marB="27432" anchor="ctr">
                    <a:solidFill>
                      <a:srgbClr val="FFFFFF"/>
                    </a:solidFill>
                  </a:tcPr>
                </a:tc>
                <a:tc>
                  <a:txBody>
                    <a:bodyPr/>
                    <a:lstStyle/>
                    <a:p>
                      <a:pPr algn="ctr"/>
                      <a:r>
                        <a:rPr sz="1200" b="0">
                          <a:solidFill>
                            <a:srgbClr val="002C59"/>
                          </a:solidFill>
                          <a:latin typeface="Arial"/>
                        </a:rPr>
                        <a:t>2.5</a:t>
                      </a:r>
                    </a:p>
                  </a:txBody>
                  <a:tcPr marL="73152" marR="73152" marT="27432" marB="27432" anchor="ctr">
                    <a:solidFill>
                      <a:srgbClr val="FFFFFF"/>
                    </a:solidFill>
                  </a:tcPr>
                </a:tc>
                <a:tc>
                  <a:txBody>
                    <a:bodyPr/>
                    <a:lstStyle/>
                    <a:p>
                      <a:pPr algn="ctr"/>
                      <a:r>
                        <a:rPr sz="1200" b="0">
                          <a:solidFill>
                            <a:srgbClr val="002C59"/>
                          </a:solidFill>
                          <a:latin typeface="Arial"/>
                        </a:rPr>
                        <a:t>10.0</a:t>
                      </a:r>
                    </a:p>
                  </a:txBody>
                  <a:tcPr marL="73152" marR="73152" marT="27432" marB="27432" anchor="ctr">
                    <a:solidFill>
                      <a:srgbClr val="FFFFFF"/>
                    </a:solidFill>
                  </a:tcPr>
                </a:tc>
                <a:tc>
                  <a:txBody>
                    <a:bodyPr/>
                    <a:lstStyle/>
                    <a:p>
                      <a:pPr algn="ctr"/>
                      <a:r>
                        <a:rPr sz="1200" b="0">
                          <a:solidFill>
                            <a:srgbClr val="002C59"/>
                          </a:solidFill>
                          <a:latin typeface="Arial"/>
                        </a:rPr>
                        <a:t>20.0</a:t>
                      </a:r>
                    </a:p>
                  </a:txBody>
                  <a:tcPr marL="73152" marR="73152" marT="27432" marB="27432" anchor="ctr">
                    <a:solidFill>
                      <a:srgbClr val="FFFFFF"/>
                    </a:solidFill>
                  </a:tcPr>
                </a:tc>
                <a:extLst>
                  <a:ext uri="{0D108BD9-81ED-4DB2-BD59-A6C34878D82A}">
                    <a16:rowId xmlns:a16="http://schemas.microsoft.com/office/drawing/2014/main" val="10002"/>
                  </a:ext>
                </a:extLst>
              </a:tr>
              <a:tr h="365760">
                <a:tc>
                  <a:txBody>
                    <a:bodyPr/>
                    <a:lstStyle/>
                    <a:p>
                      <a:pPr algn="l"/>
                      <a:r>
                        <a:rPr sz="1200" b="1">
                          <a:solidFill>
                            <a:srgbClr val="002C59"/>
                          </a:solidFill>
                          <a:latin typeface="Arial"/>
                        </a:rPr>
                        <a:t>Standardabweichung, CHF</a:t>
                      </a:r>
                    </a:p>
                  </a:txBody>
                  <a:tcPr marL="73152" marR="73152" marT="27432" marB="27432" anchor="ctr">
                    <a:solidFill>
                      <a:srgbClr val="EAF1F8"/>
                    </a:solidFill>
                  </a:tcPr>
                </a:tc>
                <a:tc>
                  <a:txBody>
                    <a:bodyPr/>
                    <a:lstStyle/>
                    <a:p>
                      <a:pPr algn="ctr"/>
                      <a:r>
                        <a:rPr sz="1200" b="0">
                          <a:solidFill>
                            <a:srgbClr val="002C59"/>
                          </a:solidFill>
                          <a:latin typeface="Arial"/>
                        </a:rPr>
                        <a:t>18.0</a:t>
                      </a:r>
                    </a:p>
                  </a:txBody>
                  <a:tcPr marL="73152" marR="73152" marT="27432" marB="27432" anchor="ctr">
                    <a:solidFill>
                      <a:srgbClr val="EAF1F8"/>
                    </a:solidFill>
                  </a:tcPr>
                </a:tc>
                <a:tc>
                  <a:txBody>
                    <a:bodyPr/>
                    <a:lstStyle/>
                    <a:p>
                      <a:pPr algn="ctr"/>
                      <a:r>
                        <a:rPr sz="1200" b="0">
                          <a:solidFill>
                            <a:srgbClr val="002C59"/>
                          </a:solidFill>
                          <a:latin typeface="Arial"/>
                        </a:rPr>
                        <a:t>20.0</a:t>
                      </a:r>
                    </a:p>
                  </a:txBody>
                  <a:tcPr marL="73152" marR="73152" marT="27432" marB="27432" anchor="ctr">
                    <a:solidFill>
                      <a:srgbClr val="EAF1F8"/>
                    </a:solidFill>
                  </a:tcPr>
                </a:tc>
                <a:tc>
                  <a:txBody>
                    <a:bodyPr/>
                    <a:lstStyle/>
                    <a:p>
                      <a:pPr algn="ctr"/>
                      <a:r>
                        <a:rPr sz="1200" b="0">
                          <a:solidFill>
                            <a:srgbClr val="002C59"/>
                          </a:solidFill>
                          <a:latin typeface="Arial"/>
                        </a:rPr>
                        <a:t>19.6</a:t>
                      </a:r>
                    </a:p>
                  </a:txBody>
                  <a:tcPr marL="73152" marR="73152" marT="27432" marB="27432" anchor="ctr">
                    <a:solidFill>
                      <a:srgbClr val="EAF1F8"/>
                    </a:solidFill>
                  </a:tcPr>
                </a:tc>
                <a:extLst>
                  <a:ext uri="{0D108BD9-81ED-4DB2-BD59-A6C34878D82A}">
                    <a16:rowId xmlns:a16="http://schemas.microsoft.com/office/drawing/2014/main" val="10003"/>
                  </a:ext>
                </a:extLst>
              </a:tr>
              <a:tr h="365760">
                <a:tc>
                  <a:txBody>
                    <a:bodyPr/>
                    <a:lstStyle/>
                    <a:p>
                      <a:pPr algn="l"/>
                      <a:r>
                        <a:rPr sz="1200" b="1">
                          <a:solidFill>
                            <a:srgbClr val="002C59"/>
                          </a:solidFill>
                          <a:latin typeface="Arial"/>
                        </a:rPr>
                        <a:t>Anteil mit höchstens CHF 5</a:t>
                      </a:r>
                    </a:p>
                  </a:txBody>
                  <a:tcPr marL="73152" marR="73152" marT="27432" marB="27432" anchor="ctr">
                    <a:solidFill>
                      <a:srgbClr val="FFFFFF"/>
                    </a:solidFill>
                  </a:tcPr>
                </a:tc>
                <a:tc>
                  <a:txBody>
                    <a:bodyPr/>
                    <a:lstStyle/>
                    <a:p>
                      <a:pPr algn="ctr"/>
                      <a:r>
                        <a:rPr sz="1200" b="0">
                          <a:solidFill>
                            <a:srgbClr val="002C59"/>
                          </a:solidFill>
                          <a:latin typeface="Arial"/>
                        </a:rPr>
                        <a:t>55 %</a:t>
                      </a:r>
                    </a:p>
                  </a:txBody>
                  <a:tcPr marL="73152" marR="73152" marT="27432" marB="27432" anchor="ctr">
                    <a:solidFill>
                      <a:srgbClr val="FFFFFF"/>
                    </a:solidFill>
                  </a:tcPr>
                </a:tc>
                <a:tc>
                  <a:txBody>
                    <a:bodyPr/>
                    <a:lstStyle/>
                    <a:p>
                      <a:pPr algn="ctr"/>
                      <a:r>
                        <a:rPr sz="1200" b="0">
                          <a:solidFill>
                            <a:srgbClr val="002C59"/>
                          </a:solidFill>
                          <a:latin typeface="Arial"/>
                        </a:rPr>
                        <a:t>35 %</a:t>
                      </a:r>
                    </a:p>
                  </a:txBody>
                  <a:tcPr marL="73152" marR="73152" marT="27432" marB="27432" anchor="ctr">
                    <a:solidFill>
                      <a:srgbClr val="FFFFFF"/>
                    </a:solidFill>
                  </a:tcPr>
                </a:tc>
                <a:tc>
                  <a:txBody>
                    <a:bodyPr/>
                    <a:lstStyle/>
                    <a:p>
                      <a:pPr algn="ctr"/>
                      <a:r>
                        <a:rPr sz="1200" b="0">
                          <a:solidFill>
                            <a:srgbClr val="002C59"/>
                          </a:solidFill>
                          <a:latin typeface="Arial"/>
                        </a:rPr>
                        <a:t>30 %</a:t>
                      </a:r>
                    </a:p>
                  </a:txBody>
                  <a:tcPr marL="73152" marR="73152" marT="27432" marB="27432" anchor="ctr">
                    <a:solidFill>
                      <a:srgbClr val="FFFFFF"/>
                    </a:solidFill>
                  </a:tcPr>
                </a:tc>
                <a:extLst>
                  <a:ext uri="{0D108BD9-81ED-4DB2-BD59-A6C34878D82A}">
                    <a16:rowId xmlns:a16="http://schemas.microsoft.com/office/drawing/2014/main" val="10004"/>
                  </a:ext>
                </a:extLst>
              </a:tr>
              <a:tr h="365760">
                <a:tc>
                  <a:txBody>
                    <a:bodyPr/>
                    <a:lstStyle/>
                    <a:p>
                      <a:pPr algn="l"/>
                      <a:r>
                        <a:rPr sz="1200" b="1">
                          <a:solidFill>
                            <a:srgbClr val="002C59"/>
                          </a:solidFill>
                          <a:latin typeface="Arial"/>
                        </a:rPr>
                        <a:t>Anteil mit mindestens CHF 45</a:t>
                      </a:r>
                    </a:p>
                  </a:txBody>
                  <a:tcPr marL="73152" marR="73152" marT="27432" marB="27432" anchor="ctr">
                    <a:solidFill>
                      <a:srgbClr val="EAF1F8"/>
                    </a:solidFill>
                  </a:tcPr>
                </a:tc>
                <a:tc>
                  <a:txBody>
                    <a:bodyPr/>
                    <a:lstStyle/>
                    <a:p>
                      <a:pPr algn="ctr"/>
                      <a:r>
                        <a:rPr sz="1200" b="0">
                          <a:solidFill>
                            <a:srgbClr val="002C59"/>
                          </a:solidFill>
                          <a:latin typeface="Arial"/>
                        </a:rPr>
                        <a:t>15 %</a:t>
                      </a:r>
                    </a:p>
                  </a:txBody>
                  <a:tcPr marL="73152" marR="73152" marT="27432" marB="27432" anchor="ctr">
                    <a:solidFill>
                      <a:srgbClr val="EAF1F8"/>
                    </a:solidFill>
                  </a:tcPr>
                </a:tc>
                <a:tc>
                  <a:txBody>
                    <a:bodyPr/>
                    <a:lstStyle/>
                    <a:p>
                      <a:pPr algn="ctr"/>
                      <a:r>
                        <a:rPr sz="1200" b="0">
                          <a:solidFill>
                            <a:srgbClr val="002C59"/>
                          </a:solidFill>
                          <a:latin typeface="Arial"/>
                        </a:rPr>
                        <a:t>15 %</a:t>
                      </a:r>
                    </a:p>
                  </a:txBody>
                  <a:tcPr marL="73152" marR="73152" marT="27432" marB="27432" anchor="ctr">
                    <a:solidFill>
                      <a:srgbClr val="EAF1F8"/>
                    </a:solidFill>
                  </a:tcPr>
                </a:tc>
                <a:tc>
                  <a:txBody>
                    <a:bodyPr/>
                    <a:lstStyle/>
                    <a:p>
                      <a:pPr algn="ctr"/>
                      <a:r>
                        <a:rPr sz="1200" b="0">
                          <a:solidFill>
                            <a:srgbClr val="002C59"/>
                          </a:solidFill>
                          <a:latin typeface="Arial"/>
                        </a:rPr>
                        <a:t>20 %</a:t>
                      </a:r>
                    </a:p>
                  </a:txBody>
                  <a:tcPr marL="73152" marR="73152" marT="27432" marB="27432" anchor="ctr">
                    <a:solidFill>
                      <a:srgbClr val="EAF1F8"/>
                    </a:solidFill>
                  </a:tcPr>
                </a:tc>
                <a:extLst>
                  <a:ext uri="{0D108BD9-81ED-4DB2-BD59-A6C34878D82A}">
                    <a16:rowId xmlns:a16="http://schemas.microsoft.com/office/drawing/2014/main" val="10005"/>
                  </a:ext>
                </a:extLst>
              </a:tr>
              <a:tr h="365760">
                <a:tc>
                  <a:txBody>
                    <a:bodyPr/>
                    <a:lstStyle/>
                    <a:p>
                      <a:pPr algn="l"/>
                      <a:r>
                        <a:rPr sz="1200" b="1">
                          <a:solidFill>
                            <a:srgbClr val="002C59"/>
                          </a:solidFill>
                          <a:latin typeface="Arial"/>
                        </a:rPr>
                        <a:t>Zustimmung bei CHF 15</a:t>
                      </a:r>
                    </a:p>
                  </a:txBody>
                  <a:tcPr marL="73152" marR="73152" marT="27432" marB="27432" anchor="ctr">
                    <a:solidFill>
                      <a:srgbClr val="FFFFFF"/>
                    </a:solidFill>
                  </a:tcPr>
                </a:tc>
                <a:tc>
                  <a:txBody>
                    <a:bodyPr/>
                    <a:lstStyle/>
                    <a:p>
                      <a:pPr algn="ctr"/>
                      <a:r>
                        <a:rPr sz="1200" b="0">
                          <a:solidFill>
                            <a:srgbClr val="002C59"/>
                          </a:solidFill>
                          <a:latin typeface="Arial"/>
                        </a:rPr>
                        <a:t>35 %</a:t>
                      </a:r>
                    </a:p>
                  </a:txBody>
                  <a:tcPr marL="73152" marR="73152" marT="27432" marB="27432" anchor="ctr">
                    <a:solidFill>
                      <a:srgbClr val="FFFFFF"/>
                    </a:solidFill>
                  </a:tcPr>
                </a:tc>
                <a:tc>
                  <a:txBody>
                    <a:bodyPr/>
                    <a:lstStyle/>
                    <a:p>
                      <a:pPr algn="ctr"/>
                      <a:r>
                        <a:rPr sz="1200" b="0">
                          <a:solidFill>
                            <a:srgbClr val="002C59"/>
                          </a:solidFill>
                          <a:latin typeface="Arial"/>
                        </a:rPr>
                        <a:t>45 %</a:t>
                      </a:r>
                    </a:p>
                  </a:txBody>
                  <a:tcPr marL="73152" marR="73152" marT="27432" marB="27432" anchor="ctr">
                    <a:solidFill>
                      <a:srgbClr val="FFFFFF"/>
                    </a:solidFill>
                  </a:tcPr>
                </a:tc>
                <a:tc>
                  <a:txBody>
                    <a:bodyPr/>
                    <a:lstStyle/>
                    <a:p>
                      <a:pPr algn="ctr"/>
                      <a:r>
                        <a:rPr sz="1200" b="0">
                          <a:solidFill>
                            <a:srgbClr val="002C59"/>
                          </a:solidFill>
                          <a:latin typeface="Arial"/>
                        </a:rPr>
                        <a:t>65 %</a:t>
                      </a:r>
                    </a:p>
                  </a:txBody>
                  <a:tcPr marL="73152" marR="73152" marT="27432" marB="27432" anchor="ctr">
                    <a:solidFill>
                      <a:srgbClr val="FFFFFF"/>
                    </a:solidFill>
                  </a:tcPr>
                </a:tc>
                <a:extLst>
                  <a:ext uri="{0D108BD9-81ED-4DB2-BD59-A6C34878D82A}">
                    <a16:rowId xmlns:a16="http://schemas.microsoft.com/office/drawing/2014/main" val="10006"/>
                  </a:ext>
                </a:extLst>
              </a:tr>
              <a:tr h="365760">
                <a:tc>
                  <a:txBody>
                    <a:bodyPr/>
                    <a:lstStyle/>
                    <a:p>
                      <a:pPr algn="l"/>
                      <a:r>
                        <a:rPr sz="1200" b="1">
                          <a:solidFill>
                            <a:srgbClr val="002C59"/>
                          </a:solidFill>
                          <a:latin typeface="Arial"/>
                        </a:rPr>
                        <a:t>Optimaler Aufpreis, alle (Index)</a:t>
                      </a:r>
                    </a:p>
                  </a:txBody>
                  <a:tcPr marL="73152" marR="73152" marT="27432" marB="27432" anchor="ctr">
                    <a:solidFill>
                      <a:srgbClr val="EAF1F8"/>
                    </a:solidFill>
                  </a:tcPr>
                </a:tc>
                <a:tc>
                  <a:txBody>
                    <a:bodyPr/>
                    <a:lstStyle/>
                    <a:p>
                      <a:pPr algn="ctr"/>
                      <a:r>
                        <a:rPr sz="1200" b="0">
                          <a:solidFill>
                            <a:srgbClr val="002C59"/>
                          </a:solidFill>
                          <a:latin typeface="Arial"/>
                        </a:rPr>
                        <a:t>CHF 50 (7.5)</a:t>
                      </a:r>
                    </a:p>
                  </a:txBody>
                  <a:tcPr marL="73152" marR="73152" marT="27432" marB="27432" anchor="ctr">
                    <a:solidFill>
                      <a:srgbClr val="EAF1F8"/>
                    </a:solidFill>
                  </a:tcPr>
                </a:tc>
                <a:tc>
                  <a:txBody>
                    <a:bodyPr/>
                    <a:lstStyle/>
                    <a:p>
                      <a:pPr algn="ctr"/>
                      <a:r>
                        <a:rPr sz="1200" b="0">
                          <a:solidFill>
                            <a:srgbClr val="002C59"/>
                          </a:solidFill>
                          <a:latin typeface="Arial"/>
                        </a:rPr>
                        <a:t>CHF 55 (8.3)</a:t>
                      </a:r>
                    </a:p>
                  </a:txBody>
                  <a:tcPr marL="73152" marR="73152" marT="27432" marB="27432" anchor="ctr">
                    <a:solidFill>
                      <a:srgbClr val="EAF1F8"/>
                    </a:solidFill>
                  </a:tcPr>
                </a:tc>
                <a:tc>
                  <a:txBody>
                    <a:bodyPr/>
                    <a:lstStyle/>
                    <a:p>
                      <a:pPr algn="ctr"/>
                      <a:r>
                        <a:rPr sz="1200" b="0">
                          <a:solidFill>
                            <a:srgbClr val="002C59"/>
                          </a:solidFill>
                          <a:latin typeface="Arial"/>
                        </a:rPr>
                        <a:t>CHF 20 (13.0)</a:t>
                      </a:r>
                    </a:p>
                  </a:txBody>
                  <a:tcPr marL="73152" marR="73152" marT="27432" marB="27432" anchor="ctr">
                    <a:solidFill>
                      <a:srgbClr val="EAF1F8"/>
                    </a:solidFill>
                  </a:tcPr>
                </a:tc>
                <a:extLst>
                  <a:ext uri="{0D108BD9-81ED-4DB2-BD59-A6C34878D82A}">
                    <a16:rowId xmlns:a16="http://schemas.microsoft.com/office/drawing/2014/main" val="10007"/>
                  </a:ext>
                </a:extLst>
              </a:tr>
              <a:tr h="365760">
                <a:tc>
                  <a:txBody>
                    <a:bodyPr/>
                    <a:lstStyle/>
                    <a:p>
                      <a:pPr algn="l"/>
                      <a:r>
                        <a:rPr sz="1200" b="1">
                          <a:solidFill>
                            <a:srgbClr val="002C59"/>
                          </a:solidFill>
                          <a:latin typeface="Arial"/>
                        </a:rPr>
                        <a:t>Optimum ohne Hochpreis, n = 17 (Index)</a:t>
                      </a:r>
                    </a:p>
                  </a:txBody>
                  <a:tcPr marL="73152" marR="73152" marT="27432" marB="27432" anchor="ctr">
                    <a:solidFill>
                      <a:srgbClr val="FFFFFF"/>
                    </a:solidFill>
                  </a:tcPr>
                </a:tc>
                <a:tc>
                  <a:txBody>
                    <a:bodyPr/>
                    <a:lstStyle/>
                    <a:p>
                      <a:pPr algn="ctr"/>
                      <a:r>
                        <a:rPr sz="1200" b="0">
                          <a:solidFill>
                            <a:srgbClr val="002C59"/>
                          </a:solidFill>
                          <a:latin typeface="Arial"/>
                        </a:rPr>
                        <a:t>CHF 10 bis 20 (6.0)</a:t>
                      </a:r>
                    </a:p>
                  </a:txBody>
                  <a:tcPr marL="73152" marR="73152" marT="27432" marB="27432" anchor="ctr">
                    <a:solidFill>
                      <a:srgbClr val="FFFFFF"/>
                    </a:solidFill>
                  </a:tcPr>
                </a:tc>
                <a:tc>
                  <a:txBody>
                    <a:bodyPr/>
                    <a:lstStyle/>
                    <a:p>
                      <a:pPr algn="ctr"/>
                      <a:r>
                        <a:rPr sz="1200" b="0">
                          <a:solidFill>
                            <a:srgbClr val="002C59"/>
                          </a:solidFill>
                          <a:latin typeface="Arial"/>
                        </a:rPr>
                        <a:t>CHF 10 (5.9)</a:t>
                      </a:r>
                    </a:p>
                  </a:txBody>
                  <a:tcPr marL="73152" marR="73152" marT="27432" marB="27432" anchor="ctr">
                    <a:solidFill>
                      <a:srgbClr val="FFFFFF"/>
                    </a:solidFill>
                  </a:tcPr>
                </a:tc>
                <a:tc>
                  <a:txBody>
                    <a:bodyPr/>
                    <a:lstStyle/>
                    <a:p>
                      <a:pPr algn="ctr"/>
                      <a:r>
                        <a:rPr sz="1200" b="0">
                          <a:solidFill>
                            <a:srgbClr val="002C59"/>
                          </a:solidFill>
                          <a:latin typeface="Arial"/>
                        </a:rPr>
                        <a:t>CHF 20 (11.8)</a:t>
                      </a:r>
                    </a:p>
                  </a:txBody>
                  <a:tcPr marL="73152" marR="73152" marT="27432" marB="27432" anchor="ctr">
                    <a:solidFill>
                      <a:srgbClr val="FFFFFF"/>
                    </a:solidFill>
                  </a:tcPr>
                </a:tc>
                <a:extLst>
                  <a:ext uri="{0D108BD9-81ED-4DB2-BD59-A6C34878D82A}">
                    <a16:rowId xmlns:a16="http://schemas.microsoft.com/office/drawing/2014/main" val="10008"/>
                  </a:ext>
                </a:extLst>
              </a:tr>
            </a:tbl>
          </a:graphicData>
        </a:graphic>
      </p:graphicFrame>
      <p:sp>
        <p:nvSpPr>
          <p:cNvPr id="6" name="TextBox 5"/>
          <p:cNvSpPr txBox="1"/>
          <p:nvPr/>
        </p:nvSpPr>
        <p:spPr>
          <a:xfrm>
            <a:off x="365760" y="4663440"/>
            <a:ext cx="8412480" cy="201168"/>
          </a:xfrm>
          <a:prstGeom prst="rect">
            <a:avLst/>
          </a:prstGeom>
          <a:noFill/>
        </p:spPr>
        <p:txBody>
          <a:bodyPr wrap="square" lIns="0" tIns="0" rIns="0" bIns="0" anchor="t">
            <a:spAutoFit/>
          </a:bodyPr>
          <a:lstStyle/>
          <a:p>
            <a:pPr algn="l"/>
            <a:r>
              <a:rPr sz="1000" b="0" i="0">
                <a:solidFill>
                  <a:srgbClr val="646464"/>
                </a:solidFill>
                <a:latin typeface="Arial"/>
              </a:rPr>
              <a:t>Schwellenpreis = höchster akzeptierter Preis. KI = Bootstrap (5'000 Ziehungen). Umsatzindex = Preis × Zustimmungsanteil.</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A2: Statistische Absicherung der Gabor-Granger-Analyse</a:t>
            </a:r>
          </a:p>
        </p:txBody>
      </p:sp>
      <p:sp>
        <p:nvSpPr>
          <p:cNvPr id="3" name="Fußzeilenplatzhalter"/>
          <p:cNvSpPr>
            <a:spLocks noGrp="1"/>
          </p:cNvSpPr>
          <p:nvPr>
            <p:ph type="ftr" sz="quarter" idx="3"/>
          </p:nvPr>
        </p:nvSpPr>
        <p:spPr/>
        <p:txBody>
          <a:bodyPr/>
          <a:lstStyle/>
          <a:p>
            <a:r>
              <a:rPr lang="de-CH">
                <a:solidFill>
                  <a:srgbClr val="012C59"/>
                </a:solidFill>
              </a:rPr>
              <a:t>CAS Pricing | Gruppe 2</a:t>
            </a:r>
          </a:p>
        </p:txBody>
      </p:sp>
      <p:sp>
        <p:nvSpPr>
          <p:cNvPr id="4" name="Foliennummernplatzhalter"/>
          <p:cNvSpPr>
            <a:spLocks noGrp="1"/>
          </p:cNvSpPr>
          <p:nvPr>
            <p:ph type="sldNum" sz="quarter" idx="4"/>
          </p:nvPr>
        </p:nvSpPr>
        <p:spPr/>
        <p:txBody>
          <a:bodyPr/>
          <a:lstStyle/>
          <a:p>
            <a:fld id="{05F9AC53-F790-4868-97E7-45E3866EE614}" type="slidenum">
              <a:rPr lang="de-CH"/>
              <a:t>14</a:t>
            </a:fld>
            <a:endParaRPr lang="de-CH"/>
          </a:p>
        </p:txBody>
      </p:sp>
      <p:pic>
        <p:nvPicPr>
          <p:cNvPr id="5" name="Abbildung Robustheit" descr="res_robust.png"/>
          <p:cNvPicPr>
            <a:picLocks noChangeAspect="1"/>
          </p:cNvPicPr>
          <p:nvPr/>
        </p:nvPicPr>
        <p:blipFill>
          <a:blip r:embed="rId3"/>
          <a:stretch>
            <a:fillRect/>
          </a:stretch>
        </p:blipFill>
        <p:spPr>
          <a:xfrm>
            <a:off x="365760" y="1234440"/>
            <a:ext cx="4690615" cy="3520440"/>
          </a:xfrm>
          <a:prstGeom prst="rect">
            <a:avLst/>
          </a:prstGeom>
        </p:spPr>
      </p:pic>
      <p:sp>
        <p:nvSpPr>
          <p:cNvPr id="6" name="Text Absicherung"/>
          <p:cNvSpPr txBox="1"/>
          <p:nvPr/>
        </p:nvSpPr>
        <p:spPr>
          <a:xfrm>
            <a:off x="5029200" y="1280160"/>
            <a:ext cx="3749039" cy="3474720"/>
          </a:xfrm>
          <a:prstGeom prst="rect">
            <a:avLst/>
          </a:prstGeom>
          <a:noFill/>
        </p:spPr>
        <p:txBody>
          <a:bodyPr wrap="square" lIns="0" tIns="0" rIns="0" bIns="0" anchor="t">
            <a:spAutoFit/>
          </a:bodyPr>
          <a:lstStyle/>
          <a:p>
            <a:pPr marL="171450" indent="-171450" algn="l">
              <a:spcAft>
                <a:spcPts val="600"/>
              </a:spcAft>
              <a:buFont typeface="Arial"/>
              <a:buChar char="•"/>
            </a:pPr>
            <a:r>
              <a:rPr sz="1200" b="0" i="0">
                <a:solidFill>
                  <a:srgbClr val="002C59"/>
                </a:solidFill>
                <a:latin typeface="Arial"/>
              </a:rPr>
              <a:t>Obere Reihe: Zustimmung mit 95-%-Wilson-Intervall (Premium bei CHF 20: 65 %, 43 bis 82 %).</a:t>
            </a:r>
          </a:p>
          <a:p>
            <a:pPr marL="171450" indent="-171450" algn="l">
              <a:spcAft>
                <a:spcPts val="600"/>
              </a:spcAft>
              <a:buFont typeface="Arial"/>
              <a:buChar char="•"/>
            </a:pPr>
            <a:r>
              <a:rPr sz="1200" b="0" i="0">
                <a:solidFill>
                  <a:srgbClr val="002C59"/>
                </a:solidFill>
                <a:latin typeface="Arial"/>
              </a:rPr>
              <a:t>Untere Reihe: Anteil der 5'000 Bootstrap-Stichproben, in denen ein Preis den Umsatz maximiert.</a:t>
            </a:r>
          </a:p>
          <a:p>
            <a:pPr marL="171450" indent="-171450" algn="l">
              <a:spcAft>
                <a:spcPts val="600"/>
              </a:spcAft>
              <a:buFont typeface="Arial"/>
              <a:buChar char="•"/>
            </a:pPr>
            <a:r>
              <a:rPr sz="1200" b="0" i="0">
                <a:solidFill>
                  <a:srgbClr val="002C59"/>
                </a:solidFill>
                <a:latin typeface="Arial"/>
              </a:rPr>
              <a:t>Basis gegen Komfort: p = .006 (Holm), r = 1.00; Komfort gegen Premium: p = .059.</a:t>
            </a:r>
          </a:p>
          <a:p>
            <a:pPr marL="171450" indent="-171450" algn="l">
              <a:buFont typeface="Arial"/>
              <a:buChar char="•"/>
            </a:pPr>
            <a:r>
              <a:rPr sz="1200" b="0" i="0">
                <a:solidFill>
                  <a:srgbClr val="002C59"/>
                </a:solidFill>
                <a:latin typeface="Arial"/>
              </a:rPr>
              <a:t>Mit n = 20 sind nur Effekte ab d_z = 0.66 entdeckbar (80 % Teststärke).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A3: Teilnutzenwerte der CBC (n = 12)</a:t>
            </a:r>
          </a:p>
        </p:txBody>
      </p:sp>
      <p:sp>
        <p:nvSpPr>
          <p:cNvPr id="3" name="Fußzeilenplatzhalter"/>
          <p:cNvSpPr>
            <a:spLocks noGrp="1"/>
          </p:cNvSpPr>
          <p:nvPr>
            <p:ph type="ftr" sz="quarter" idx="3"/>
          </p:nvPr>
        </p:nvSpPr>
        <p:spPr/>
        <p:txBody>
          <a:bodyPr/>
          <a:lstStyle/>
          <a:p>
            <a:r>
              <a:rPr lang="de-CH">
                <a:solidFill>
                  <a:srgbClr val="012C59"/>
                </a:solidFill>
              </a:rPr>
              <a:t>CAS Pricing | Gruppe 2</a:t>
            </a:r>
          </a:p>
        </p:txBody>
      </p:sp>
      <p:sp>
        <p:nvSpPr>
          <p:cNvPr id="4" name="Foliennummernplatzhalter"/>
          <p:cNvSpPr>
            <a:spLocks noGrp="1"/>
          </p:cNvSpPr>
          <p:nvPr>
            <p:ph type="sldNum" sz="quarter" idx="4"/>
          </p:nvPr>
        </p:nvSpPr>
        <p:spPr/>
        <p:txBody>
          <a:bodyPr/>
          <a:lstStyle/>
          <a:p>
            <a:fld id="{05F9AC53-F790-4868-97E7-45E3866EE614}" type="slidenum">
              <a:rPr lang="de-CH"/>
              <a:t>15</a:t>
            </a:fld>
            <a:endParaRPr lang="de-CH"/>
          </a:p>
        </p:txBody>
      </p:sp>
      <p:pic>
        <p:nvPicPr>
          <p:cNvPr id="5" name="Abbildung Teilnutzenwerte" descr="res_partworths.png"/>
          <p:cNvPicPr>
            <a:picLocks noChangeAspect="1"/>
          </p:cNvPicPr>
          <p:nvPr/>
        </p:nvPicPr>
        <p:blipFill>
          <a:blip r:embed="rId3"/>
          <a:stretch>
            <a:fillRect/>
          </a:stretch>
        </p:blipFill>
        <p:spPr>
          <a:xfrm>
            <a:off x="365760" y="1234440"/>
            <a:ext cx="4656761" cy="3520440"/>
          </a:xfrm>
          <a:prstGeom prst="rect">
            <a:avLst/>
          </a:prstGeom>
        </p:spPr>
      </p:pic>
      <p:sp>
        <p:nvSpPr>
          <p:cNvPr id="6" name="Text Nutzenwerte"/>
          <p:cNvSpPr txBox="1"/>
          <p:nvPr/>
        </p:nvSpPr>
        <p:spPr>
          <a:xfrm>
            <a:off x="5120640" y="1280160"/>
            <a:ext cx="3657600" cy="3474720"/>
          </a:xfrm>
          <a:prstGeom prst="rect">
            <a:avLst/>
          </a:prstGeom>
          <a:noFill/>
        </p:spPr>
        <p:txBody>
          <a:bodyPr wrap="square" lIns="0" tIns="0" rIns="0" bIns="0" anchor="t">
            <a:spAutoFit/>
          </a:bodyPr>
          <a:lstStyle/>
          <a:p>
            <a:pPr marL="171450" indent="-171450" algn="l">
              <a:spcAft>
                <a:spcPts val="600"/>
              </a:spcAft>
              <a:buFont typeface="Arial"/>
              <a:buChar char="•"/>
            </a:pPr>
            <a:r>
              <a:rPr sz="1200" b="0" i="0">
                <a:solidFill>
                  <a:srgbClr val="002C59"/>
                </a:solidFill>
                <a:latin typeface="Arial"/>
              </a:rPr>
              <a:t>Nutzenwerte als Zero-Centered Diffs: Summe der Spannweiten je Person = 500.</a:t>
            </a:r>
          </a:p>
          <a:p>
            <a:pPr marL="171450" indent="-171450" algn="l">
              <a:spcAft>
                <a:spcPts val="600"/>
              </a:spcAft>
              <a:buFont typeface="Arial"/>
              <a:buChar char="•"/>
            </a:pPr>
            <a:r>
              <a:rPr sz="1200" b="0" i="0">
                <a:solidFill>
                  <a:srgbClr val="002C59"/>
                </a:solidFill>
                <a:latin typeface="Arial"/>
              </a:rPr>
              <a:t>Dusche und Waschtisch steigen mit jeder Stufe, beim Spiegel ist die mittlere Stufe am höchsten, die Toilette ist indifferent.</a:t>
            </a:r>
          </a:p>
          <a:p>
            <a:pPr marL="171450" indent="-171450" algn="l">
              <a:spcAft>
                <a:spcPts val="600"/>
              </a:spcAft>
              <a:buFont typeface="Arial"/>
              <a:buChar char="•"/>
            </a:pPr>
            <a:r>
              <a:rPr sz="1200" b="0" i="0">
                <a:solidFill>
                  <a:srgbClr val="002C59"/>
                </a:solidFill>
                <a:latin typeface="Arial"/>
              </a:rPr>
              <a:t>Preisnutzen fällt zwischen CHF 0 und 15 um rund 80 und zwischen CHF 15 und 45 um weitere rund 280 Punkte.</a:t>
            </a:r>
          </a:p>
          <a:p>
            <a:pPr marL="171450" indent="-171450" algn="l">
              <a:buFont typeface="Arial"/>
              <a:buChar char="•"/>
            </a:pPr>
            <a:r>
              <a:rPr sz="1200" b="0" i="0">
                <a:solidFill>
                  <a:srgbClr val="002C59"/>
                </a:solidFill>
                <a:latin typeface="Arial"/>
              </a:rPr>
              <a:t>Modellgüte: mittlerer RLH 0.81 (Zufall 0.25).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A4: Segmente der beiden Verfahren</a:t>
            </a:r>
          </a:p>
        </p:txBody>
      </p:sp>
      <p:sp>
        <p:nvSpPr>
          <p:cNvPr id="3" name="Fußzeilenplatzhalter"/>
          <p:cNvSpPr>
            <a:spLocks noGrp="1"/>
          </p:cNvSpPr>
          <p:nvPr>
            <p:ph type="ftr" sz="quarter" idx="3"/>
          </p:nvPr>
        </p:nvSpPr>
        <p:spPr/>
        <p:txBody>
          <a:bodyPr/>
          <a:lstStyle/>
          <a:p>
            <a:r>
              <a:rPr lang="de-CH">
                <a:solidFill>
                  <a:srgbClr val="012C59"/>
                </a:solidFill>
              </a:rPr>
              <a:t>CAS Pricing | Gruppe 2</a:t>
            </a:r>
          </a:p>
        </p:txBody>
      </p:sp>
      <p:sp>
        <p:nvSpPr>
          <p:cNvPr id="4" name="Foliennummernplatzhalter"/>
          <p:cNvSpPr>
            <a:spLocks noGrp="1"/>
          </p:cNvSpPr>
          <p:nvPr>
            <p:ph type="sldNum" sz="quarter" idx="4"/>
          </p:nvPr>
        </p:nvSpPr>
        <p:spPr/>
        <p:txBody>
          <a:bodyPr/>
          <a:lstStyle/>
          <a:p>
            <a:fld id="{05F9AC53-F790-4868-97E7-45E3866EE614}" type="slidenum">
              <a:rPr lang="de-CH"/>
              <a:t>16</a:t>
            </a:fld>
            <a:endParaRPr lang="de-CH"/>
          </a:p>
        </p:txBody>
      </p:sp>
      <p:pic>
        <p:nvPicPr>
          <p:cNvPr id="5" name="Abbildung Segmente GG" descr="res_seg_gg.png"/>
          <p:cNvPicPr>
            <a:picLocks noChangeAspect="1"/>
          </p:cNvPicPr>
          <p:nvPr/>
        </p:nvPicPr>
        <p:blipFill>
          <a:blip r:embed="rId3"/>
          <a:stretch>
            <a:fillRect/>
          </a:stretch>
        </p:blipFill>
        <p:spPr>
          <a:xfrm>
            <a:off x="365760" y="1280160"/>
            <a:ext cx="3840480" cy="2073924"/>
          </a:xfrm>
          <a:prstGeom prst="rect">
            <a:avLst/>
          </a:prstGeom>
        </p:spPr>
      </p:pic>
      <p:pic>
        <p:nvPicPr>
          <p:cNvPr id="6" name="Abbildung Segmente CBC" descr="res_seg_cbc.png"/>
          <p:cNvPicPr>
            <a:picLocks noChangeAspect="1"/>
          </p:cNvPicPr>
          <p:nvPr/>
        </p:nvPicPr>
        <p:blipFill>
          <a:blip r:embed="rId4"/>
          <a:stretch>
            <a:fillRect/>
          </a:stretch>
        </p:blipFill>
        <p:spPr>
          <a:xfrm>
            <a:off x="4572000" y="1280160"/>
            <a:ext cx="4206240" cy="1881818"/>
          </a:xfrm>
          <a:prstGeom prst="rect">
            <a:avLst/>
          </a:prstGeom>
        </p:spPr>
      </p:pic>
      <p:sp>
        <p:nvSpPr>
          <p:cNvPr id="7" name="TextBox 6"/>
          <p:cNvSpPr txBox="1"/>
          <p:nvPr/>
        </p:nvSpPr>
        <p:spPr>
          <a:xfrm>
            <a:off x="365760" y="3611880"/>
            <a:ext cx="3931920" cy="1188720"/>
          </a:xfrm>
          <a:prstGeom prst="rect">
            <a:avLst/>
          </a:prstGeom>
          <a:noFill/>
        </p:spPr>
        <p:txBody>
          <a:bodyPr wrap="square" lIns="0" tIns="0" rIns="0" bIns="0" anchor="t">
            <a:spAutoFit/>
          </a:bodyPr>
          <a:lstStyle/>
          <a:p>
            <a:pPr marL="171450" indent="-171450" algn="l">
              <a:spcAft>
                <a:spcPts val="500"/>
              </a:spcAft>
              <a:buFont typeface="Arial"/>
              <a:buChar char="•"/>
            </a:pPr>
            <a:r>
              <a:rPr sz="1200" b="0" i="0">
                <a:solidFill>
                  <a:srgbClr val="002C59"/>
                </a:solidFill>
                <a:latin typeface="Arial"/>
              </a:rPr>
              <a:t>GG: nachträgliche Einteilung nach Schwellenpreisen, keine Clusteranalyse.</a:t>
            </a:r>
          </a:p>
          <a:p>
            <a:pPr marL="171450" indent="-171450" algn="l">
              <a:buFont typeface="Arial"/>
              <a:buChar char="•"/>
            </a:pPr>
            <a:r>
              <a:rPr sz="1200" b="0" i="0">
                <a:solidFill>
                  <a:srgbClr val="002C59"/>
                </a:solidFill>
                <a:latin typeface="Arial"/>
              </a:rPr>
              <a:t>Nullzahler (6), Mittelfeld (11), Hochpreis (3).</a:t>
            </a:r>
          </a:p>
        </p:txBody>
      </p:sp>
      <p:sp>
        <p:nvSpPr>
          <p:cNvPr id="8" name="TextBox 7"/>
          <p:cNvSpPr txBox="1"/>
          <p:nvPr/>
        </p:nvSpPr>
        <p:spPr>
          <a:xfrm>
            <a:off x="4572000" y="3611880"/>
            <a:ext cx="4206240" cy="1188720"/>
          </a:xfrm>
          <a:prstGeom prst="rect">
            <a:avLst/>
          </a:prstGeom>
          <a:noFill/>
        </p:spPr>
        <p:txBody>
          <a:bodyPr wrap="square" lIns="0" tIns="0" rIns="0" bIns="0" anchor="t">
            <a:spAutoFit/>
          </a:bodyPr>
          <a:lstStyle/>
          <a:p>
            <a:pPr marL="171450" indent="-171450" algn="l">
              <a:spcAft>
                <a:spcPts val="500"/>
              </a:spcAft>
              <a:buFont typeface="Arial"/>
              <a:buChar char="•"/>
            </a:pPr>
            <a:r>
              <a:rPr sz="1200" b="0" i="0">
                <a:solidFill>
                  <a:srgbClr val="002C59"/>
                </a:solidFill>
                <a:latin typeface="Arial"/>
              </a:rPr>
              <a:t>CBC: Dreier-Lösung der Software (n = 10 / 2 / 16, Nutzenwerte: 3 / 2 / 7).</a:t>
            </a:r>
          </a:p>
          <a:p>
            <a:pPr marL="171450" indent="-171450" algn="l">
              <a:buFont typeface="Arial"/>
              <a:buChar char="•"/>
            </a:pPr>
            <a:r>
              <a:rPr sz="1200" b="0" i="0">
                <a:solidFill>
                  <a:srgbClr val="002C59"/>
                </a:solidFill>
                <a:latin typeface="Arial"/>
              </a:rPr>
              <a:t>Segment 2 wählt in 79 % der Aufgaben «Keine».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A5: Szenarien der Marktsimulation (n = 12)</a:t>
            </a:r>
          </a:p>
        </p:txBody>
      </p:sp>
      <p:sp>
        <p:nvSpPr>
          <p:cNvPr id="3" name="Fußzeilenplatzhalter"/>
          <p:cNvSpPr>
            <a:spLocks noGrp="1"/>
          </p:cNvSpPr>
          <p:nvPr>
            <p:ph type="ftr" sz="quarter" idx="3"/>
          </p:nvPr>
        </p:nvSpPr>
        <p:spPr/>
        <p:txBody>
          <a:bodyPr/>
          <a:lstStyle/>
          <a:p>
            <a:r>
              <a:rPr lang="de-CH">
                <a:solidFill>
                  <a:srgbClr val="012C59"/>
                </a:solidFill>
              </a:rPr>
              <a:t>CAS Pricing | Gruppe 2</a:t>
            </a:r>
          </a:p>
        </p:txBody>
      </p:sp>
      <p:sp>
        <p:nvSpPr>
          <p:cNvPr id="4" name="Foliennummernplatzhalter"/>
          <p:cNvSpPr>
            <a:spLocks noGrp="1"/>
          </p:cNvSpPr>
          <p:nvPr>
            <p:ph type="sldNum" sz="quarter" idx="4"/>
          </p:nvPr>
        </p:nvSpPr>
        <p:spPr/>
        <p:txBody>
          <a:bodyPr/>
          <a:lstStyle/>
          <a:p>
            <a:fld id="{05F9AC53-F790-4868-97E7-45E3866EE614}" type="slidenum">
              <a:rPr lang="de-CH"/>
              <a:t>17</a:t>
            </a:fld>
            <a:endParaRPr lang="de-CH"/>
          </a:p>
        </p:txBody>
      </p:sp>
      <p:graphicFrame>
        <p:nvGraphicFramePr>
          <p:cNvPr id="5" name="Tabelle Szenarien"/>
          <p:cNvGraphicFramePr>
            <a:graphicFrameLocks noGrp="1"/>
          </p:cNvGraphicFramePr>
          <p:nvPr/>
        </p:nvGraphicFramePr>
        <p:xfrm>
          <a:off x="365760" y="1280160"/>
          <a:ext cx="8412480" cy="3017520"/>
        </p:xfrm>
        <a:graphic>
          <a:graphicData uri="http://schemas.openxmlformats.org/drawingml/2006/table">
            <a:tbl>
              <a:tblPr>
                <a:tableStyleId>{2D5ABB26-0587-4C30-8999-92F81FD0307C}</a:tableStyleId>
              </a:tblPr>
              <a:tblGrid>
                <a:gridCol w="292608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tblGrid>
              <a:tr h="502920">
                <a:tc>
                  <a:txBody>
                    <a:bodyPr/>
                    <a:lstStyle/>
                    <a:p>
                      <a:pPr algn="l"/>
                      <a:r>
                        <a:rPr sz="1100" b="1">
                          <a:solidFill>
                            <a:srgbClr val="FFFFFF"/>
                          </a:solidFill>
                          <a:latin typeface="Arial"/>
                        </a:rPr>
                        <a:t>Szenario</a:t>
                      </a:r>
                    </a:p>
                  </a:txBody>
                  <a:tcPr marL="73152" marR="73152" marT="27432" marB="27432" anchor="ctr">
                    <a:solidFill>
                      <a:srgbClr val="002C59"/>
                    </a:solidFill>
                  </a:tcPr>
                </a:tc>
                <a:tc>
                  <a:txBody>
                    <a:bodyPr/>
                    <a:lstStyle/>
                    <a:p>
                      <a:pPr algn="ctr"/>
                      <a:r>
                        <a:rPr sz="1100" b="1">
                          <a:solidFill>
                            <a:srgbClr val="FFFFFF"/>
                          </a:solidFill>
                          <a:latin typeface="Arial"/>
                        </a:rPr>
                        <a:t>Basis-Bad</a:t>
                      </a:r>
                    </a:p>
                  </a:txBody>
                  <a:tcPr marL="73152" marR="73152" marT="27432" marB="27432" anchor="ctr">
                    <a:solidFill>
                      <a:srgbClr val="002C59"/>
                    </a:solidFill>
                  </a:tcPr>
                </a:tc>
                <a:tc>
                  <a:txBody>
                    <a:bodyPr/>
                    <a:lstStyle/>
                    <a:p>
                      <a:pPr algn="ctr"/>
                      <a:r>
                        <a:rPr sz="1100" b="1">
                          <a:solidFill>
                            <a:srgbClr val="FFFFFF"/>
                          </a:solidFill>
                          <a:latin typeface="Arial"/>
                        </a:rPr>
                        <a:t>Komfort-Bad</a:t>
                      </a:r>
                    </a:p>
                  </a:txBody>
                  <a:tcPr marL="73152" marR="73152" marT="27432" marB="27432" anchor="ctr">
                    <a:solidFill>
                      <a:srgbClr val="002C59"/>
                    </a:solidFill>
                  </a:tcPr>
                </a:tc>
                <a:tc>
                  <a:txBody>
                    <a:bodyPr/>
                    <a:lstStyle/>
                    <a:p>
                      <a:pPr algn="ctr"/>
                      <a:r>
                        <a:rPr sz="1100" b="1">
                          <a:solidFill>
                            <a:srgbClr val="FFFFFF"/>
                          </a:solidFill>
                          <a:latin typeface="Arial"/>
                        </a:rPr>
                        <a:t>Premium-Bad</a:t>
                      </a:r>
                    </a:p>
                  </a:txBody>
                  <a:tcPr marL="73152" marR="73152" marT="27432" marB="27432" anchor="ctr">
                    <a:solidFill>
                      <a:srgbClr val="002C59"/>
                    </a:solidFill>
                  </a:tcPr>
                </a:tc>
                <a:tc>
                  <a:txBody>
                    <a:bodyPr/>
                    <a:lstStyle/>
                    <a:p>
                      <a:pPr algn="ctr"/>
                      <a:r>
                        <a:rPr sz="1100" b="1">
                          <a:solidFill>
                            <a:srgbClr val="FFFFFF"/>
                          </a:solidFill>
                          <a:latin typeface="Arial"/>
                        </a:rPr>
                        <a:t>Keine Wahl</a:t>
                      </a:r>
                    </a:p>
                  </a:txBody>
                  <a:tcPr marL="73152" marR="73152" marT="27432" marB="27432" anchor="ctr">
                    <a:solidFill>
                      <a:srgbClr val="002C59"/>
                    </a:solidFill>
                  </a:tcPr>
                </a:tc>
                <a:extLst>
                  <a:ext uri="{0D108BD9-81ED-4DB2-BD59-A6C34878D82A}">
                    <a16:rowId xmlns:a16="http://schemas.microsoft.com/office/drawing/2014/main" val="10000"/>
                  </a:ext>
                </a:extLst>
              </a:tr>
              <a:tr h="502920">
                <a:tc>
                  <a:txBody>
                    <a:bodyPr/>
                    <a:lstStyle/>
                    <a:p>
                      <a:pPr algn="l"/>
                      <a:r>
                        <a:rPr sz="1100" b="1">
                          <a:solidFill>
                            <a:srgbClr val="002C59"/>
                          </a:solidFill>
                          <a:latin typeface="Arial"/>
                        </a:rPr>
                        <a:t>S1: Alle CHF 0</a:t>
                      </a:r>
                    </a:p>
                  </a:txBody>
                  <a:tcPr marL="73152" marR="73152" marT="27432" marB="27432" anchor="ctr">
                    <a:solidFill>
                      <a:srgbClr val="EAF1F8"/>
                    </a:solidFill>
                  </a:tcPr>
                </a:tc>
                <a:tc>
                  <a:txBody>
                    <a:bodyPr/>
                    <a:lstStyle/>
                    <a:p>
                      <a:pPr algn="ctr"/>
                      <a:r>
                        <a:rPr sz="1100" b="0">
                          <a:solidFill>
                            <a:srgbClr val="002C59"/>
                          </a:solidFill>
                          <a:latin typeface="Arial"/>
                        </a:rPr>
                        <a:t>0 % (0–0)</a:t>
                      </a:r>
                    </a:p>
                  </a:txBody>
                  <a:tcPr marL="73152" marR="73152" marT="27432" marB="27432" anchor="ctr">
                    <a:solidFill>
                      <a:srgbClr val="EAF1F8"/>
                    </a:solidFill>
                  </a:tcPr>
                </a:tc>
                <a:tc>
                  <a:txBody>
                    <a:bodyPr/>
                    <a:lstStyle/>
                    <a:p>
                      <a:pPr algn="ctr"/>
                      <a:r>
                        <a:rPr sz="1100" b="0">
                          <a:solidFill>
                            <a:srgbClr val="002C59"/>
                          </a:solidFill>
                          <a:latin typeface="Arial"/>
                        </a:rPr>
                        <a:t>33 % (8–58)</a:t>
                      </a:r>
                    </a:p>
                  </a:txBody>
                  <a:tcPr marL="73152" marR="73152" marT="27432" marB="27432" anchor="ctr">
                    <a:solidFill>
                      <a:srgbClr val="EAF1F8"/>
                    </a:solidFill>
                  </a:tcPr>
                </a:tc>
                <a:tc>
                  <a:txBody>
                    <a:bodyPr/>
                    <a:lstStyle/>
                    <a:p>
                      <a:pPr algn="ctr"/>
                      <a:r>
                        <a:rPr sz="1100" b="0">
                          <a:solidFill>
                            <a:srgbClr val="002C59"/>
                          </a:solidFill>
                          <a:latin typeface="Arial"/>
                        </a:rPr>
                        <a:t>58 % (33–83)</a:t>
                      </a:r>
                    </a:p>
                  </a:txBody>
                  <a:tcPr marL="73152" marR="73152" marT="27432" marB="27432" anchor="ctr">
                    <a:solidFill>
                      <a:srgbClr val="EAF1F8"/>
                    </a:solidFill>
                  </a:tcPr>
                </a:tc>
                <a:tc>
                  <a:txBody>
                    <a:bodyPr/>
                    <a:lstStyle/>
                    <a:p>
                      <a:pPr algn="ctr"/>
                      <a:r>
                        <a:rPr sz="1100" b="0">
                          <a:solidFill>
                            <a:srgbClr val="002C59"/>
                          </a:solidFill>
                          <a:latin typeface="Arial"/>
                        </a:rPr>
                        <a:t>8 % (0–25)</a:t>
                      </a:r>
                    </a:p>
                  </a:txBody>
                  <a:tcPr marL="73152" marR="73152" marT="27432" marB="27432" anchor="ctr">
                    <a:solidFill>
                      <a:srgbClr val="EAF1F8"/>
                    </a:solidFill>
                  </a:tcPr>
                </a:tc>
                <a:extLst>
                  <a:ext uri="{0D108BD9-81ED-4DB2-BD59-A6C34878D82A}">
                    <a16:rowId xmlns:a16="http://schemas.microsoft.com/office/drawing/2014/main" val="10001"/>
                  </a:ext>
                </a:extLst>
              </a:tr>
              <a:tr h="502920">
                <a:tc>
                  <a:txBody>
                    <a:bodyPr/>
                    <a:lstStyle/>
                    <a:p>
                      <a:pPr algn="l"/>
                      <a:r>
                        <a:rPr sz="1100" b="1">
                          <a:solidFill>
                            <a:srgbClr val="002C59"/>
                          </a:solidFill>
                          <a:latin typeface="Arial"/>
                        </a:rPr>
                        <a:t>S2: Alle CHF 15</a:t>
                      </a:r>
                    </a:p>
                  </a:txBody>
                  <a:tcPr marL="73152" marR="73152" marT="27432" marB="27432" anchor="ctr">
                    <a:solidFill>
                      <a:srgbClr val="FFFFFF"/>
                    </a:solidFill>
                  </a:tcPr>
                </a:tc>
                <a:tc>
                  <a:txBody>
                    <a:bodyPr/>
                    <a:lstStyle/>
                    <a:p>
                      <a:pPr algn="ctr"/>
                      <a:r>
                        <a:rPr sz="1100" b="0">
                          <a:solidFill>
                            <a:srgbClr val="002C59"/>
                          </a:solidFill>
                          <a:latin typeface="Arial"/>
                        </a:rPr>
                        <a:t>0 % (0–0)</a:t>
                      </a:r>
                    </a:p>
                  </a:txBody>
                  <a:tcPr marL="73152" marR="73152" marT="27432" marB="27432" anchor="ctr">
                    <a:solidFill>
                      <a:srgbClr val="FFFFFF"/>
                    </a:solidFill>
                  </a:tcPr>
                </a:tc>
                <a:tc>
                  <a:txBody>
                    <a:bodyPr/>
                    <a:lstStyle/>
                    <a:p>
                      <a:pPr algn="ctr"/>
                      <a:r>
                        <a:rPr sz="1100" b="0">
                          <a:solidFill>
                            <a:srgbClr val="002C59"/>
                          </a:solidFill>
                          <a:latin typeface="Arial"/>
                        </a:rPr>
                        <a:t>25 % (0–50)</a:t>
                      </a:r>
                    </a:p>
                  </a:txBody>
                  <a:tcPr marL="73152" marR="73152" marT="27432" marB="27432" anchor="ctr">
                    <a:solidFill>
                      <a:srgbClr val="FFFFFF"/>
                    </a:solidFill>
                  </a:tcPr>
                </a:tc>
                <a:tc>
                  <a:txBody>
                    <a:bodyPr/>
                    <a:lstStyle/>
                    <a:p>
                      <a:pPr algn="ctr"/>
                      <a:r>
                        <a:rPr sz="1100" b="0">
                          <a:solidFill>
                            <a:srgbClr val="002C59"/>
                          </a:solidFill>
                          <a:latin typeface="Arial"/>
                        </a:rPr>
                        <a:t>58 % (33–83)</a:t>
                      </a:r>
                    </a:p>
                  </a:txBody>
                  <a:tcPr marL="73152" marR="73152" marT="27432" marB="27432" anchor="ctr">
                    <a:solidFill>
                      <a:srgbClr val="FFFFFF"/>
                    </a:solidFill>
                  </a:tcPr>
                </a:tc>
                <a:tc>
                  <a:txBody>
                    <a:bodyPr/>
                    <a:lstStyle/>
                    <a:p>
                      <a:pPr algn="ctr"/>
                      <a:r>
                        <a:rPr sz="1100" b="0">
                          <a:solidFill>
                            <a:srgbClr val="002C59"/>
                          </a:solidFill>
                          <a:latin typeface="Arial"/>
                        </a:rPr>
                        <a:t>17 % (0–42)</a:t>
                      </a:r>
                    </a:p>
                  </a:txBody>
                  <a:tcPr marL="73152" marR="73152" marT="27432" marB="27432" anchor="ctr">
                    <a:solidFill>
                      <a:srgbClr val="FFFFFF"/>
                    </a:solidFill>
                  </a:tcPr>
                </a:tc>
                <a:extLst>
                  <a:ext uri="{0D108BD9-81ED-4DB2-BD59-A6C34878D82A}">
                    <a16:rowId xmlns:a16="http://schemas.microsoft.com/office/drawing/2014/main" val="10002"/>
                  </a:ext>
                </a:extLst>
              </a:tr>
              <a:tr h="502920">
                <a:tc>
                  <a:txBody>
                    <a:bodyPr/>
                    <a:lstStyle/>
                    <a:p>
                      <a:pPr algn="l"/>
                      <a:r>
                        <a:rPr sz="1100" b="1">
                          <a:solidFill>
                            <a:srgbClr val="002C59"/>
                          </a:solidFill>
                          <a:latin typeface="Arial"/>
                        </a:rPr>
                        <a:t>S3: Basis 0, Komfort 15, Premium 15</a:t>
                      </a:r>
                    </a:p>
                  </a:txBody>
                  <a:tcPr marL="73152" marR="73152" marT="27432" marB="27432" anchor="ctr">
                    <a:solidFill>
                      <a:srgbClr val="EAF1F8"/>
                    </a:solidFill>
                  </a:tcPr>
                </a:tc>
                <a:tc>
                  <a:txBody>
                    <a:bodyPr/>
                    <a:lstStyle/>
                    <a:p>
                      <a:pPr algn="ctr"/>
                      <a:r>
                        <a:rPr sz="1100" b="0">
                          <a:solidFill>
                            <a:srgbClr val="002C59"/>
                          </a:solidFill>
                          <a:latin typeface="Arial"/>
                        </a:rPr>
                        <a:t>33 % (8–58)</a:t>
                      </a:r>
                    </a:p>
                  </a:txBody>
                  <a:tcPr marL="73152" marR="73152" marT="27432" marB="27432" anchor="ctr">
                    <a:solidFill>
                      <a:srgbClr val="EAF1F8"/>
                    </a:solidFill>
                  </a:tcPr>
                </a:tc>
                <a:tc>
                  <a:txBody>
                    <a:bodyPr/>
                    <a:lstStyle/>
                    <a:p>
                      <a:pPr algn="ctr"/>
                      <a:r>
                        <a:rPr sz="1100" b="0">
                          <a:solidFill>
                            <a:srgbClr val="002C59"/>
                          </a:solidFill>
                          <a:latin typeface="Arial"/>
                        </a:rPr>
                        <a:t>25 % (0–50)</a:t>
                      </a:r>
                    </a:p>
                  </a:txBody>
                  <a:tcPr marL="73152" marR="73152" marT="27432" marB="27432" anchor="ctr">
                    <a:solidFill>
                      <a:srgbClr val="EAF1F8"/>
                    </a:solidFill>
                  </a:tcPr>
                </a:tc>
                <a:tc>
                  <a:txBody>
                    <a:bodyPr/>
                    <a:lstStyle/>
                    <a:p>
                      <a:pPr algn="ctr"/>
                      <a:r>
                        <a:rPr sz="1100" b="0">
                          <a:solidFill>
                            <a:srgbClr val="002C59"/>
                          </a:solidFill>
                          <a:latin typeface="Arial"/>
                        </a:rPr>
                        <a:t>25 % (0–50)</a:t>
                      </a:r>
                    </a:p>
                  </a:txBody>
                  <a:tcPr marL="73152" marR="73152" marT="27432" marB="27432" anchor="ctr">
                    <a:solidFill>
                      <a:srgbClr val="EAF1F8"/>
                    </a:solidFill>
                  </a:tcPr>
                </a:tc>
                <a:tc>
                  <a:txBody>
                    <a:bodyPr/>
                    <a:lstStyle/>
                    <a:p>
                      <a:pPr algn="ctr"/>
                      <a:r>
                        <a:rPr sz="1100" b="0">
                          <a:solidFill>
                            <a:srgbClr val="002C59"/>
                          </a:solidFill>
                          <a:latin typeface="Arial"/>
                        </a:rPr>
                        <a:t>17 % (0–42)</a:t>
                      </a:r>
                    </a:p>
                  </a:txBody>
                  <a:tcPr marL="73152" marR="73152" marT="27432" marB="27432" anchor="ctr">
                    <a:solidFill>
                      <a:srgbClr val="EAF1F8"/>
                    </a:solidFill>
                  </a:tcPr>
                </a:tc>
                <a:extLst>
                  <a:ext uri="{0D108BD9-81ED-4DB2-BD59-A6C34878D82A}">
                    <a16:rowId xmlns:a16="http://schemas.microsoft.com/office/drawing/2014/main" val="10003"/>
                  </a:ext>
                </a:extLst>
              </a:tr>
              <a:tr h="502920">
                <a:tc>
                  <a:txBody>
                    <a:bodyPr/>
                    <a:lstStyle/>
                    <a:p>
                      <a:pPr algn="l"/>
                      <a:r>
                        <a:rPr sz="1100" b="1">
                          <a:solidFill>
                            <a:srgbClr val="002C59"/>
                          </a:solidFill>
                          <a:latin typeface="Arial"/>
                        </a:rPr>
                        <a:t>S4: Basis 0, Komfort 15, Premium 45</a:t>
                      </a:r>
                    </a:p>
                  </a:txBody>
                  <a:tcPr marL="73152" marR="73152" marT="27432" marB="27432" anchor="ctr">
                    <a:solidFill>
                      <a:srgbClr val="FFFFFF"/>
                    </a:solidFill>
                  </a:tcPr>
                </a:tc>
                <a:tc>
                  <a:txBody>
                    <a:bodyPr/>
                    <a:lstStyle/>
                    <a:p>
                      <a:pPr algn="ctr"/>
                      <a:r>
                        <a:rPr sz="1100" b="0">
                          <a:solidFill>
                            <a:srgbClr val="002C59"/>
                          </a:solidFill>
                          <a:latin typeface="Arial"/>
                        </a:rPr>
                        <a:t>50 % (25–75)</a:t>
                      </a:r>
                    </a:p>
                  </a:txBody>
                  <a:tcPr marL="73152" marR="73152" marT="27432" marB="27432" anchor="ctr">
                    <a:solidFill>
                      <a:srgbClr val="FFFFFF"/>
                    </a:solidFill>
                  </a:tcPr>
                </a:tc>
                <a:tc>
                  <a:txBody>
                    <a:bodyPr/>
                    <a:lstStyle/>
                    <a:p>
                      <a:pPr algn="ctr"/>
                      <a:r>
                        <a:rPr sz="1100" b="0">
                          <a:solidFill>
                            <a:srgbClr val="002C59"/>
                          </a:solidFill>
                          <a:latin typeface="Arial"/>
                        </a:rPr>
                        <a:t>33 % (8–58)</a:t>
                      </a:r>
                    </a:p>
                  </a:txBody>
                  <a:tcPr marL="73152" marR="73152" marT="27432" marB="27432" anchor="ctr">
                    <a:solidFill>
                      <a:srgbClr val="FFFFFF"/>
                    </a:solidFill>
                  </a:tcPr>
                </a:tc>
                <a:tc>
                  <a:txBody>
                    <a:bodyPr/>
                    <a:lstStyle/>
                    <a:p>
                      <a:pPr algn="ctr"/>
                      <a:r>
                        <a:rPr sz="1100" b="0">
                          <a:solidFill>
                            <a:srgbClr val="002C59"/>
                          </a:solidFill>
                          <a:latin typeface="Arial"/>
                        </a:rPr>
                        <a:t>0 % (0–0)</a:t>
                      </a:r>
                    </a:p>
                  </a:txBody>
                  <a:tcPr marL="73152" marR="73152" marT="27432" marB="27432" anchor="ctr">
                    <a:solidFill>
                      <a:srgbClr val="FFFFFF"/>
                    </a:solidFill>
                  </a:tcPr>
                </a:tc>
                <a:tc>
                  <a:txBody>
                    <a:bodyPr/>
                    <a:lstStyle/>
                    <a:p>
                      <a:pPr algn="ctr"/>
                      <a:r>
                        <a:rPr sz="1100" b="0">
                          <a:solidFill>
                            <a:srgbClr val="002C59"/>
                          </a:solidFill>
                          <a:latin typeface="Arial"/>
                        </a:rPr>
                        <a:t>17 % (0–42)</a:t>
                      </a:r>
                    </a:p>
                  </a:txBody>
                  <a:tcPr marL="73152" marR="73152" marT="27432" marB="27432" anchor="ctr">
                    <a:solidFill>
                      <a:srgbClr val="FFFFFF"/>
                    </a:solidFill>
                  </a:tcPr>
                </a:tc>
                <a:extLst>
                  <a:ext uri="{0D108BD9-81ED-4DB2-BD59-A6C34878D82A}">
                    <a16:rowId xmlns:a16="http://schemas.microsoft.com/office/drawing/2014/main" val="10004"/>
                  </a:ext>
                </a:extLst>
              </a:tr>
              <a:tr h="502920">
                <a:tc>
                  <a:txBody>
                    <a:bodyPr/>
                    <a:lstStyle/>
                    <a:p>
                      <a:pPr algn="l"/>
                      <a:r>
                        <a:rPr sz="1100" b="1">
                          <a:solidFill>
                            <a:srgbClr val="002C59"/>
                          </a:solidFill>
                          <a:latin typeface="Arial"/>
                        </a:rPr>
                        <a:t>S5: Basis 0, Komfort 0, Premium 15</a:t>
                      </a:r>
                    </a:p>
                  </a:txBody>
                  <a:tcPr marL="73152" marR="73152" marT="27432" marB="27432" anchor="ctr">
                    <a:solidFill>
                      <a:srgbClr val="EAF1F8"/>
                    </a:solidFill>
                  </a:tcPr>
                </a:tc>
                <a:tc>
                  <a:txBody>
                    <a:bodyPr/>
                    <a:lstStyle/>
                    <a:p>
                      <a:pPr algn="ctr"/>
                      <a:r>
                        <a:rPr sz="1100" b="0">
                          <a:solidFill>
                            <a:srgbClr val="002C59"/>
                          </a:solidFill>
                          <a:latin typeface="Arial"/>
                        </a:rPr>
                        <a:t>0 % (0–0)</a:t>
                      </a:r>
                    </a:p>
                  </a:txBody>
                  <a:tcPr marL="73152" marR="73152" marT="27432" marB="27432" anchor="ctr">
                    <a:solidFill>
                      <a:srgbClr val="EAF1F8"/>
                    </a:solidFill>
                  </a:tcPr>
                </a:tc>
                <a:tc>
                  <a:txBody>
                    <a:bodyPr/>
                    <a:lstStyle/>
                    <a:p>
                      <a:pPr algn="ctr"/>
                      <a:r>
                        <a:rPr sz="1100" b="0">
                          <a:solidFill>
                            <a:srgbClr val="002C59"/>
                          </a:solidFill>
                          <a:latin typeface="Arial"/>
                        </a:rPr>
                        <a:t>83 % (58–100)</a:t>
                      </a:r>
                    </a:p>
                  </a:txBody>
                  <a:tcPr marL="73152" marR="73152" marT="27432" marB="27432" anchor="ctr">
                    <a:solidFill>
                      <a:srgbClr val="EAF1F8"/>
                    </a:solidFill>
                  </a:tcPr>
                </a:tc>
                <a:tc>
                  <a:txBody>
                    <a:bodyPr/>
                    <a:lstStyle/>
                    <a:p>
                      <a:pPr algn="ctr"/>
                      <a:r>
                        <a:rPr sz="1100" b="0">
                          <a:solidFill>
                            <a:srgbClr val="002C59"/>
                          </a:solidFill>
                          <a:latin typeface="Arial"/>
                        </a:rPr>
                        <a:t>8 % (0–25)</a:t>
                      </a:r>
                    </a:p>
                  </a:txBody>
                  <a:tcPr marL="73152" marR="73152" marT="27432" marB="27432" anchor="ctr">
                    <a:solidFill>
                      <a:srgbClr val="EAF1F8"/>
                    </a:solidFill>
                  </a:tcPr>
                </a:tc>
                <a:tc>
                  <a:txBody>
                    <a:bodyPr/>
                    <a:lstStyle/>
                    <a:p>
                      <a:pPr algn="ctr"/>
                      <a:r>
                        <a:rPr sz="1100" b="0">
                          <a:solidFill>
                            <a:srgbClr val="002C59"/>
                          </a:solidFill>
                          <a:latin typeface="Arial"/>
                        </a:rPr>
                        <a:t>8 % (0–25)</a:t>
                      </a:r>
                    </a:p>
                  </a:txBody>
                  <a:tcPr marL="73152" marR="73152" marT="27432" marB="27432" anchor="ctr">
                    <a:solidFill>
                      <a:srgbClr val="EAF1F8"/>
                    </a:solidFill>
                  </a:tcPr>
                </a:tc>
                <a:extLst>
                  <a:ext uri="{0D108BD9-81ED-4DB2-BD59-A6C34878D82A}">
                    <a16:rowId xmlns:a16="http://schemas.microsoft.com/office/drawing/2014/main" val="10005"/>
                  </a:ext>
                </a:extLst>
              </a:tr>
            </a:tbl>
          </a:graphicData>
        </a:graphic>
      </p:graphicFrame>
      <p:sp>
        <p:nvSpPr>
          <p:cNvPr id="6" name="TextBox 5"/>
          <p:cNvSpPr txBox="1"/>
          <p:nvPr/>
        </p:nvSpPr>
        <p:spPr>
          <a:xfrm>
            <a:off x="365760" y="4297680"/>
            <a:ext cx="8412480" cy="457200"/>
          </a:xfrm>
          <a:prstGeom prst="rect">
            <a:avLst/>
          </a:prstGeom>
          <a:noFill/>
        </p:spPr>
        <p:txBody>
          <a:bodyPr wrap="square" lIns="0" tIns="0" rIns="0" bIns="0" anchor="t">
            <a:spAutoFit/>
          </a:bodyPr>
          <a:lstStyle/>
          <a:p>
            <a:pPr algn="l"/>
            <a:r>
              <a:rPr sz="1100" b="0" i="0">
                <a:solidFill>
                  <a:srgbClr val="646464"/>
                </a:solidFill>
                <a:latin typeface="Arial"/>
              </a:rPr>
              <a:t>First-Choice-Regel über individuelle Nutzenwerte. In Klammern: 95-%-Bootstrap-Intervall (3'000 Ziehungen, Prozentpunkte). Die Intervalle sind wegen n = 12 sehr breit.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A6: Design der Choice-based Conjoint-Analyse</a:t>
            </a:r>
          </a:p>
        </p:txBody>
      </p:sp>
      <p:sp>
        <p:nvSpPr>
          <p:cNvPr id="3" name="Fußzeilenplatzhalter"/>
          <p:cNvSpPr>
            <a:spLocks noGrp="1"/>
          </p:cNvSpPr>
          <p:nvPr>
            <p:ph type="ftr" sz="quarter" idx="3"/>
          </p:nvPr>
        </p:nvSpPr>
        <p:spPr/>
        <p:txBody>
          <a:bodyPr/>
          <a:lstStyle/>
          <a:p>
            <a:r>
              <a:rPr lang="de-CH">
                <a:solidFill>
                  <a:srgbClr val="012C59"/>
                </a:solidFill>
              </a:rPr>
              <a:t>CAS Pricing | Gruppe 2</a:t>
            </a:r>
          </a:p>
        </p:txBody>
      </p:sp>
      <p:sp>
        <p:nvSpPr>
          <p:cNvPr id="4" name="Foliennummernplatzhalter"/>
          <p:cNvSpPr>
            <a:spLocks noGrp="1"/>
          </p:cNvSpPr>
          <p:nvPr>
            <p:ph type="sldNum" sz="quarter" idx="4"/>
          </p:nvPr>
        </p:nvSpPr>
        <p:spPr/>
        <p:txBody>
          <a:bodyPr/>
          <a:lstStyle/>
          <a:p>
            <a:fld id="{05F9AC53-F790-4868-97E7-45E3866EE614}" type="slidenum">
              <a:rPr lang="de-CH"/>
              <a:t>18</a:t>
            </a:fld>
            <a:endParaRPr lang="de-CH"/>
          </a:p>
        </p:txBody>
      </p:sp>
      <p:graphicFrame>
        <p:nvGraphicFramePr>
          <p:cNvPr id="5" name="Tabelle Design"/>
          <p:cNvGraphicFramePr>
            <a:graphicFrameLocks noGrp="1"/>
          </p:cNvGraphicFramePr>
          <p:nvPr/>
        </p:nvGraphicFramePr>
        <p:xfrm>
          <a:off x="365760" y="1280160"/>
          <a:ext cx="8412480" cy="2852928"/>
        </p:xfrm>
        <a:graphic>
          <a:graphicData uri="http://schemas.openxmlformats.org/drawingml/2006/table">
            <a:tbl>
              <a:tblPr>
                <a:tableStyleId>{2D5ABB26-0587-4C30-8999-92F81FD0307C}</a:tableStyleId>
              </a:tblPr>
              <a:tblGrid>
                <a:gridCol w="155448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tblGrid>
              <a:tr h="475488">
                <a:tc>
                  <a:txBody>
                    <a:bodyPr/>
                    <a:lstStyle/>
                    <a:p>
                      <a:pPr algn="l"/>
                      <a:r>
                        <a:rPr sz="1100" b="1">
                          <a:solidFill>
                            <a:srgbClr val="FFFFFF"/>
                          </a:solidFill>
                          <a:latin typeface="Arial"/>
                        </a:rPr>
                        <a:t>Merkmal</a:t>
                      </a:r>
                    </a:p>
                  </a:txBody>
                  <a:tcPr marL="73152" marR="73152" marT="27432" marB="27432" anchor="ctr">
                    <a:solidFill>
                      <a:srgbClr val="002C59"/>
                    </a:solidFill>
                  </a:tcPr>
                </a:tc>
                <a:tc>
                  <a:txBody>
                    <a:bodyPr/>
                    <a:lstStyle/>
                    <a:p>
                      <a:pPr algn="ctr"/>
                      <a:r>
                        <a:rPr sz="1100" b="1">
                          <a:solidFill>
                            <a:srgbClr val="FFFFFF"/>
                          </a:solidFill>
                          <a:latin typeface="Arial"/>
                        </a:rPr>
                        <a:t>Stufe 1</a:t>
                      </a:r>
                    </a:p>
                  </a:txBody>
                  <a:tcPr marL="73152" marR="73152" marT="27432" marB="27432" anchor="ctr">
                    <a:solidFill>
                      <a:srgbClr val="002C59"/>
                    </a:solidFill>
                  </a:tcPr>
                </a:tc>
                <a:tc>
                  <a:txBody>
                    <a:bodyPr/>
                    <a:lstStyle/>
                    <a:p>
                      <a:pPr algn="ctr"/>
                      <a:r>
                        <a:rPr sz="1100" b="1">
                          <a:solidFill>
                            <a:srgbClr val="FFFFFF"/>
                          </a:solidFill>
                          <a:latin typeface="Arial"/>
                        </a:rPr>
                        <a:t>Stufe 2</a:t>
                      </a:r>
                    </a:p>
                  </a:txBody>
                  <a:tcPr marL="73152" marR="73152" marT="27432" marB="27432" anchor="ctr">
                    <a:solidFill>
                      <a:srgbClr val="002C59"/>
                    </a:solidFill>
                  </a:tcPr>
                </a:tc>
                <a:tc>
                  <a:txBody>
                    <a:bodyPr/>
                    <a:lstStyle/>
                    <a:p>
                      <a:pPr algn="ctr"/>
                      <a:r>
                        <a:rPr sz="1100" b="1">
                          <a:solidFill>
                            <a:srgbClr val="FFFFFF"/>
                          </a:solidFill>
                          <a:latin typeface="Arial"/>
                        </a:rPr>
                        <a:t>Stufe 3</a:t>
                      </a:r>
                    </a:p>
                  </a:txBody>
                  <a:tcPr marL="73152" marR="73152" marT="27432" marB="27432" anchor="ctr">
                    <a:solidFill>
                      <a:srgbClr val="002C59"/>
                    </a:solidFill>
                  </a:tcPr>
                </a:tc>
                <a:extLst>
                  <a:ext uri="{0D108BD9-81ED-4DB2-BD59-A6C34878D82A}">
                    <a16:rowId xmlns:a16="http://schemas.microsoft.com/office/drawing/2014/main" val="10000"/>
                  </a:ext>
                </a:extLst>
              </a:tr>
              <a:tr h="475488">
                <a:tc>
                  <a:txBody>
                    <a:bodyPr/>
                    <a:lstStyle/>
                    <a:p>
                      <a:pPr algn="l"/>
                      <a:r>
                        <a:rPr sz="1100" b="1">
                          <a:solidFill>
                            <a:srgbClr val="002C59"/>
                          </a:solidFill>
                          <a:latin typeface="Arial"/>
                        </a:rPr>
                        <a:t>Aufpreis pro Nacht</a:t>
                      </a:r>
                    </a:p>
                  </a:txBody>
                  <a:tcPr marL="73152" marR="73152" marT="27432" marB="27432" anchor="ctr">
                    <a:solidFill>
                      <a:srgbClr val="EAF1F8"/>
                    </a:solidFill>
                  </a:tcPr>
                </a:tc>
                <a:tc>
                  <a:txBody>
                    <a:bodyPr/>
                    <a:lstStyle/>
                    <a:p>
                      <a:pPr algn="ctr"/>
                      <a:r>
                        <a:rPr sz="1100" b="0">
                          <a:solidFill>
                            <a:srgbClr val="002C59"/>
                          </a:solidFill>
                          <a:latin typeface="Arial"/>
                        </a:rPr>
                        <a:t>CHF 0</a:t>
                      </a:r>
                    </a:p>
                  </a:txBody>
                  <a:tcPr marL="73152" marR="73152" marT="27432" marB="27432" anchor="ctr">
                    <a:solidFill>
                      <a:srgbClr val="EAF1F8"/>
                    </a:solidFill>
                  </a:tcPr>
                </a:tc>
                <a:tc>
                  <a:txBody>
                    <a:bodyPr/>
                    <a:lstStyle/>
                    <a:p>
                      <a:pPr algn="ctr"/>
                      <a:r>
                        <a:rPr sz="1100" b="0">
                          <a:solidFill>
                            <a:srgbClr val="002C59"/>
                          </a:solidFill>
                          <a:latin typeface="Arial"/>
                        </a:rPr>
                        <a:t>CHF 15</a:t>
                      </a:r>
                    </a:p>
                  </a:txBody>
                  <a:tcPr marL="73152" marR="73152" marT="27432" marB="27432" anchor="ctr">
                    <a:solidFill>
                      <a:srgbClr val="EAF1F8"/>
                    </a:solidFill>
                  </a:tcPr>
                </a:tc>
                <a:tc>
                  <a:txBody>
                    <a:bodyPr/>
                    <a:lstStyle/>
                    <a:p>
                      <a:pPr algn="ctr"/>
                      <a:r>
                        <a:rPr sz="1100" b="0">
                          <a:solidFill>
                            <a:srgbClr val="002C59"/>
                          </a:solidFill>
                          <a:latin typeface="Arial"/>
                        </a:rPr>
                        <a:t>CHF 45</a:t>
                      </a:r>
                    </a:p>
                  </a:txBody>
                  <a:tcPr marL="73152" marR="73152" marT="27432" marB="27432" anchor="ctr">
                    <a:solidFill>
                      <a:srgbClr val="EAF1F8"/>
                    </a:solidFill>
                  </a:tcPr>
                </a:tc>
                <a:extLst>
                  <a:ext uri="{0D108BD9-81ED-4DB2-BD59-A6C34878D82A}">
                    <a16:rowId xmlns:a16="http://schemas.microsoft.com/office/drawing/2014/main" val="10001"/>
                  </a:ext>
                </a:extLst>
              </a:tr>
              <a:tr h="475488">
                <a:tc>
                  <a:txBody>
                    <a:bodyPr/>
                    <a:lstStyle/>
                    <a:p>
                      <a:pPr algn="l"/>
                      <a:r>
                        <a:rPr sz="1100" b="1">
                          <a:solidFill>
                            <a:srgbClr val="002C59"/>
                          </a:solidFill>
                          <a:latin typeface="Arial"/>
                        </a:rPr>
                        <a:t>Toilette</a:t>
                      </a:r>
                    </a:p>
                  </a:txBody>
                  <a:tcPr marL="73152" marR="73152" marT="27432" marB="27432" anchor="ctr">
                    <a:solidFill>
                      <a:srgbClr val="FFFFFF"/>
                    </a:solidFill>
                  </a:tcPr>
                </a:tc>
                <a:tc>
                  <a:txBody>
                    <a:bodyPr/>
                    <a:lstStyle/>
                    <a:p>
                      <a:pPr algn="ctr"/>
                      <a:r>
                        <a:rPr sz="1100" b="0">
                          <a:solidFill>
                            <a:srgbClr val="002C59"/>
                          </a:solidFill>
                          <a:latin typeface="Arial"/>
                        </a:rPr>
                        <a:t>Klassisches WC</a:t>
                      </a:r>
                    </a:p>
                  </a:txBody>
                  <a:tcPr marL="73152" marR="73152" marT="27432" marB="27432" anchor="ctr">
                    <a:solidFill>
                      <a:srgbClr val="FFFFFF"/>
                    </a:solidFill>
                  </a:tcPr>
                </a:tc>
                <a:tc>
                  <a:txBody>
                    <a:bodyPr/>
                    <a:lstStyle/>
                    <a:p>
                      <a:pPr algn="ctr"/>
                      <a:r>
                        <a:rPr sz="1100" b="0">
                          <a:solidFill>
                            <a:srgbClr val="002C59"/>
                          </a:solidFill>
                          <a:latin typeface="Arial"/>
                        </a:rPr>
                        <a:t>WC mit leiser Spülung und Geruchsabsaugung</a:t>
                      </a:r>
                    </a:p>
                  </a:txBody>
                  <a:tcPr marL="73152" marR="73152" marT="27432" marB="27432" anchor="ctr">
                    <a:solidFill>
                      <a:srgbClr val="FFFFFF"/>
                    </a:solidFill>
                  </a:tcPr>
                </a:tc>
                <a:tc>
                  <a:txBody>
                    <a:bodyPr/>
                    <a:lstStyle/>
                    <a:p>
                      <a:pPr algn="ctr"/>
                      <a:r>
                        <a:rPr sz="1100" b="0">
                          <a:solidFill>
                            <a:srgbClr val="002C59"/>
                          </a:solidFill>
                          <a:latin typeface="Arial"/>
                        </a:rPr>
                        <a:t>Dusch-WC mit Warmwasser-Reinigung</a:t>
                      </a:r>
                    </a:p>
                  </a:txBody>
                  <a:tcPr marL="73152" marR="73152" marT="27432" marB="27432" anchor="ctr">
                    <a:solidFill>
                      <a:srgbClr val="FFFFFF"/>
                    </a:solidFill>
                  </a:tcPr>
                </a:tc>
                <a:extLst>
                  <a:ext uri="{0D108BD9-81ED-4DB2-BD59-A6C34878D82A}">
                    <a16:rowId xmlns:a16="http://schemas.microsoft.com/office/drawing/2014/main" val="10002"/>
                  </a:ext>
                </a:extLst>
              </a:tr>
              <a:tr h="475488">
                <a:tc>
                  <a:txBody>
                    <a:bodyPr/>
                    <a:lstStyle/>
                    <a:p>
                      <a:pPr algn="l"/>
                      <a:r>
                        <a:rPr sz="1100" b="1">
                          <a:solidFill>
                            <a:srgbClr val="002C59"/>
                          </a:solidFill>
                          <a:latin typeface="Arial"/>
                        </a:rPr>
                        <a:t>Dusche</a:t>
                      </a:r>
                    </a:p>
                  </a:txBody>
                  <a:tcPr marL="73152" marR="73152" marT="27432" marB="27432" anchor="ctr">
                    <a:solidFill>
                      <a:srgbClr val="EAF1F8"/>
                    </a:solidFill>
                  </a:tcPr>
                </a:tc>
                <a:tc>
                  <a:txBody>
                    <a:bodyPr/>
                    <a:lstStyle/>
                    <a:p>
                      <a:pPr algn="ctr"/>
                      <a:r>
                        <a:rPr sz="1100" b="0">
                          <a:solidFill>
                            <a:srgbClr val="002C59"/>
                          </a:solidFill>
                          <a:latin typeface="Arial"/>
                        </a:rPr>
                        <a:t>Standard-Duschwanne</a:t>
                      </a:r>
                    </a:p>
                  </a:txBody>
                  <a:tcPr marL="73152" marR="73152" marT="27432" marB="27432" anchor="ctr">
                    <a:solidFill>
                      <a:srgbClr val="EAF1F8"/>
                    </a:solidFill>
                  </a:tcPr>
                </a:tc>
                <a:tc>
                  <a:txBody>
                    <a:bodyPr/>
                    <a:lstStyle/>
                    <a:p>
                      <a:pPr algn="ctr"/>
                      <a:r>
                        <a:rPr sz="1100" b="0">
                          <a:solidFill>
                            <a:srgbClr val="002C59"/>
                          </a:solidFill>
                          <a:latin typeface="Arial"/>
                        </a:rPr>
                        <a:t>Bodenebene Dusche mit Duschrinne</a:t>
                      </a:r>
                    </a:p>
                  </a:txBody>
                  <a:tcPr marL="73152" marR="73152" marT="27432" marB="27432" anchor="ctr">
                    <a:solidFill>
                      <a:srgbClr val="EAF1F8"/>
                    </a:solidFill>
                  </a:tcPr>
                </a:tc>
                <a:tc>
                  <a:txBody>
                    <a:bodyPr/>
                    <a:lstStyle/>
                    <a:p>
                      <a:pPr algn="ctr"/>
                      <a:r>
                        <a:rPr sz="1100" b="0">
                          <a:solidFill>
                            <a:srgbClr val="002C59"/>
                          </a:solidFill>
                          <a:latin typeface="Arial"/>
                        </a:rPr>
                        <a:t>Bodenebene Dusche mit Regendusche</a:t>
                      </a:r>
                    </a:p>
                  </a:txBody>
                  <a:tcPr marL="73152" marR="73152" marT="27432" marB="27432" anchor="ctr">
                    <a:solidFill>
                      <a:srgbClr val="EAF1F8"/>
                    </a:solidFill>
                  </a:tcPr>
                </a:tc>
                <a:extLst>
                  <a:ext uri="{0D108BD9-81ED-4DB2-BD59-A6C34878D82A}">
                    <a16:rowId xmlns:a16="http://schemas.microsoft.com/office/drawing/2014/main" val="10003"/>
                  </a:ext>
                </a:extLst>
              </a:tr>
              <a:tr h="475488">
                <a:tc>
                  <a:txBody>
                    <a:bodyPr/>
                    <a:lstStyle/>
                    <a:p>
                      <a:pPr algn="l"/>
                      <a:r>
                        <a:rPr sz="1100" b="1">
                          <a:solidFill>
                            <a:srgbClr val="002C59"/>
                          </a:solidFill>
                          <a:latin typeface="Arial"/>
                        </a:rPr>
                        <a:t>Waschtisch</a:t>
                      </a:r>
                    </a:p>
                  </a:txBody>
                  <a:tcPr marL="73152" marR="73152" marT="27432" marB="27432" anchor="ctr">
                    <a:solidFill>
                      <a:srgbClr val="FFFFFF"/>
                    </a:solidFill>
                  </a:tcPr>
                </a:tc>
                <a:tc>
                  <a:txBody>
                    <a:bodyPr/>
                    <a:lstStyle/>
                    <a:p>
                      <a:pPr algn="ctr"/>
                      <a:r>
                        <a:rPr sz="1100" b="0">
                          <a:solidFill>
                            <a:srgbClr val="002C59"/>
                          </a:solidFill>
                          <a:latin typeface="Arial"/>
                        </a:rPr>
                        <a:t>Kleiner Waschtisch, Standardarmatur</a:t>
                      </a:r>
                    </a:p>
                  </a:txBody>
                  <a:tcPr marL="73152" marR="73152" marT="27432" marB="27432" anchor="ctr">
                    <a:solidFill>
                      <a:srgbClr val="FFFFFF"/>
                    </a:solidFill>
                  </a:tcPr>
                </a:tc>
                <a:tc>
                  <a:txBody>
                    <a:bodyPr/>
                    <a:lstStyle/>
                    <a:p>
                      <a:pPr algn="ctr"/>
                      <a:r>
                        <a:rPr sz="1100" b="0">
                          <a:solidFill>
                            <a:srgbClr val="002C59"/>
                          </a:solidFill>
                          <a:latin typeface="Arial"/>
                        </a:rPr>
                        <a:t>Grosser Waschtisch, Standardarmatur</a:t>
                      </a:r>
                    </a:p>
                  </a:txBody>
                  <a:tcPr marL="73152" marR="73152" marT="27432" marB="27432" anchor="ctr">
                    <a:solidFill>
                      <a:srgbClr val="FFFFFF"/>
                    </a:solidFill>
                  </a:tcPr>
                </a:tc>
                <a:tc>
                  <a:txBody>
                    <a:bodyPr/>
                    <a:lstStyle/>
                    <a:p>
                      <a:pPr algn="ctr"/>
                      <a:r>
                        <a:rPr sz="1100" b="0">
                          <a:solidFill>
                            <a:srgbClr val="002C59"/>
                          </a:solidFill>
                          <a:latin typeface="Arial"/>
                        </a:rPr>
                        <a:t>Grosser Waschtisch, berührungslose Armatur</a:t>
                      </a:r>
                    </a:p>
                  </a:txBody>
                  <a:tcPr marL="73152" marR="73152" marT="27432" marB="27432" anchor="ctr">
                    <a:solidFill>
                      <a:srgbClr val="FFFFFF"/>
                    </a:solidFill>
                  </a:tcPr>
                </a:tc>
                <a:extLst>
                  <a:ext uri="{0D108BD9-81ED-4DB2-BD59-A6C34878D82A}">
                    <a16:rowId xmlns:a16="http://schemas.microsoft.com/office/drawing/2014/main" val="10004"/>
                  </a:ext>
                </a:extLst>
              </a:tr>
              <a:tr h="475488">
                <a:tc>
                  <a:txBody>
                    <a:bodyPr/>
                    <a:lstStyle/>
                    <a:p>
                      <a:pPr algn="l"/>
                      <a:r>
                        <a:rPr sz="1100" b="1">
                          <a:solidFill>
                            <a:srgbClr val="002C59"/>
                          </a:solidFill>
                          <a:latin typeface="Arial"/>
                        </a:rPr>
                        <a:t>Spiegel und Ablage</a:t>
                      </a:r>
                    </a:p>
                  </a:txBody>
                  <a:tcPr marL="73152" marR="73152" marT="27432" marB="27432" anchor="ctr">
                    <a:solidFill>
                      <a:srgbClr val="EAF1F8"/>
                    </a:solidFill>
                  </a:tcPr>
                </a:tc>
                <a:tc>
                  <a:txBody>
                    <a:bodyPr/>
                    <a:lstStyle/>
                    <a:p>
                      <a:pPr algn="ctr"/>
                      <a:r>
                        <a:rPr sz="1100" b="0">
                          <a:solidFill>
                            <a:srgbClr val="002C59"/>
                          </a:solidFill>
                          <a:latin typeface="Arial"/>
                        </a:rPr>
                        <a:t>Kleiner Spiegel, wenig Ablage</a:t>
                      </a:r>
                    </a:p>
                  </a:txBody>
                  <a:tcPr marL="73152" marR="73152" marT="27432" marB="27432" anchor="ctr">
                    <a:solidFill>
                      <a:srgbClr val="EAF1F8"/>
                    </a:solidFill>
                  </a:tcPr>
                </a:tc>
                <a:tc>
                  <a:txBody>
                    <a:bodyPr/>
                    <a:lstStyle/>
                    <a:p>
                      <a:pPr algn="ctr"/>
                      <a:r>
                        <a:rPr sz="1100" b="0">
                          <a:solidFill>
                            <a:srgbClr val="002C59"/>
                          </a:solidFill>
                          <a:latin typeface="Arial"/>
                        </a:rPr>
                        <a:t>Grosser beleuchteter Spiegel, viel Ablage</a:t>
                      </a:r>
                    </a:p>
                  </a:txBody>
                  <a:tcPr marL="73152" marR="73152" marT="27432" marB="27432" anchor="ctr">
                    <a:solidFill>
                      <a:srgbClr val="EAF1F8"/>
                    </a:solidFill>
                  </a:tcPr>
                </a:tc>
                <a:tc>
                  <a:txBody>
                    <a:bodyPr/>
                    <a:lstStyle/>
                    <a:p>
                      <a:pPr algn="ctr"/>
                      <a:r>
                        <a:rPr sz="1100" b="0">
                          <a:solidFill>
                            <a:srgbClr val="002C59"/>
                          </a:solidFill>
                          <a:latin typeface="Arial"/>
                        </a:rPr>
                        <a:t>Grosser Spiegel, dimmbar und beschlagfrei</a:t>
                      </a:r>
                    </a:p>
                  </a:txBody>
                  <a:tcPr marL="73152" marR="73152" marT="27432" marB="27432" anchor="ctr">
                    <a:solidFill>
                      <a:srgbClr val="EAF1F8"/>
                    </a:solidFill>
                  </a:tcPr>
                </a:tc>
                <a:extLst>
                  <a:ext uri="{0D108BD9-81ED-4DB2-BD59-A6C34878D82A}">
                    <a16:rowId xmlns:a16="http://schemas.microsoft.com/office/drawing/2014/main" val="10005"/>
                  </a:ext>
                </a:extLst>
              </a:tr>
            </a:tbl>
          </a:graphicData>
        </a:graphic>
      </p:graphicFrame>
      <p:sp>
        <p:nvSpPr>
          <p:cNvPr id="6" name="TextBox 5"/>
          <p:cNvSpPr txBox="1"/>
          <p:nvPr/>
        </p:nvSpPr>
        <p:spPr>
          <a:xfrm>
            <a:off x="365760" y="4343400"/>
            <a:ext cx="8412480" cy="457200"/>
          </a:xfrm>
          <a:prstGeom prst="rect">
            <a:avLst/>
          </a:prstGeom>
          <a:noFill/>
        </p:spPr>
        <p:txBody>
          <a:bodyPr wrap="square" lIns="0" tIns="0" rIns="0" bIns="0" anchor="t">
            <a:spAutoFit/>
          </a:bodyPr>
          <a:lstStyle/>
          <a:p>
            <a:pPr algn="l"/>
            <a:r>
              <a:rPr sz="1100" b="0" i="0">
                <a:solidFill>
                  <a:srgbClr val="646464"/>
                </a:solidFill>
                <a:latin typeface="Arial"/>
              </a:rPr>
              <a:t>7 Wahlaufgaben mit 3 Profilen und «Keine»-Option; Referenzzimmerpreis CHF 150. Faustregel n·t·a/c ≥ 500 (Orme, 2019) erst ab 72 Befragten erfüllt.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A7: Quellen (Auswahl, vollständig im Bericht)</a:t>
            </a:r>
          </a:p>
        </p:txBody>
      </p:sp>
      <p:sp>
        <p:nvSpPr>
          <p:cNvPr id="3" name="Fußzeilenplatzhalter"/>
          <p:cNvSpPr>
            <a:spLocks noGrp="1"/>
          </p:cNvSpPr>
          <p:nvPr>
            <p:ph type="ftr" sz="quarter" idx="3"/>
          </p:nvPr>
        </p:nvSpPr>
        <p:spPr/>
        <p:txBody>
          <a:bodyPr/>
          <a:lstStyle/>
          <a:p>
            <a:r>
              <a:rPr lang="de-CH">
                <a:solidFill>
                  <a:srgbClr val="012C59"/>
                </a:solidFill>
              </a:rPr>
              <a:t>CAS Pricing | Gruppe 2</a:t>
            </a:r>
          </a:p>
        </p:txBody>
      </p:sp>
      <p:sp>
        <p:nvSpPr>
          <p:cNvPr id="4" name="Foliennummernplatzhalter"/>
          <p:cNvSpPr>
            <a:spLocks noGrp="1"/>
          </p:cNvSpPr>
          <p:nvPr>
            <p:ph type="sldNum" sz="quarter" idx="4"/>
          </p:nvPr>
        </p:nvSpPr>
        <p:spPr/>
        <p:txBody>
          <a:bodyPr/>
          <a:lstStyle/>
          <a:p>
            <a:fld id="{05F9AC53-F790-4868-97E7-45E3866EE614}" type="slidenum">
              <a:rPr lang="de-CH"/>
              <a:t>19</a:t>
            </a:fld>
            <a:endParaRPr lang="de-CH"/>
          </a:p>
        </p:txBody>
      </p:sp>
      <p:sp>
        <p:nvSpPr>
          <p:cNvPr id="5" name="Quellenliste"/>
          <p:cNvSpPr txBox="1"/>
          <p:nvPr/>
        </p:nvSpPr>
        <p:spPr>
          <a:xfrm>
            <a:off x="365760" y="1280160"/>
            <a:ext cx="8412480" cy="3474720"/>
          </a:xfrm>
          <a:prstGeom prst="rect">
            <a:avLst/>
          </a:prstGeom>
          <a:noFill/>
        </p:spPr>
        <p:txBody>
          <a:bodyPr wrap="square" lIns="0" tIns="0" rIns="0" bIns="0" anchor="t">
            <a:spAutoFit/>
          </a:bodyPr>
          <a:lstStyle/>
          <a:p>
            <a:pPr algn="l">
              <a:spcAft>
                <a:spcPts val="500"/>
              </a:spcAft>
            </a:pPr>
            <a:r>
              <a:rPr sz="1100" b="0" i="0">
                <a:solidFill>
                  <a:srgbClr val="002C59"/>
                </a:solidFill>
                <a:latin typeface="Arial"/>
              </a:rPr>
              <a:t>Breidert, C., Hahsler, M., &amp; Reutterer, T. (2006). A review of methods for measuring willingness-to-pay. Innovative Marketing, 2(4), 8–32.</a:t>
            </a:r>
          </a:p>
          <a:p>
            <a:pPr algn="l">
              <a:spcAft>
                <a:spcPts val="500"/>
              </a:spcAft>
            </a:pPr>
            <a:r>
              <a:rPr sz="1100" b="0" i="0">
                <a:solidFill>
                  <a:srgbClr val="002C59"/>
                </a:solidFill>
                <a:latin typeface="Arial"/>
              </a:rPr>
              <a:t>Gabor, A., &amp; Granger, C. W. J. (1966). Price as an indicator of quality. Economica, 33(129), 43–70.</a:t>
            </a:r>
          </a:p>
          <a:p>
            <a:pPr algn="l">
              <a:spcAft>
                <a:spcPts val="500"/>
              </a:spcAft>
            </a:pPr>
            <a:r>
              <a:rPr sz="1100" b="0" i="0">
                <a:solidFill>
                  <a:srgbClr val="002C59"/>
                </a:solidFill>
                <a:latin typeface="Arial"/>
              </a:rPr>
              <a:t>Herriges, J. A., &amp; Shogren, J. F. (1996). Starting point bias in dichotomous choice valuation with follow-up questioning. JEEM, 30(1), 112–131.</a:t>
            </a:r>
          </a:p>
          <a:p>
            <a:pPr algn="l">
              <a:spcAft>
                <a:spcPts val="500"/>
              </a:spcAft>
            </a:pPr>
            <a:r>
              <a:rPr sz="1100" b="0" i="0">
                <a:solidFill>
                  <a:srgbClr val="002C59"/>
                </a:solidFill>
                <a:latin typeface="Arial"/>
              </a:rPr>
              <a:t>Kuss, A., Wildner, R., &amp; Kreis, H. (2020). Marktforschung: Datenerhebung und Datenanalyse. Springer Gabler.</a:t>
            </a:r>
          </a:p>
          <a:p>
            <a:pPr algn="l">
              <a:spcAft>
                <a:spcPts val="500"/>
              </a:spcAft>
            </a:pPr>
            <a:r>
              <a:rPr sz="1100" b="0" i="0">
                <a:solidFill>
                  <a:srgbClr val="002C59"/>
                </a:solidFill>
                <a:latin typeface="Arial"/>
              </a:rPr>
              <a:t>Lipovetsky, S., Magnan, S., &amp; Zanetti-Polzi, A. (2011). Pricing models in marketing research. Intelligent Information Management, 3(5), 167–174.</a:t>
            </a:r>
          </a:p>
          <a:p>
            <a:pPr algn="l">
              <a:spcAft>
                <a:spcPts val="500"/>
              </a:spcAft>
            </a:pPr>
            <a:r>
              <a:rPr sz="1100" b="0" i="0">
                <a:solidFill>
                  <a:srgbClr val="002C59"/>
                </a:solidFill>
                <a:latin typeface="Arial"/>
              </a:rPr>
              <a:t>Masiero, L., Heo, C. Y., &amp; Pan, B. (2015). Determining guests’ willingness to pay for hotel room attributes with a discrete choice model. IJHM, 49, 117–124.</a:t>
            </a:r>
          </a:p>
          <a:p>
            <a:pPr algn="l">
              <a:spcAft>
                <a:spcPts val="500"/>
              </a:spcAft>
            </a:pPr>
            <a:r>
              <a:rPr sz="1100" b="0" i="0">
                <a:solidFill>
                  <a:srgbClr val="002C59"/>
                </a:solidFill>
                <a:latin typeface="Arial"/>
              </a:rPr>
              <a:t>Miller, K. M., Hofstetter, R., Krohmer, H., &amp; Zhang, Z. J. (2011). How should consumers’ willingness to pay be measured? JMR, 48(1), 172–184.</a:t>
            </a:r>
          </a:p>
          <a:p>
            <a:pPr algn="l">
              <a:spcAft>
                <a:spcPts val="500"/>
              </a:spcAft>
            </a:pPr>
            <a:r>
              <a:rPr sz="1100" b="0" i="0">
                <a:solidFill>
                  <a:srgbClr val="002C59"/>
                </a:solidFill>
                <a:latin typeface="Arial"/>
              </a:rPr>
              <a:t>Orme, B. K. (2019). Getting started with conjoint analysis (4. Aufl.). Research Publishers.</a:t>
            </a:r>
          </a:p>
          <a:p>
            <a:pPr algn="l">
              <a:spcAft>
                <a:spcPts val="500"/>
              </a:spcAft>
            </a:pPr>
            <a:r>
              <a:rPr sz="1100" b="0" i="0">
                <a:solidFill>
                  <a:srgbClr val="002C59"/>
                </a:solidFill>
                <a:latin typeface="Arial"/>
              </a:rPr>
              <a:t>Schmidt, J., &amp; Bijmolt, T. H. A. (2020). Accurately measuring willingness to pay for consumer goods. JAMS, 48(3), 499–518.</a:t>
            </a:r>
          </a:p>
          <a:p>
            <a:pPr algn="l">
              <a:spcAft>
                <a:spcPts val="500"/>
              </a:spcAft>
            </a:pPr>
            <a:r>
              <a:rPr sz="1100" b="0" i="0">
                <a:solidFill>
                  <a:srgbClr val="002C59"/>
                </a:solidFill>
                <a:latin typeface="Arial"/>
              </a:rPr>
              <a:t>Verlegh, P. W. J., Schifferstein, H. N. J., &amp; Wittink, D. R. (2002). Range and number-of-levels effects. Marketing Letters, 13(1), 41–52.</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PP SML_englisch_AACSB">
  <a:themeElements>
    <a:clrScheme name="ZHAW_PPT_neu">
      <a:dk1>
        <a:srgbClr val="002C59"/>
      </a:dk1>
      <a:lt1>
        <a:srgbClr val="FFFFFF"/>
      </a:lt1>
      <a:dk2>
        <a:srgbClr val="EA5B0C"/>
      </a:dk2>
      <a:lt2>
        <a:srgbClr val="F2E61A"/>
      </a:lt2>
      <a:accent1>
        <a:srgbClr val="0064A6"/>
      </a:accent1>
      <a:accent2>
        <a:srgbClr val="012C59"/>
      </a:accent2>
      <a:accent3>
        <a:srgbClr val="6799CA"/>
      </a:accent3>
      <a:accent4>
        <a:srgbClr val="9DB9DD"/>
      </a:accent4>
      <a:accent5>
        <a:srgbClr val="646464"/>
      </a:accent5>
      <a:accent6>
        <a:srgbClr val="969696"/>
      </a:accent6>
      <a:hlink>
        <a:srgbClr val="000000"/>
      </a:hlink>
      <a:folHlink>
        <a:srgbClr val="6FBAED"/>
      </a:folHlink>
    </a:clrScheme>
    <a:fontScheme name="zhaw">
      <a:majorFont>
        <a:latin typeface="Arial Black"/>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2700">
          <a:solidFill>
            <a:schemeClr val="bg1"/>
          </a:solidFill>
          <a:miter lim="800000"/>
          <a:headEnd/>
          <a:tailEnd/>
        </a:ln>
      </a:spPr>
      <a:bodyPr wrap="square" lIns="36000" tIns="36000" rIns="36000" bIns="36000" anchor="ctr" anchorCtr="1"/>
      <a:lstStyle>
        <a:defPPr algn="l">
          <a:defRPr b="1" dirty="0" smtClean="0">
            <a:solidFill>
              <a:schemeClr val="bg1"/>
            </a:solidFill>
            <a:ea typeface="ＭＳ Ｐゴシック" pitchFamily="50" charset="-128"/>
          </a:defRPr>
        </a:defPPr>
      </a:lstStyle>
    </a:spDef>
  </a:objectDefaults>
  <a:extraClrSchemeLst/>
  <a:extLst>
    <a:ext uri="{05A4C25C-085E-4340-85A3-A5531E510DB2}">
      <thm15:themeFamily xmlns:thm15="http://schemas.microsoft.com/office/thememl/2012/main" name="PowerPoint_Template_SML_16_9_DE_2023.pptx" id="{EC15935D-8FE0-4274-818C-15BF66FDD2E1}" vid="{382D034A-F2CE-4C5F-9500-3682D1819D4A}"/>
    </a:ext>
  </a:ext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item1.xml><?xml version="1.0" encoding="utf-8"?>
<VariableList UniqueId="145657b4-b8f5-4796-b4d6-5ad0202156cb" Name="Computed" ContentType="XML" MajorVersion="0" MinorVersion="1" isLocalCopy="False" IsBaseObject="False" DataSourceId="d047bc2d-ea0e-4827-9c6c-eda3deaf492a" DataSourceMajorVersion="0" DataSourceMinorVersion="1"/>
</file>

<file path=customXml/item2.xml><?xml version="1.0" encoding="utf-8"?>
<VariableListDefinition name="System" displayName="System" id="f9d12240-e4e0-447c-a279-5cfbdc1d54bc" isdomainofvalue="False" dataSourceId="e900a022-2ee3-47aa-95bc-cf4962dd15bc"/>
</file>

<file path=customXml/item3.xml><?xml version="1.0" encoding="utf-8"?>
<VariableListDefinition name="AD_HOC" displayName="AD_HOC" id="cbf17c5a-5824-4c10-889d-65c6df0b3ad2" isdomainofvalue="False" dataSourceId="fa42598e-4842-4137-85b3-bc234252d283"/>
</file>

<file path=customXml/item4.xml><?xml version="1.0" encoding="utf-8"?>
<VariableList UniqueId="cbf17c5a-5824-4c10-889d-65c6df0b3ad2" Name="AD_HOC" ContentType="XML" MajorVersion="0" MinorVersion="1" isLocalCopy="False" IsBaseObject="False" DataSourceId="fa42598e-4842-4137-85b3-bc234252d283" DataSourceMajorVersion="0" DataSourceMinorVersion="1"/>
</file>

<file path=customXml/item5.xml><?xml version="1.0" encoding="utf-8"?>
<AllExternalAdhocVariableMappings/>
</file>

<file path=customXml/item6.xml><?xml version="1.0" encoding="utf-8"?>
<VariableList UniqueId="f9d12240-e4e0-447c-a279-5cfbdc1d54bc" Name="System" ContentType="XML" MajorVersion="0" MinorVersion="1" isLocalCopy="False" IsBaseObject="False" DataSourceId="e900a022-2ee3-47aa-95bc-cf4962dd15bc" DataSourceMajorVersion="0" DataSourceMinorVersion="1"/>
</file>

<file path=customXml/item7.xml><?xml version="1.0" encoding="utf-8"?>
<VariableListDefinition name="Computed" displayName="Computed" id="145657b4-b8f5-4796-b4d6-5ad0202156cb" isdomainofvalue="False" dataSourceId="d047bc2d-ea0e-4827-9c6c-eda3deaf492a"/>
</file>

<file path=customXml/itemProps1.xml><?xml version="1.0" encoding="utf-8"?>
<ds:datastoreItem xmlns:ds="http://schemas.openxmlformats.org/officeDocument/2006/customXml" ds:itemID="{17A2846B-FC8E-49C9-8A38-DC56ED4E9F42}">
  <ds:schemaRefs/>
</ds:datastoreItem>
</file>

<file path=customXml/itemProps2.xml><?xml version="1.0" encoding="utf-8"?>
<ds:datastoreItem xmlns:ds="http://schemas.openxmlformats.org/officeDocument/2006/customXml" ds:itemID="{76F94A71-2C14-4177-8C82-6A59E103E987}">
  <ds:schemaRefs/>
</ds:datastoreItem>
</file>

<file path=customXml/itemProps3.xml><?xml version="1.0" encoding="utf-8"?>
<ds:datastoreItem xmlns:ds="http://schemas.openxmlformats.org/officeDocument/2006/customXml" ds:itemID="{E733264B-5ECE-46BF-8FE3-7F0E0F6E4E16}">
  <ds:schemaRefs/>
</ds:datastoreItem>
</file>

<file path=customXml/itemProps4.xml><?xml version="1.0" encoding="utf-8"?>
<ds:datastoreItem xmlns:ds="http://schemas.openxmlformats.org/officeDocument/2006/customXml" ds:itemID="{C2C751EE-D757-44D7-B62C-B1794CD6BE59}">
  <ds:schemaRefs/>
</ds:datastoreItem>
</file>

<file path=customXml/itemProps5.xml><?xml version="1.0" encoding="utf-8"?>
<ds:datastoreItem xmlns:ds="http://schemas.openxmlformats.org/officeDocument/2006/customXml" ds:itemID="{5B1DE78D-2B0B-4D0D-A586-18E6B2BB4502}">
  <ds:schemaRefs/>
</ds:datastoreItem>
</file>

<file path=customXml/itemProps6.xml><?xml version="1.0" encoding="utf-8"?>
<ds:datastoreItem xmlns:ds="http://schemas.openxmlformats.org/officeDocument/2006/customXml" ds:itemID="{76A0325B-5F5F-43A2-8090-4A18AFB661F6}">
  <ds:schemaRefs/>
</ds:datastoreItem>
</file>

<file path=customXml/itemProps7.xml><?xml version="1.0" encoding="utf-8"?>
<ds:datastoreItem xmlns:ds="http://schemas.openxmlformats.org/officeDocument/2006/customXml" ds:itemID="{EA62E2AA-386B-4B90-8CBA-CD0EE7FB646E}">
  <ds:schemaRefs/>
</ds:datastoreItem>
</file>

<file path=docProps/app.xml><?xml version="1.0" encoding="utf-8"?>
<Properties xmlns="http://schemas.openxmlformats.org/officeDocument/2006/extended-properties" xmlns:vt="http://schemas.openxmlformats.org/officeDocument/2006/docPropsVTypes">
  <Template>PowerPoint_Template_SML_16_9_DE_2023</Template>
  <TotalTime>0</TotalTime>
  <Words>5350</Words>
  <Application>Microsoft Office PowerPoint</Application>
  <PresentationFormat>Bildschirmpräsentation (16:9)</PresentationFormat>
  <Paragraphs>411</Paragraphs>
  <Slides>19</Slides>
  <Notes>19</Notes>
  <HiddenSlides>0</HiddenSlides>
  <MMClips>0</MMClips>
  <ScaleCrop>false</ScaleCrop>
  <HeadingPairs>
    <vt:vector size="8" baseType="variant">
      <vt:variant>
        <vt:lpstr>Verwendete Schriftarten</vt:lpstr>
      </vt:variant>
      <vt:variant>
        <vt:i4>5</vt:i4>
      </vt:variant>
      <vt:variant>
        <vt:lpstr>Design</vt:lpstr>
      </vt:variant>
      <vt:variant>
        <vt:i4>1</vt:i4>
      </vt:variant>
      <vt:variant>
        <vt:lpstr>Eingebettete OLE-Server</vt:lpstr>
      </vt:variant>
      <vt:variant>
        <vt:i4>1</vt:i4>
      </vt:variant>
      <vt:variant>
        <vt:lpstr>Folientitel</vt:lpstr>
      </vt:variant>
      <vt:variant>
        <vt:i4>19</vt:i4>
      </vt:variant>
    </vt:vector>
  </HeadingPairs>
  <TitlesOfParts>
    <vt:vector size="26" baseType="lpstr">
      <vt:lpstr>ＭＳ Ｐゴシック</vt:lpstr>
      <vt:lpstr>Arial</vt:lpstr>
      <vt:lpstr>Calibri</vt:lpstr>
      <vt:lpstr>Symbol</vt:lpstr>
      <vt:lpstr>ヒラギノ角ゴ Pro W3</vt:lpstr>
      <vt:lpstr>PP SML_englisch_AACSB</vt:lpstr>
      <vt:lpstr>think-cell Folie</vt:lpstr>
      <vt:lpstr>Zahlungsbereitschaft für hochwertige Sanitärausstattung im Hotelzimmer Marilena Marraffino und Dominic Hüppi, Gruppe 2  </vt:lpstr>
      <vt:lpstr>Wie viel Aufpreis zahlen Hotelgäste für ein besseres Bad?</vt:lpstr>
      <vt:lpstr>Zwei Verfahren, zwei Online-Befragungen</vt:lpstr>
      <vt:lpstr>Gabor-Granger: Das Premium-Bad hält die Zustimmung am längsten</vt:lpstr>
      <vt:lpstr>Nur das Premium-Optimum von CHF 20 ist robust</vt:lpstr>
      <vt:lpstr>CBC: Der Preis dominiert, die Dusche ist der Werthebel</vt:lpstr>
      <vt:lpstr>Marktsimulation: Der Preisabstand entscheidet über die Wahl</vt:lpstr>
      <vt:lpstr>Beide Verfahren stützen CHF 15 bis 20 Aufpreis pro Nacht</vt:lpstr>
      <vt:lpstr>Vier Empfehlungen für die Geberit AG</vt:lpstr>
      <vt:lpstr>Fazit und Grenzen</vt:lpstr>
      <vt:lpstr>Fragen und Diskussion</vt:lpstr>
      <vt:lpstr>Anhang</vt:lpstr>
      <vt:lpstr>A1: Kennzahlen der Gabor-Granger-Analyse (n = 20)</vt:lpstr>
      <vt:lpstr>A2: Statistische Absicherung der Gabor-Granger-Analyse</vt:lpstr>
      <vt:lpstr>A3: Teilnutzenwerte der CBC (n = 12)</vt:lpstr>
      <vt:lpstr>A4: Segmente der beiden Verfahren</vt:lpstr>
      <vt:lpstr>A5: Szenarien der Marktsimulation (n = 12)</vt:lpstr>
      <vt:lpstr>A6: Design der Choice-based Conjoint-Analyse</vt:lpstr>
      <vt:lpstr>A7: Quellen (Auswahl, vollständig im Bericht)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Hutmacher Nadja (htmn)</dc:creator>
  <cp:lastModifiedBy>Marilena Marraffino</cp:lastModifiedBy>
  <cp:revision>51</cp:revision>
  <cp:lastPrinted>2019-02-26T10:31:31Z</cp:lastPrinted>
  <dcterms:created xsi:type="dcterms:W3CDTF">2024-02-06T17:55:00Z</dcterms:created>
  <dcterms:modified xsi:type="dcterms:W3CDTF">2026-10-11T08:12:40Z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0d9bad3-6dac-4e9a-89a3-89f3b8d247b2_Enabled">
    <vt:lpwstr>true</vt:lpwstr>
  </property>
  <property fmtid="{D5CDD505-2E9C-101B-9397-08002B2CF9AE}" pid="3" name="MSIP_Label_10d9bad3-6dac-4e9a-89a3-89f3b8d247b2_SetDate">
    <vt:lpwstr>2021-10-05T10:58:27Z</vt:lpwstr>
  </property>
  <property fmtid="{D5CDD505-2E9C-101B-9397-08002B2CF9AE}" pid="4" name="MSIP_Label_10d9bad3-6dac-4e9a-89a3-89f3b8d247b2_Method">
    <vt:lpwstr>Standard</vt:lpwstr>
  </property>
  <property fmtid="{D5CDD505-2E9C-101B-9397-08002B2CF9AE}" pid="5" name="MSIP_Label_10d9bad3-6dac-4e9a-89a3-89f3b8d247b2_Name">
    <vt:lpwstr>10d9bad3-6dac-4e9a-89a3-89f3b8d247b2</vt:lpwstr>
  </property>
  <property fmtid="{D5CDD505-2E9C-101B-9397-08002B2CF9AE}" pid="6" name="MSIP_Label_10d9bad3-6dac-4e9a-89a3-89f3b8d247b2_SiteId">
    <vt:lpwstr>5d1a9f9d-201f-4a10-b983-451cf65cbc1e</vt:lpwstr>
  </property>
  <property fmtid="{D5CDD505-2E9C-101B-9397-08002B2CF9AE}" pid="7" name="MSIP_Label_10d9bad3-6dac-4e9a-89a3-89f3b8d247b2_ActionId">
    <vt:lpwstr>4ccfa169-3de5-48f9-90df-d744a1054e91</vt:lpwstr>
  </property>
  <property fmtid="{D5CDD505-2E9C-101B-9397-08002B2CF9AE}" pid="8" name="MSIP_Label_10d9bad3-6dac-4e9a-89a3-89f3b8d247b2_ContentBits">
    <vt:lpwstr>0</vt:lpwstr>
  </property>
</Properties>
</file>